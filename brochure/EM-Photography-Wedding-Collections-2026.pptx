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1816"/>
        </a:solidFill>
        <a:effectLst/>
      </p:bgPr>
    </p:bg>
    <p:spTree>
      <p:nvGrpSpPr>
        <p:cNvPr id="1" name=""/>
        <p:cNvGrpSpPr/>
        <p:nvPr/>
      </p:nvGrpSpPr>
      <p:grpSpPr/>
      <p:pic>
        <p:nvPicPr>
          <p:cNvPr id="2" name="Picture 1" descr="image1.png"/>
          <p:cNvPicPr>
            <a:picLocks noChangeAspect="1"/>
          </p:cNvPicPr>
          <p:nvPr/>
        </p:nvPicPr>
        <p:blipFill>
          <a:blip r:embed="rId2"/>
          <a:srcRect t="25" b="25"/>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191816">
              <a:alpha val="34000"/>
            </a:srgbClr>
          </a:solidFill>
          <a:ln>
            <a:noFill/>
          </a:ln>
          <a:effectLst/>
          <a:effectLst/>
        </p:spPr>
        <p:txBody>
          <a:bodyPr rtlCol="0" anchor="ctr"/>
          <a:lstStyle/>
          <a:p>
            <a:pPr algn="ctr"/>
          </a:p>
        </p:txBody>
      </p:sp>
      <p:pic>
        <p:nvPicPr>
          <p:cNvPr id="4" name="Picture 3" descr="image2.png"/>
          <p:cNvPicPr>
            <a:picLocks noChangeAspect="1"/>
          </p:cNvPicPr>
          <p:nvPr/>
        </p:nvPicPr>
        <p:blipFill>
          <a:blip r:embed="rId3"/>
          <a:stretch>
            <a:fillRect/>
          </a:stretch>
        </p:blipFill>
        <p:spPr>
          <a:xfrm>
            <a:off x="3352647" y="2732390"/>
            <a:ext cx="5486400" cy="936018"/>
          </a:xfrm>
          <a:prstGeom prst="rect">
            <a:avLst/>
          </a:prstGeom>
        </p:spPr>
      </p:pic>
      <p:sp>
        <p:nvSpPr>
          <p:cNvPr id="5" name="Rectangle 4"/>
          <p:cNvSpPr/>
          <p:nvPr/>
        </p:nvSpPr>
        <p:spPr>
          <a:xfrm>
            <a:off x="5821527" y="3942729"/>
            <a:ext cx="548640" cy="6400"/>
          </a:xfrm>
          <a:prstGeom prst="rect">
            <a:avLst/>
          </a:prstGeom>
          <a:solidFill>
            <a:srgbClr val="FAF9F6"/>
          </a:solidFill>
          <a:ln>
            <a:noFill/>
          </a:ln>
          <a:effectLst/>
          <a:effectLst/>
        </p:spPr>
        <p:txBody>
          <a:bodyPr rtlCol="0" anchor="ctr"/>
          <a:lstStyle/>
          <a:p>
            <a:pPr algn="ctr"/>
          </a:p>
        </p:txBody>
      </p:sp>
      <p:sp>
        <p:nvSpPr>
          <p:cNvPr id="6" name="TextBox 5"/>
          <p:cNvSpPr txBox="1"/>
          <p:nvPr/>
        </p:nvSpPr>
        <p:spPr>
          <a:xfrm>
            <a:off x="3809847" y="4171329"/>
            <a:ext cx="4572000" cy="274320"/>
          </a:xfrm>
          <a:prstGeom prst="rect">
            <a:avLst/>
          </a:prstGeom>
          <a:noFill/>
        </p:spPr>
        <p:txBody>
          <a:bodyPr wrap="square" lIns="0" rIns="0" tIns="0" bIns="0" anchor="t">
            <a:spAutoFit/>
          </a:bodyPr>
          <a:lstStyle/>
          <a:p>
            <a:pPr algn="ctr">
              <a:spcBef>
                <a:spcPts val="0"/>
              </a:spcBef>
              <a:spcAft>
                <a:spcPts val="0"/>
              </a:spcAft>
            </a:pPr>
            <a:r>
              <a:rPr sz="900" i="0" b="1" spc="252">
                <a:solidFill>
                  <a:srgbClr val="FAF9F6"/>
                </a:solidFill>
                <a:latin typeface="Cormorant Garamond"/>
              </a:rPr>
              <a:t>WEDDING COLLECTIONS 2026</a:t>
            </a:r>
          </a:p>
        </p:txBody>
      </p:sp>
      <p:sp>
        <p:nvSpPr>
          <p:cNvPr id="7" name="TextBox 6"/>
          <p:cNvSpPr txBox="1"/>
          <p:nvPr/>
        </p:nvSpPr>
        <p:spPr>
          <a:xfrm>
            <a:off x="11185855" y="6510528"/>
            <a:ext cx="548640" cy="182880"/>
          </a:xfrm>
          <a:prstGeom prst="rect">
            <a:avLst/>
          </a:prstGeom>
          <a:noFill/>
        </p:spPr>
        <p:txBody>
          <a:bodyPr wrap="square" lIns="0" rIns="0" tIns="0" bIns="0" anchor="t">
            <a:spAutoFit/>
          </a:bodyPr>
          <a:lstStyle/>
          <a:p>
            <a:pPr algn="r">
              <a:spcBef>
                <a:spcPts val="0"/>
              </a:spcBef>
              <a:spcAft>
                <a:spcPts val="0"/>
              </a:spcAft>
            </a:pPr>
            <a:r>
              <a:rPr sz="800" i="0" b="1" spc="96">
                <a:solidFill>
                  <a:srgbClr val="FAF9F6"/>
                </a:solidFill>
                <a:latin typeface="Cormorant Garamond"/>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pic>
        <p:nvPicPr>
          <p:cNvPr id="2" name="Picture 1" descr="image3.png"/>
          <p:cNvPicPr>
            <a:picLocks noChangeAspect="1"/>
          </p:cNvPicPr>
          <p:nvPr/>
        </p:nvPicPr>
        <p:blipFill>
          <a:blip r:embed="rId2"/>
          <a:srcRect l="25107" r="25107"/>
          <a:stretch>
            <a:fillRect/>
          </a:stretch>
        </p:blipFill>
        <p:spPr>
          <a:xfrm>
            <a:off x="6476695" y="457200"/>
            <a:ext cx="5257800" cy="5943600"/>
          </a:xfrm>
          <a:prstGeom prst="rect">
            <a:avLst/>
          </a:prstGeom>
        </p:spPr>
      </p:pic>
      <p:sp>
        <p:nvSpPr>
          <p:cNvPr id="3" name="TextBox 2"/>
          <p:cNvSpPr txBox="1"/>
          <p:nvPr/>
        </p:nvSpPr>
        <p:spPr>
          <a:xfrm>
            <a:off x="1249527" y="1143000"/>
            <a:ext cx="5120640" cy="1097280"/>
          </a:xfrm>
          <a:prstGeom prst="rect">
            <a:avLst/>
          </a:prstGeom>
          <a:noFill/>
        </p:spPr>
        <p:txBody>
          <a:bodyPr wrap="square" lIns="0" rIns="0" tIns="0" bIns="0" anchor="b">
            <a:spAutoFit/>
          </a:bodyPr>
          <a:lstStyle/>
          <a:p>
            <a:pPr algn="l">
              <a:lnSpc>
                <a:spcPct val="95000"/>
              </a:lnSpc>
              <a:spcBef>
                <a:spcPts val="0"/>
              </a:spcBef>
              <a:spcAft>
                <a:spcPts val="0"/>
              </a:spcAft>
            </a:pPr>
            <a:r>
              <a:rPr sz="2700" i="0" b="0" spc="162">
                <a:solidFill>
                  <a:srgbClr val="191816"/>
                </a:solidFill>
                <a:latin typeface="Cormorant Garamond"/>
              </a:rPr>
              <a:t>WHERE REFINED IMAGERY</a:t>
            </a:r>
          </a:p>
          <a:p>
            <a:pPr algn="l">
              <a:lnSpc>
                <a:spcPct val="95000"/>
              </a:lnSpc>
              <a:spcBef>
                <a:spcPts val="0"/>
              </a:spcBef>
              <a:spcAft>
                <a:spcPts val="0"/>
              </a:spcAft>
            </a:pPr>
            <a:r>
              <a:rPr sz="2700" i="0" b="0" spc="162">
                <a:solidFill>
                  <a:srgbClr val="191816"/>
                </a:solidFill>
                <a:latin typeface="Cormorant Garamond"/>
              </a:rPr>
              <a:t>MEETS GENUINE EMOTION.</a:t>
            </a:r>
          </a:p>
        </p:txBody>
      </p:sp>
      <p:sp>
        <p:nvSpPr>
          <p:cNvPr id="4" name="Rectangle 3"/>
          <p:cNvSpPr/>
          <p:nvPr/>
        </p:nvSpPr>
        <p:spPr>
          <a:xfrm>
            <a:off x="1249527" y="2404872"/>
            <a:ext cx="502920" cy="6400"/>
          </a:xfrm>
          <a:prstGeom prst="rect">
            <a:avLst/>
          </a:prstGeom>
          <a:solidFill>
            <a:srgbClr val="191816"/>
          </a:solidFill>
          <a:ln>
            <a:noFill/>
          </a:ln>
          <a:effectLst/>
          <a:effectLst/>
        </p:spPr>
        <p:txBody>
          <a:bodyPr rtlCol="0" anchor="ctr"/>
          <a:lstStyle/>
          <a:p>
            <a:pPr algn="ctr"/>
          </a:p>
        </p:txBody>
      </p:sp>
      <p:sp>
        <p:nvSpPr>
          <p:cNvPr id="5" name="TextBox 4"/>
          <p:cNvSpPr txBox="1"/>
          <p:nvPr/>
        </p:nvSpPr>
        <p:spPr>
          <a:xfrm>
            <a:off x="1249527" y="2752344"/>
            <a:ext cx="4069079" cy="1097280"/>
          </a:xfrm>
          <a:prstGeom prst="rect">
            <a:avLst/>
          </a:prstGeom>
          <a:noFill/>
        </p:spPr>
        <p:txBody>
          <a:bodyPr wrap="square" lIns="0" rIns="0" tIns="0" bIns="0" anchor="t">
            <a:spAutoFit/>
          </a:bodyPr>
          <a:lstStyle/>
          <a:p>
            <a:pPr algn="l">
              <a:lnSpc>
                <a:spcPct val="125000"/>
              </a:lnSpc>
              <a:spcBef>
                <a:spcPts val="0"/>
              </a:spcBef>
              <a:spcAft>
                <a:spcPts val="700"/>
              </a:spcAft>
            </a:pPr>
            <a:r>
              <a:rPr sz="1400" i="0" b="0">
                <a:solidFill>
                  <a:srgbClr val="4F4B45"/>
                </a:solidFill>
                <a:latin typeface="Cormorant Garamond"/>
              </a:rPr>
              <a:t>Timeless wedding photography, thoughtfully created to preserve the beauty and feeling of your day – exactly as it was lived.</a:t>
            </a:r>
          </a:p>
        </p:txBody>
      </p:sp>
      <p:sp>
        <p:nvSpPr>
          <p:cNvPr id="6" name="TextBox 5"/>
          <p:cNvSpPr txBox="1"/>
          <p:nvPr/>
        </p:nvSpPr>
        <p:spPr>
          <a:xfrm>
            <a:off x="1249527" y="4526280"/>
            <a:ext cx="3886200" cy="1097280"/>
          </a:xfrm>
          <a:prstGeom prst="rect">
            <a:avLst/>
          </a:prstGeom>
          <a:noFill/>
        </p:spPr>
        <p:txBody>
          <a:bodyPr wrap="square" lIns="0" rIns="0" tIns="0" bIns="0" anchor="t">
            <a:spAutoFit/>
          </a:bodyPr>
          <a:lstStyle/>
          <a:p>
            <a:pPr algn="l">
              <a:lnSpc>
                <a:spcPct val="100000"/>
              </a:lnSpc>
              <a:spcBef>
                <a:spcPts val="0"/>
              </a:spcBef>
              <a:spcAft>
                <a:spcPts val="0"/>
              </a:spcAft>
            </a:pPr>
            <a:r>
              <a:rPr sz="2000" i="1" b="0">
                <a:solidFill>
                  <a:srgbClr val="191816"/>
                </a:solidFill>
                <a:latin typeface="Cormorant Garamond"/>
              </a:rPr>
              <a:t>For those drawn to photographs that reveal more the longer you look.</a:t>
            </a:r>
          </a:p>
        </p:txBody>
      </p:sp>
      <p:sp>
        <p:nvSpPr>
          <p:cNvPr id="7" name="TextBox 6"/>
          <p:cNvSpPr txBox="1"/>
          <p:nvPr/>
        </p:nvSpPr>
        <p:spPr>
          <a:xfrm>
            <a:off x="11185855" y="6510528"/>
            <a:ext cx="548640" cy="182880"/>
          </a:xfrm>
          <a:prstGeom prst="rect">
            <a:avLst/>
          </a:prstGeom>
          <a:noFill/>
        </p:spPr>
        <p:txBody>
          <a:bodyPr wrap="square" lIns="0" rIns="0" tIns="0" bIns="0" anchor="t">
            <a:spAutoFit/>
          </a:bodyPr>
          <a:lstStyle/>
          <a:p>
            <a:pPr algn="r">
              <a:spcBef>
                <a:spcPts val="0"/>
              </a:spcBef>
              <a:spcAft>
                <a:spcPts val="0"/>
              </a:spcAft>
            </a:pPr>
            <a:r>
              <a:rPr sz="800" i="0" b="1" spc="96">
                <a:solidFill>
                  <a:srgbClr val="6D6862"/>
                </a:solidFill>
                <a:latin typeface="Cormorant Garamond"/>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pic>
        <p:nvPicPr>
          <p:cNvPr id="2" name="Picture 1" descr="image4.png"/>
          <p:cNvPicPr>
            <a:picLocks noChangeAspect="1"/>
          </p:cNvPicPr>
          <p:nvPr/>
        </p:nvPicPr>
        <p:blipFill>
          <a:blip r:embed="rId2"/>
          <a:srcRect l="5595" r="44618"/>
          <a:stretch>
            <a:fillRect/>
          </a:stretch>
        </p:blipFill>
        <p:spPr>
          <a:xfrm>
            <a:off x="457200" y="457200"/>
            <a:ext cx="5257800" cy="5943600"/>
          </a:xfrm>
          <a:prstGeom prst="rect">
            <a:avLst/>
          </a:prstGeom>
        </p:spPr>
      </p:pic>
      <p:sp>
        <p:nvSpPr>
          <p:cNvPr id="3" name="TextBox 2"/>
          <p:cNvSpPr txBox="1"/>
          <p:nvPr/>
        </p:nvSpPr>
        <p:spPr>
          <a:xfrm>
            <a:off x="6507327" y="411480"/>
            <a:ext cx="5257800" cy="1097280"/>
          </a:xfrm>
          <a:prstGeom prst="rect">
            <a:avLst/>
          </a:prstGeom>
          <a:noFill/>
        </p:spPr>
        <p:txBody>
          <a:bodyPr wrap="square" lIns="0" rIns="0" tIns="0" bIns="0" anchor="b">
            <a:spAutoFit/>
          </a:bodyPr>
          <a:lstStyle/>
          <a:p>
            <a:pPr algn="l">
              <a:lnSpc>
                <a:spcPct val="95000"/>
              </a:lnSpc>
              <a:spcBef>
                <a:spcPts val="0"/>
              </a:spcBef>
              <a:spcAft>
                <a:spcPts val="0"/>
              </a:spcAft>
            </a:pPr>
            <a:r>
              <a:rPr sz="3000" i="0" b="0" spc="179">
                <a:solidFill>
                  <a:srgbClr val="191816"/>
                </a:solidFill>
                <a:latin typeface="Cormorant Garamond"/>
              </a:rPr>
              <a:t>BONJOUR</a:t>
            </a:r>
          </a:p>
        </p:txBody>
      </p:sp>
      <p:sp>
        <p:nvSpPr>
          <p:cNvPr id="4" name="Rectangle 3"/>
          <p:cNvSpPr/>
          <p:nvPr/>
        </p:nvSpPr>
        <p:spPr>
          <a:xfrm>
            <a:off x="6507327" y="1673351"/>
            <a:ext cx="502920" cy="6400"/>
          </a:xfrm>
          <a:prstGeom prst="rect">
            <a:avLst/>
          </a:prstGeom>
          <a:solidFill>
            <a:srgbClr val="191816"/>
          </a:solidFill>
          <a:ln>
            <a:noFill/>
          </a:ln>
          <a:effectLst/>
          <a:effectLst/>
        </p:spPr>
        <p:txBody>
          <a:bodyPr rtlCol="0" anchor="ctr"/>
          <a:lstStyle/>
          <a:p>
            <a:pPr algn="ctr"/>
          </a:p>
        </p:txBody>
      </p:sp>
      <p:sp>
        <p:nvSpPr>
          <p:cNvPr id="5" name="TextBox 4"/>
          <p:cNvSpPr txBox="1"/>
          <p:nvPr/>
        </p:nvSpPr>
        <p:spPr>
          <a:xfrm>
            <a:off x="6507327" y="2020824"/>
            <a:ext cx="4434840" cy="3840480"/>
          </a:xfrm>
          <a:prstGeom prst="rect">
            <a:avLst/>
          </a:prstGeom>
          <a:noFill/>
        </p:spPr>
        <p:txBody>
          <a:bodyPr wrap="square" lIns="0" rIns="0" tIns="0" bIns="0" anchor="t">
            <a:spAutoFit/>
          </a:bodyPr>
          <a:lstStyle/>
          <a:p>
            <a:pPr algn="l">
              <a:lnSpc>
                <a:spcPct val="104000"/>
              </a:lnSpc>
              <a:spcBef>
                <a:spcPts val="0"/>
              </a:spcBef>
              <a:spcAft>
                <a:spcPts val="900"/>
              </a:spcAft>
            </a:pPr>
            <a:r>
              <a:rPr sz="1300" i="0" b="0">
                <a:solidFill>
                  <a:srgbClr val="4F4B45"/>
                </a:solidFill>
                <a:latin typeface="Cormorant Garamond"/>
              </a:rPr>
              <a:t>I’m so glad my work resonates with you, and that you’re considering me to document such a meaningful chapter of your story. Being invited into something as intimate as a wedding day is a privilege I deeply cherish.</a:t>
            </a:r>
          </a:p>
          <a:p>
            <a:pPr algn="l">
              <a:lnSpc>
                <a:spcPct val="104000"/>
              </a:lnSpc>
              <a:spcBef>
                <a:spcPts val="0"/>
              </a:spcBef>
              <a:spcAft>
                <a:spcPts val="900"/>
              </a:spcAft>
            </a:pPr>
            <a:r>
              <a:rPr sz="1300" i="0" b="0">
                <a:solidFill>
                  <a:srgbClr val="4F4B45"/>
                </a:solidFill>
                <a:latin typeface="Cormorant Garamond"/>
              </a:rPr>
              <a:t>A wedding unfolds through so many layers – the people, the gestures, the moments long anticipated and those that happen quietly in between. I’m drawn to all of it, allowing the day to reveal itself naturally.</a:t>
            </a:r>
          </a:p>
          <a:p>
            <a:pPr algn="l">
              <a:lnSpc>
                <a:spcPct val="104000"/>
              </a:lnSpc>
              <a:spcBef>
                <a:spcPts val="0"/>
              </a:spcBef>
              <a:spcAft>
                <a:spcPts val="900"/>
              </a:spcAft>
            </a:pPr>
            <a:r>
              <a:rPr sz="1300" i="0" b="0">
                <a:solidFill>
                  <a:srgbClr val="4F4B45"/>
                </a:solidFill>
                <a:latin typeface="Cormorant Garamond"/>
              </a:rPr>
              <a:t>My work blends the honesty of documentary photography with the refinement of an editorial eye, where genuine emotion meets beautiful light and thoughtful composition.</a:t>
            </a:r>
          </a:p>
          <a:p>
            <a:pPr algn="l">
              <a:lnSpc>
                <a:spcPct val="104000"/>
              </a:lnSpc>
              <a:spcBef>
                <a:spcPts val="0"/>
              </a:spcBef>
              <a:spcAft>
                <a:spcPts val="900"/>
              </a:spcAft>
            </a:pPr>
            <a:r>
              <a:rPr sz="1300" i="0" b="0">
                <a:solidFill>
                  <a:srgbClr val="4F4B45"/>
                </a:solidFill>
                <a:latin typeface="Cormorant Garamond"/>
              </a:rPr>
              <a:t>Ultimately, I want your photographs to become more than a record of the day – to hold its feeling, its energy and everything that made it uniquely yours.</a:t>
            </a:r>
          </a:p>
        </p:txBody>
      </p:sp>
      <p:sp>
        <p:nvSpPr>
          <p:cNvPr id="6" name="TextBox 5"/>
          <p:cNvSpPr txBox="1"/>
          <p:nvPr/>
        </p:nvSpPr>
        <p:spPr>
          <a:xfrm>
            <a:off x="6507327" y="5532120"/>
            <a:ext cx="4434840" cy="640080"/>
          </a:xfrm>
          <a:prstGeom prst="rect">
            <a:avLst/>
          </a:prstGeom>
          <a:noFill/>
        </p:spPr>
        <p:txBody>
          <a:bodyPr wrap="square" lIns="0" rIns="0" tIns="0" bIns="0" anchor="t">
            <a:spAutoFit/>
          </a:bodyPr>
          <a:lstStyle/>
          <a:p>
            <a:pPr algn="l">
              <a:lnSpc>
                <a:spcPct val="100000"/>
              </a:lnSpc>
              <a:spcBef>
                <a:spcPts val="0"/>
              </a:spcBef>
              <a:spcAft>
                <a:spcPts val="0"/>
              </a:spcAft>
            </a:pPr>
            <a:r>
              <a:rPr sz="1500" i="1" b="0">
                <a:solidFill>
                  <a:srgbClr val="191816"/>
                </a:solidFill>
                <a:latin typeface="Cormorant Garamond"/>
              </a:rPr>
              <a:t>I look forward to getting to know you and capturing your love in a way that feels entirely your own.</a:t>
            </a:r>
          </a:p>
        </p:txBody>
      </p:sp>
      <p:sp>
        <p:nvSpPr>
          <p:cNvPr id="7" name="TextBox 6"/>
          <p:cNvSpPr txBox="1"/>
          <p:nvPr/>
        </p:nvSpPr>
        <p:spPr>
          <a:xfrm>
            <a:off x="11185855" y="6510528"/>
            <a:ext cx="548640" cy="182880"/>
          </a:xfrm>
          <a:prstGeom prst="rect">
            <a:avLst/>
          </a:prstGeom>
          <a:noFill/>
        </p:spPr>
        <p:txBody>
          <a:bodyPr wrap="square" lIns="0" rIns="0" tIns="0" bIns="0" anchor="t">
            <a:spAutoFit/>
          </a:bodyPr>
          <a:lstStyle/>
          <a:p>
            <a:pPr algn="r">
              <a:spcBef>
                <a:spcPts val="0"/>
              </a:spcBef>
              <a:spcAft>
                <a:spcPts val="0"/>
              </a:spcAft>
            </a:pPr>
            <a:r>
              <a:rPr sz="800" i="0" b="1" spc="96">
                <a:solidFill>
                  <a:srgbClr val="6D6862"/>
                </a:solidFill>
                <a:latin typeface="Cormorant Garamond"/>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pic>
        <p:nvPicPr>
          <p:cNvPr id="2" name="Picture 1" descr="image5.png"/>
          <p:cNvPicPr>
            <a:picLocks noChangeAspect="1"/>
          </p:cNvPicPr>
          <p:nvPr/>
        </p:nvPicPr>
        <p:blipFill>
          <a:blip r:embed="rId2"/>
          <a:srcRect l="595" r="49618"/>
          <a:stretch>
            <a:fillRect/>
          </a:stretch>
        </p:blipFill>
        <p:spPr>
          <a:xfrm>
            <a:off x="6476695" y="457200"/>
            <a:ext cx="5257800" cy="5943600"/>
          </a:xfrm>
          <a:prstGeom prst="rect">
            <a:avLst/>
          </a:prstGeom>
        </p:spPr>
      </p:pic>
      <p:sp>
        <p:nvSpPr>
          <p:cNvPr id="3" name="TextBox 2"/>
          <p:cNvSpPr txBox="1"/>
          <p:nvPr/>
        </p:nvSpPr>
        <p:spPr>
          <a:xfrm>
            <a:off x="1249527" y="182880"/>
            <a:ext cx="5257800" cy="1097280"/>
          </a:xfrm>
          <a:prstGeom prst="rect">
            <a:avLst/>
          </a:prstGeom>
          <a:noFill/>
        </p:spPr>
        <p:txBody>
          <a:bodyPr wrap="square" lIns="0" rIns="0" tIns="0" bIns="0" anchor="b">
            <a:spAutoFit/>
          </a:bodyPr>
          <a:lstStyle/>
          <a:p>
            <a:pPr algn="l">
              <a:lnSpc>
                <a:spcPct val="95000"/>
              </a:lnSpc>
              <a:spcBef>
                <a:spcPts val="0"/>
              </a:spcBef>
              <a:spcAft>
                <a:spcPts val="0"/>
              </a:spcAft>
            </a:pPr>
            <a:r>
              <a:rPr sz="3000" i="0" b="0" spc="179">
                <a:solidFill>
                  <a:srgbClr val="191816"/>
                </a:solidFill>
                <a:latin typeface="Cormorant Garamond"/>
              </a:rPr>
              <a:t>BEHIND THE LENS</a:t>
            </a:r>
          </a:p>
        </p:txBody>
      </p:sp>
      <p:sp>
        <p:nvSpPr>
          <p:cNvPr id="4" name="Rectangle 3"/>
          <p:cNvSpPr/>
          <p:nvPr/>
        </p:nvSpPr>
        <p:spPr>
          <a:xfrm>
            <a:off x="1249527" y="1444751"/>
            <a:ext cx="502920" cy="6400"/>
          </a:xfrm>
          <a:prstGeom prst="rect">
            <a:avLst/>
          </a:prstGeom>
          <a:solidFill>
            <a:srgbClr val="191816"/>
          </a:solidFill>
          <a:ln>
            <a:noFill/>
          </a:ln>
          <a:effectLst/>
          <a:effectLst/>
        </p:spPr>
        <p:txBody>
          <a:bodyPr rtlCol="0" anchor="ctr"/>
          <a:lstStyle/>
          <a:p>
            <a:pPr algn="ctr"/>
          </a:p>
        </p:txBody>
      </p:sp>
      <p:sp>
        <p:nvSpPr>
          <p:cNvPr id="5" name="TextBox 4"/>
          <p:cNvSpPr txBox="1"/>
          <p:nvPr/>
        </p:nvSpPr>
        <p:spPr>
          <a:xfrm>
            <a:off x="1249527" y="1700784"/>
            <a:ext cx="4434840" cy="3017520"/>
          </a:xfrm>
          <a:prstGeom prst="rect">
            <a:avLst/>
          </a:prstGeom>
          <a:noFill/>
        </p:spPr>
        <p:txBody>
          <a:bodyPr wrap="square" lIns="0" rIns="0" tIns="0" bIns="0" anchor="t">
            <a:spAutoFit/>
          </a:bodyPr>
          <a:lstStyle/>
          <a:p>
            <a:pPr algn="l">
              <a:lnSpc>
                <a:spcPct val="100000"/>
              </a:lnSpc>
              <a:spcBef>
                <a:spcPts val="0"/>
              </a:spcBef>
              <a:spcAft>
                <a:spcPts val="600"/>
              </a:spcAft>
            </a:pPr>
            <a:r>
              <a:rPr sz="1800" i="1" b="0">
                <a:solidFill>
                  <a:srgbClr val="191816"/>
                </a:solidFill>
                <a:latin typeface="Cormorant Garamond"/>
              </a:rPr>
              <a:t>Hi, I’m Emra.</a:t>
            </a:r>
          </a:p>
          <a:p>
            <a:pPr algn="l">
              <a:lnSpc>
                <a:spcPct val="104000"/>
              </a:lnSpc>
              <a:spcBef>
                <a:spcPts val="0"/>
              </a:spcBef>
              <a:spcAft>
                <a:spcPts val="500"/>
              </a:spcAft>
            </a:pPr>
            <a:r>
              <a:rPr sz="1250" i="0" b="0">
                <a:solidFill>
                  <a:srgbClr val="4F4B45"/>
                </a:solidFill>
                <a:latin typeface="Cormorant Garamond"/>
              </a:rPr>
              <a:t>With Bosnian roots and a Swiss upbringing, I'm the creative mind behind EM Photography.</a:t>
            </a:r>
          </a:p>
          <a:p>
            <a:pPr algn="l">
              <a:lnSpc>
                <a:spcPct val="104000"/>
              </a:lnSpc>
              <a:spcBef>
                <a:spcPts val="0"/>
              </a:spcBef>
              <a:spcAft>
                <a:spcPts val="500"/>
              </a:spcAft>
            </a:pPr>
            <a:r>
              <a:rPr sz="1250" i="0" b="0">
                <a:solidFill>
                  <a:srgbClr val="4F4B45"/>
                </a:solidFill>
                <a:latin typeface="Cormorant Garamond"/>
              </a:rPr>
              <a:t>Photography is my way of noticing the world more deeply. I’m drawn to landscapes, light, atmosphere and the subtle details that make a moment feel alive.</a:t>
            </a:r>
          </a:p>
          <a:p>
            <a:pPr algn="l">
              <a:lnSpc>
                <a:spcPct val="104000"/>
              </a:lnSpc>
              <a:spcBef>
                <a:spcPts val="0"/>
              </a:spcBef>
              <a:spcAft>
                <a:spcPts val="500"/>
              </a:spcAft>
            </a:pPr>
            <a:r>
              <a:rPr sz="1250" i="0" b="0">
                <a:solidFill>
                  <a:srgbClr val="4F4B45"/>
                </a:solidFill>
                <a:latin typeface="Cormorant Garamond"/>
              </a:rPr>
              <a:t>That same sensitivity shapes the way I photograph people. I’m deeply inspired by love in all its forms – fleeting expressions, quiet tenderness and the gestures that often go unnoticed.</a:t>
            </a:r>
          </a:p>
          <a:p>
            <a:pPr algn="l">
              <a:lnSpc>
                <a:spcPct val="104000"/>
              </a:lnSpc>
              <a:spcBef>
                <a:spcPts val="0"/>
              </a:spcBef>
              <a:spcAft>
                <a:spcPts val="500"/>
              </a:spcAft>
            </a:pPr>
            <a:r>
              <a:rPr sz="1250" i="0" b="0">
                <a:solidFill>
                  <a:srgbClr val="4F4B45"/>
                </a:solidFill>
                <a:latin typeface="Cormorant Garamond"/>
              </a:rPr>
              <a:t>I’m passionate about creating vibrant, emotional and layered images – photographs you can return to again and again, revealing something more with every look.</a:t>
            </a:r>
          </a:p>
        </p:txBody>
      </p:sp>
      <p:sp>
        <p:nvSpPr>
          <p:cNvPr id="6" name="Rectangle 5"/>
          <p:cNvSpPr/>
          <p:nvPr/>
        </p:nvSpPr>
        <p:spPr>
          <a:xfrm>
            <a:off x="1249527" y="4937760"/>
            <a:ext cx="4434840" cy="1463039"/>
          </a:xfrm>
          <a:prstGeom prst="rect">
            <a:avLst/>
          </a:prstGeom>
          <a:solidFill>
            <a:srgbClr val="F4F1EB"/>
          </a:solidFill>
          <a:ln>
            <a:noFill/>
          </a:ln>
          <a:effectLst/>
          <a:effectLst/>
        </p:spPr>
        <p:txBody>
          <a:bodyPr rtlCol="0" anchor="ctr"/>
          <a:lstStyle/>
          <a:p>
            <a:pPr algn="ctr"/>
          </a:p>
        </p:txBody>
      </p:sp>
      <p:sp>
        <p:nvSpPr>
          <p:cNvPr id="7" name="TextBox 6"/>
          <p:cNvSpPr txBox="1"/>
          <p:nvPr/>
        </p:nvSpPr>
        <p:spPr>
          <a:xfrm>
            <a:off x="1569567" y="5120640"/>
            <a:ext cx="3794759" cy="228600"/>
          </a:xfrm>
          <a:prstGeom prst="rect">
            <a:avLst/>
          </a:prstGeom>
          <a:noFill/>
        </p:spPr>
        <p:txBody>
          <a:bodyPr wrap="square" lIns="0" rIns="0" tIns="0" bIns="0" anchor="t">
            <a:spAutoFit/>
          </a:bodyPr>
          <a:lstStyle/>
          <a:p>
            <a:pPr algn="l">
              <a:spcBef>
                <a:spcPts val="0"/>
              </a:spcBef>
              <a:spcAft>
                <a:spcPts val="0"/>
              </a:spcAft>
            </a:pPr>
            <a:r>
              <a:rPr sz="850" i="0" b="1" spc="238">
                <a:solidFill>
                  <a:srgbClr val="191816"/>
                </a:solidFill>
                <a:latin typeface="Cormorant Garamond"/>
              </a:rPr>
              <a:t>A FEW PERSONAL NOTES</a:t>
            </a:r>
          </a:p>
        </p:txBody>
      </p:sp>
      <p:sp>
        <p:nvSpPr>
          <p:cNvPr id="8" name="TextBox 7"/>
          <p:cNvSpPr txBox="1"/>
          <p:nvPr/>
        </p:nvSpPr>
        <p:spPr>
          <a:xfrm>
            <a:off x="1569567" y="5376672"/>
            <a:ext cx="3794759" cy="1188720"/>
          </a:xfrm>
          <a:prstGeom prst="rect">
            <a:avLst/>
          </a:prstGeom>
          <a:noFill/>
        </p:spPr>
        <p:txBody>
          <a:bodyPr wrap="square" lIns="0" rIns="0" tIns="0" bIns="0" anchor="t">
            <a:spAutoFit/>
          </a:bodyPr>
          <a:lstStyle/>
          <a:p>
            <a:pPr algn="l">
              <a:lnSpc>
                <a:spcPct val="98000"/>
              </a:lnSpc>
              <a:spcBef>
                <a:spcPts val="0"/>
              </a:spcBef>
              <a:spcAft>
                <a:spcPts val="0"/>
              </a:spcAft>
            </a:pPr>
            <a:r>
              <a:rPr sz="1200" i="1" b="0">
                <a:solidFill>
                  <a:srgbClr val="191816"/>
                </a:solidFill>
                <a:latin typeface="Cormorant Garamond"/>
              </a:rPr>
              <a:t>Quiet landscapes inspire me.</a:t>
            </a:r>
          </a:p>
          <a:p>
            <a:pPr algn="l">
              <a:lnSpc>
                <a:spcPct val="98000"/>
              </a:lnSpc>
              <a:spcBef>
                <a:spcPts val="0"/>
              </a:spcBef>
              <a:spcAft>
                <a:spcPts val="0"/>
              </a:spcAft>
            </a:pPr>
            <a:r>
              <a:rPr sz="1200" i="1" b="0">
                <a:solidFill>
                  <a:srgbClr val="191816"/>
                </a:solidFill>
                <a:latin typeface="Cormorant Garamond"/>
              </a:rPr>
              <a:t>Coffee is a non-negotiable.</a:t>
            </a:r>
          </a:p>
          <a:p>
            <a:pPr algn="l">
              <a:lnSpc>
                <a:spcPct val="98000"/>
              </a:lnSpc>
              <a:spcBef>
                <a:spcPts val="0"/>
              </a:spcBef>
              <a:spcAft>
                <a:spcPts val="0"/>
              </a:spcAft>
            </a:pPr>
            <a:r>
              <a:rPr sz="1200" i="1" b="0">
                <a:solidFill>
                  <a:srgbClr val="191816"/>
                </a:solidFill>
                <a:latin typeface="Cormorant Garamond"/>
              </a:rPr>
              <a:t>Forever curious about the world.</a:t>
            </a:r>
          </a:p>
          <a:p>
            <a:pPr algn="l">
              <a:lnSpc>
                <a:spcPct val="98000"/>
              </a:lnSpc>
              <a:spcBef>
                <a:spcPts val="0"/>
              </a:spcBef>
              <a:spcAft>
                <a:spcPts val="0"/>
              </a:spcAft>
            </a:pPr>
            <a:r>
              <a:rPr sz="1200" i="1" b="0">
                <a:solidFill>
                  <a:srgbClr val="191816"/>
                </a:solidFill>
                <a:latin typeface="Cormorant Garamond"/>
              </a:rPr>
              <a:t>Little paws have my whole heart.</a:t>
            </a:r>
          </a:p>
          <a:p>
            <a:pPr algn="l">
              <a:lnSpc>
                <a:spcPct val="98000"/>
              </a:lnSpc>
              <a:spcBef>
                <a:spcPts val="0"/>
              </a:spcBef>
              <a:spcAft>
                <a:spcPts val="0"/>
              </a:spcAft>
            </a:pPr>
            <a:r>
              <a:rPr sz="1200" i="1" b="0">
                <a:solidFill>
                  <a:srgbClr val="191816"/>
                </a:solidFill>
                <a:latin typeface="Cormorant Garamond"/>
              </a:rPr>
              <a:t>Drawn to the softness of golden hour.</a:t>
            </a:r>
          </a:p>
        </p:txBody>
      </p:sp>
      <p:sp>
        <p:nvSpPr>
          <p:cNvPr id="9" name="TextBox 8"/>
          <p:cNvSpPr txBox="1"/>
          <p:nvPr/>
        </p:nvSpPr>
        <p:spPr>
          <a:xfrm>
            <a:off x="11185855" y="6510528"/>
            <a:ext cx="548640" cy="182880"/>
          </a:xfrm>
          <a:prstGeom prst="rect">
            <a:avLst/>
          </a:prstGeom>
          <a:noFill/>
        </p:spPr>
        <p:txBody>
          <a:bodyPr wrap="square" lIns="0" rIns="0" tIns="0" bIns="0" anchor="t">
            <a:spAutoFit/>
          </a:bodyPr>
          <a:lstStyle/>
          <a:p>
            <a:pPr algn="r">
              <a:spcBef>
                <a:spcPts val="0"/>
              </a:spcBef>
              <a:spcAft>
                <a:spcPts val="0"/>
              </a:spcAft>
            </a:pPr>
            <a:r>
              <a:rPr sz="800" i="0" b="1" spc="96">
                <a:solidFill>
                  <a:srgbClr val="6D6862"/>
                </a:solidFill>
                <a:latin typeface="Cormorant Garamond"/>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pic>
        <p:nvPicPr>
          <p:cNvPr id="2" name="Picture 1" descr="image3.png"/>
          <p:cNvPicPr>
            <a:picLocks noChangeAspect="1"/>
          </p:cNvPicPr>
          <p:nvPr/>
        </p:nvPicPr>
        <p:blipFill>
          <a:blip r:embed="rId2"/>
          <a:srcRect l="25107" r="25107"/>
          <a:stretch>
            <a:fillRect/>
          </a:stretch>
        </p:blipFill>
        <p:spPr>
          <a:xfrm>
            <a:off x="457200" y="457200"/>
            <a:ext cx="5257800" cy="5943600"/>
          </a:xfrm>
          <a:prstGeom prst="rect">
            <a:avLst/>
          </a:prstGeom>
        </p:spPr>
      </p:pic>
      <p:sp>
        <p:nvSpPr>
          <p:cNvPr id="3" name="TextBox 2"/>
          <p:cNvSpPr txBox="1"/>
          <p:nvPr/>
        </p:nvSpPr>
        <p:spPr>
          <a:xfrm>
            <a:off x="6507327" y="411480"/>
            <a:ext cx="5257800" cy="1097280"/>
          </a:xfrm>
          <a:prstGeom prst="rect">
            <a:avLst/>
          </a:prstGeom>
          <a:noFill/>
        </p:spPr>
        <p:txBody>
          <a:bodyPr wrap="square" lIns="0" rIns="0" tIns="0" bIns="0" anchor="b">
            <a:spAutoFit/>
          </a:bodyPr>
          <a:lstStyle/>
          <a:p>
            <a:pPr algn="l">
              <a:lnSpc>
                <a:spcPct val="95000"/>
              </a:lnSpc>
              <a:spcBef>
                <a:spcPts val="0"/>
              </a:spcBef>
              <a:spcAft>
                <a:spcPts val="0"/>
              </a:spcAft>
            </a:pPr>
            <a:r>
              <a:rPr sz="3000" i="0" b="0" spc="179">
                <a:solidFill>
                  <a:srgbClr val="191816"/>
                </a:solidFill>
                <a:latin typeface="Cormorant Garamond"/>
              </a:rPr>
              <a:t>LOVE NOTES</a:t>
            </a:r>
          </a:p>
        </p:txBody>
      </p:sp>
      <p:sp>
        <p:nvSpPr>
          <p:cNvPr id="4" name="Rectangle 3"/>
          <p:cNvSpPr/>
          <p:nvPr/>
        </p:nvSpPr>
        <p:spPr>
          <a:xfrm>
            <a:off x="6507327" y="1673351"/>
            <a:ext cx="502920" cy="6400"/>
          </a:xfrm>
          <a:prstGeom prst="rect">
            <a:avLst/>
          </a:prstGeom>
          <a:solidFill>
            <a:srgbClr val="191816"/>
          </a:solidFill>
          <a:ln>
            <a:noFill/>
          </a:ln>
          <a:effectLst/>
          <a:effectLst/>
        </p:spPr>
        <p:txBody>
          <a:bodyPr rtlCol="0" anchor="ctr"/>
          <a:lstStyle/>
          <a:p>
            <a:pPr algn="ctr"/>
          </a:p>
        </p:txBody>
      </p:sp>
      <p:sp>
        <p:nvSpPr>
          <p:cNvPr id="5" name="TextBox 4"/>
          <p:cNvSpPr txBox="1"/>
          <p:nvPr/>
        </p:nvSpPr>
        <p:spPr>
          <a:xfrm>
            <a:off x="6507327" y="2020824"/>
            <a:ext cx="4434840" cy="3566160"/>
          </a:xfrm>
          <a:prstGeom prst="rect">
            <a:avLst/>
          </a:prstGeom>
          <a:noFill/>
        </p:spPr>
        <p:txBody>
          <a:bodyPr wrap="square" lIns="0" rIns="0" tIns="0" bIns="0" anchor="t">
            <a:spAutoFit/>
          </a:bodyPr>
          <a:lstStyle/>
          <a:p>
            <a:pPr algn="l">
              <a:lnSpc>
                <a:spcPct val="104000"/>
              </a:lnSpc>
              <a:spcBef>
                <a:spcPts val="0"/>
              </a:spcBef>
              <a:spcAft>
                <a:spcPts val="800"/>
              </a:spcAft>
            </a:pPr>
            <a:r>
              <a:rPr sz="1500" i="1" b="0">
                <a:solidFill>
                  <a:srgbClr val="191816"/>
                </a:solidFill>
                <a:latin typeface="Cormorant Garamond"/>
              </a:rPr>
              <a:t>“Every celebration has its own rhythm. </a:t>
            </a:r>
          </a:p>
          <a:p>
            <a:pPr algn="l">
              <a:lnSpc>
                <a:spcPct val="104000"/>
              </a:lnSpc>
              <a:spcBef>
                <a:spcPts val="0"/>
              </a:spcBef>
              <a:spcAft>
                <a:spcPts val="700"/>
              </a:spcAft>
            </a:pPr>
            <a:r>
              <a:rPr sz="1300" i="1" b="0">
                <a:solidFill>
                  <a:srgbClr val="4F4B45"/>
                </a:solidFill>
                <a:latin typeface="Cormorant Garamond"/>
              </a:rPr>
              <a:t>Getting to know you beforehand allows me to understand what matters most – the people, the energy, your priorities and the way you want the day to unfold.</a:t>
            </a:r>
          </a:p>
          <a:p>
            <a:pPr algn="l">
              <a:lnSpc>
                <a:spcPct val="104000"/>
              </a:lnSpc>
              <a:spcBef>
                <a:spcPts val="0"/>
              </a:spcBef>
              <a:spcAft>
                <a:spcPts val="700"/>
              </a:spcAft>
            </a:pPr>
            <a:r>
              <a:rPr sz="1300" i="1" b="0">
                <a:solidFill>
                  <a:srgbClr val="4F4B45"/>
                </a:solidFill>
                <a:latin typeface="Cormorant Garamond"/>
              </a:rPr>
              <a:t>When your wedding arrives, I photograph with a calm, observant presence – attentive to the moments everyone sees, but equally to those unfolding quietly around them: nervous hands, a glance across the room, a familiar embrace, laughter between friends.</a:t>
            </a:r>
          </a:p>
          <a:p>
            <a:pPr algn="l">
              <a:lnSpc>
                <a:spcPct val="104000"/>
              </a:lnSpc>
              <a:spcBef>
                <a:spcPts val="0"/>
              </a:spcBef>
              <a:spcAft>
                <a:spcPts val="700"/>
              </a:spcAft>
            </a:pPr>
            <a:r>
              <a:rPr sz="1300" i="1" b="0">
                <a:solidFill>
                  <a:srgbClr val="4F4B45"/>
                </a:solidFill>
                <a:latin typeface="Cormorant Garamond"/>
              </a:rPr>
              <a:t>When guidance is needed, I’ll gently step in. The rest of the time, I want you to forget about the camera, stay close to the people you love and live the day fully. </a:t>
            </a:r>
          </a:p>
          <a:p>
            <a:pPr algn="l">
              <a:lnSpc>
                <a:spcPct val="104000"/>
              </a:lnSpc>
              <a:spcBef>
                <a:spcPts val="0"/>
              </a:spcBef>
              <a:spcAft>
                <a:spcPts val="700"/>
              </a:spcAft>
            </a:pPr>
            <a:r>
              <a:rPr sz="1300" i="1" b="0">
                <a:solidFill>
                  <a:srgbClr val="4F4B45"/>
                </a:solidFill>
                <a:latin typeface="Cormorant Garamond"/>
              </a:rPr>
              <a:t>There is intention behind the scenes, with space for everything spontaneous in between.”</a:t>
            </a:r>
          </a:p>
        </p:txBody>
      </p:sp>
      <p:sp>
        <p:nvSpPr>
          <p:cNvPr id="6" name="Rectangle 5"/>
          <p:cNvSpPr/>
          <p:nvPr/>
        </p:nvSpPr>
        <p:spPr>
          <a:xfrm>
            <a:off x="6507327" y="5285232"/>
            <a:ext cx="274320" cy="6400"/>
          </a:xfrm>
          <a:prstGeom prst="rect">
            <a:avLst/>
          </a:prstGeom>
          <a:solidFill>
            <a:srgbClr val="191816"/>
          </a:solidFill>
          <a:ln>
            <a:noFill/>
          </a:ln>
          <a:effectLst/>
          <a:effectLst/>
        </p:spPr>
        <p:txBody>
          <a:bodyPr rtlCol="0" anchor="ctr"/>
          <a:lstStyle/>
          <a:p>
            <a:pPr algn="ctr"/>
          </a:p>
        </p:txBody>
      </p:sp>
      <p:sp>
        <p:nvSpPr>
          <p:cNvPr id="7" name="TextBox 6"/>
          <p:cNvSpPr txBox="1"/>
          <p:nvPr/>
        </p:nvSpPr>
        <p:spPr>
          <a:xfrm>
            <a:off x="6507327" y="5394960"/>
            <a:ext cx="4434840" cy="274320"/>
          </a:xfrm>
          <a:prstGeom prst="rect">
            <a:avLst/>
          </a:prstGeom>
          <a:noFill/>
        </p:spPr>
        <p:txBody>
          <a:bodyPr wrap="square" lIns="0" rIns="0" tIns="0" bIns="0" anchor="t">
            <a:spAutoFit/>
          </a:bodyPr>
          <a:lstStyle/>
          <a:p>
            <a:pPr algn="l">
              <a:spcBef>
                <a:spcPts val="0"/>
              </a:spcBef>
              <a:spcAft>
                <a:spcPts val="0"/>
              </a:spcAft>
            </a:pPr>
            <a:r>
              <a:rPr sz="850" i="0" b="1" spc="238">
                <a:solidFill>
                  <a:srgbClr val="191816"/>
                </a:solidFill>
                <a:latin typeface="Cormorant Garamond"/>
              </a:rPr>
              <a:t>S &amp; A</a:t>
            </a:r>
          </a:p>
        </p:txBody>
      </p:sp>
      <p:sp>
        <p:nvSpPr>
          <p:cNvPr id="8" name="TextBox 7"/>
          <p:cNvSpPr txBox="1"/>
          <p:nvPr/>
        </p:nvSpPr>
        <p:spPr>
          <a:xfrm>
            <a:off x="6507327" y="5760720"/>
            <a:ext cx="4434840" cy="457200"/>
          </a:xfrm>
          <a:prstGeom prst="rect">
            <a:avLst/>
          </a:prstGeom>
          <a:noFill/>
        </p:spPr>
        <p:txBody>
          <a:bodyPr wrap="square" lIns="0" rIns="0" tIns="0" bIns="0" anchor="t">
            <a:spAutoFit/>
          </a:bodyPr>
          <a:lstStyle/>
          <a:p>
            <a:pPr algn="l">
              <a:spcBef>
                <a:spcPts val="0"/>
              </a:spcBef>
              <a:spcAft>
                <a:spcPts val="0"/>
              </a:spcAft>
            </a:pPr>
            <a:r>
              <a:rPr sz="1300" i="1" b="0">
                <a:solidFill>
                  <a:srgbClr val="8B857D"/>
                </a:solidFill>
                <a:latin typeface="Cormorant Garamond"/>
              </a:rPr>
              <a:t>Commentaire client à insérer </a:t>
            </a:r>
          </a:p>
        </p:txBody>
      </p:sp>
      <p:sp>
        <p:nvSpPr>
          <p:cNvPr id="9" name="TextBox 8"/>
          <p:cNvSpPr txBox="1"/>
          <p:nvPr/>
        </p:nvSpPr>
        <p:spPr>
          <a:xfrm>
            <a:off x="11185855" y="6510528"/>
            <a:ext cx="548640" cy="182880"/>
          </a:xfrm>
          <a:prstGeom prst="rect">
            <a:avLst/>
          </a:prstGeom>
          <a:noFill/>
        </p:spPr>
        <p:txBody>
          <a:bodyPr wrap="square" lIns="0" rIns="0" tIns="0" bIns="0" anchor="t">
            <a:spAutoFit/>
          </a:bodyPr>
          <a:lstStyle/>
          <a:p>
            <a:pPr algn="r">
              <a:spcBef>
                <a:spcPts val="0"/>
              </a:spcBef>
              <a:spcAft>
                <a:spcPts val="0"/>
              </a:spcAft>
            </a:pPr>
            <a:r>
              <a:rPr sz="800" i="0" b="1" spc="96">
                <a:solidFill>
                  <a:srgbClr val="6D6862"/>
                </a:solidFill>
                <a:latin typeface="Cormorant Garamond"/>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85800" y="502920"/>
            <a:ext cx="7315200" cy="228600"/>
          </a:xfrm>
          <a:prstGeom prst="rect">
            <a:avLst/>
          </a:prstGeom>
          <a:noFill/>
        </p:spPr>
        <p:txBody>
          <a:bodyPr wrap="square" lIns="0" rIns="0" tIns="0" bIns="0" anchor="t">
            <a:spAutoFit/>
          </a:bodyPr>
          <a:lstStyle/>
          <a:p>
            <a:pPr algn="l">
              <a:spcBef>
                <a:spcPts val="0"/>
              </a:spcBef>
              <a:spcAft>
                <a:spcPts val="0"/>
              </a:spcAft>
            </a:pPr>
            <a:r>
              <a:rPr sz="850" i="0" b="1" spc="238">
                <a:solidFill>
                  <a:srgbClr val="191816"/>
                </a:solidFill>
                <a:latin typeface="Cormorant Garamond"/>
              </a:rPr>
              <a:t>WEDDING COLLECTIONS</a:t>
            </a:r>
          </a:p>
        </p:txBody>
      </p:sp>
      <p:sp>
        <p:nvSpPr>
          <p:cNvPr id="3" name="TextBox 2"/>
          <p:cNvSpPr txBox="1"/>
          <p:nvPr/>
        </p:nvSpPr>
        <p:spPr>
          <a:xfrm>
            <a:off x="685800" y="777240"/>
            <a:ext cx="8229600" cy="914400"/>
          </a:xfrm>
          <a:prstGeom prst="rect">
            <a:avLst/>
          </a:prstGeom>
          <a:noFill/>
        </p:spPr>
        <p:txBody>
          <a:bodyPr wrap="square" lIns="0" rIns="0" tIns="0" bIns="0" anchor="t">
            <a:spAutoFit/>
          </a:bodyPr>
          <a:lstStyle/>
          <a:p>
            <a:pPr algn="l">
              <a:lnSpc>
                <a:spcPct val="95000"/>
              </a:lnSpc>
              <a:spcBef>
                <a:spcPts val="0"/>
              </a:spcBef>
              <a:spcAft>
                <a:spcPts val="0"/>
              </a:spcAft>
            </a:pPr>
            <a:r>
              <a:rPr sz="3200" i="0" b="0">
                <a:solidFill>
                  <a:srgbClr val="191816"/>
                </a:solidFill>
                <a:latin typeface="Cormorant Garamond"/>
              </a:rPr>
              <a:t>Considered collections, </a:t>
            </a:r>
          </a:p>
          <a:p>
            <a:pPr algn="l">
              <a:lnSpc>
                <a:spcPct val="95000"/>
              </a:lnSpc>
              <a:spcBef>
                <a:spcPts val="0"/>
              </a:spcBef>
              <a:spcAft>
                <a:spcPts val="0"/>
              </a:spcAft>
            </a:pPr>
            <a:r>
              <a:rPr sz="3200" i="1" b="0">
                <a:solidFill>
                  <a:srgbClr val="191816"/>
                </a:solidFill>
                <a:latin typeface="Cormorant Garamond"/>
              </a:rPr>
              <a:t>tailored to your day.</a:t>
            </a:r>
          </a:p>
        </p:txBody>
      </p:sp>
      <p:sp>
        <p:nvSpPr>
          <p:cNvPr id="4" name="TextBox 3"/>
          <p:cNvSpPr txBox="1"/>
          <p:nvPr/>
        </p:nvSpPr>
        <p:spPr>
          <a:xfrm>
            <a:off x="685800" y="1783080"/>
            <a:ext cx="8229600" cy="274320"/>
          </a:xfrm>
          <a:prstGeom prst="rect">
            <a:avLst/>
          </a:prstGeom>
          <a:noFill/>
        </p:spPr>
        <p:txBody>
          <a:bodyPr wrap="square" lIns="0" rIns="0" tIns="0" bIns="0" anchor="t">
            <a:spAutoFit/>
          </a:bodyPr>
          <a:lstStyle/>
          <a:p>
            <a:pPr algn="l">
              <a:lnSpc>
                <a:spcPct val="104000"/>
              </a:lnSpc>
              <a:spcBef>
                <a:spcPts val="0"/>
              </a:spcBef>
              <a:spcAft>
                <a:spcPts val="700"/>
              </a:spcAft>
            </a:pPr>
            <a:r>
              <a:rPr sz="1350" i="0" b="0">
                <a:solidFill>
                  <a:srgbClr val="6D6862"/>
                </a:solidFill>
                <a:latin typeface="Cormorant Garamond"/>
              </a:rPr>
              <a:t>Choose the level of coverage that fits your celebration.</a:t>
            </a:r>
          </a:p>
        </p:txBody>
      </p:sp>
      <p:sp>
        <p:nvSpPr>
          <p:cNvPr id="5" name="Rectangle 4"/>
          <p:cNvSpPr/>
          <p:nvPr/>
        </p:nvSpPr>
        <p:spPr>
          <a:xfrm>
            <a:off x="685800" y="2286000"/>
            <a:ext cx="3472586" cy="2240280"/>
          </a:xfrm>
          <a:prstGeom prst="rect">
            <a:avLst/>
          </a:prstGeom>
          <a:solidFill>
            <a:srgbClr val="F4F1EB"/>
          </a:solidFill>
          <a:ln>
            <a:noFill/>
          </a:ln>
          <a:effectLst/>
          <a:effectLst/>
        </p:spPr>
        <p:txBody>
          <a:bodyPr rtlCol="0" anchor="ctr"/>
          <a:lstStyle/>
          <a:p>
            <a:pPr algn="ctr"/>
          </a:p>
        </p:txBody>
      </p:sp>
      <p:sp>
        <p:nvSpPr>
          <p:cNvPr id="6" name="TextBox 5"/>
          <p:cNvSpPr txBox="1"/>
          <p:nvPr/>
        </p:nvSpPr>
        <p:spPr>
          <a:xfrm>
            <a:off x="978408" y="2560320"/>
            <a:ext cx="2887370" cy="228600"/>
          </a:xfrm>
          <a:prstGeom prst="rect">
            <a:avLst/>
          </a:prstGeom>
          <a:noFill/>
        </p:spPr>
        <p:txBody>
          <a:bodyPr wrap="square" lIns="0" rIns="0" tIns="0" bIns="0" anchor="t">
            <a:spAutoFit/>
          </a:bodyPr>
          <a:lstStyle/>
          <a:p>
            <a:pPr algn="l">
              <a:spcBef>
                <a:spcPts val="0"/>
              </a:spcBef>
              <a:spcAft>
                <a:spcPts val="0"/>
              </a:spcAft>
            </a:pPr>
            <a:r>
              <a:rPr sz="850" i="0" b="1" spc="238">
                <a:solidFill>
                  <a:srgbClr val="191816"/>
                </a:solidFill>
                <a:latin typeface="Cormorant Garamond"/>
              </a:rPr>
              <a:t>HALF DAY WEDDING</a:t>
            </a:r>
          </a:p>
        </p:txBody>
      </p:sp>
      <p:sp>
        <p:nvSpPr>
          <p:cNvPr id="7" name="TextBox 6"/>
          <p:cNvSpPr txBox="1"/>
          <p:nvPr/>
        </p:nvSpPr>
        <p:spPr>
          <a:xfrm>
            <a:off x="978408" y="2816352"/>
            <a:ext cx="2887370" cy="502920"/>
          </a:xfrm>
          <a:prstGeom prst="rect">
            <a:avLst/>
          </a:prstGeom>
          <a:noFill/>
        </p:spPr>
        <p:txBody>
          <a:bodyPr wrap="square" lIns="0" rIns="0" tIns="0" bIns="0" anchor="t">
            <a:spAutoFit/>
          </a:bodyPr>
          <a:lstStyle/>
          <a:p>
            <a:pPr algn="l">
              <a:spcBef>
                <a:spcPts val="0"/>
              </a:spcBef>
              <a:spcAft>
                <a:spcPts val="0"/>
              </a:spcAft>
            </a:pPr>
            <a:r>
              <a:rPr sz="2800" i="0" b="0">
                <a:solidFill>
                  <a:srgbClr val="191816"/>
                </a:solidFill>
                <a:latin typeface="Cormorant Garamond"/>
              </a:rPr>
              <a:t>CHF 1'500.-</a:t>
            </a:r>
          </a:p>
        </p:txBody>
      </p:sp>
      <p:sp>
        <p:nvSpPr>
          <p:cNvPr id="8" name="TextBox 7"/>
          <p:cNvSpPr txBox="1"/>
          <p:nvPr/>
        </p:nvSpPr>
        <p:spPr>
          <a:xfrm>
            <a:off x="978408" y="3319272"/>
            <a:ext cx="2887370" cy="201168"/>
          </a:xfrm>
          <a:prstGeom prst="rect">
            <a:avLst/>
          </a:prstGeom>
          <a:noFill/>
        </p:spPr>
        <p:txBody>
          <a:bodyPr wrap="square" lIns="0" rIns="0" tIns="0" bIns="0" anchor="t">
            <a:spAutoFit/>
          </a:bodyPr>
          <a:lstStyle/>
          <a:p>
            <a:pPr algn="l">
              <a:spcBef>
                <a:spcPts val="0"/>
              </a:spcBef>
              <a:spcAft>
                <a:spcPts val="0"/>
              </a:spcAft>
            </a:pPr>
            <a:r>
              <a:rPr sz="800" i="0" b="1" spc="224">
                <a:solidFill>
                  <a:srgbClr val="6D6862"/>
                </a:solidFill>
                <a:latin typeface="Cormorant Garamond"/>
              </a:rPr>
              <a:t>4 HOURS / 180+ IMAGES</a:t>
            </a:r>
          </a:p>
        </p:txBody>
      </p:sp>
      <p:sp>
        <p:nvSpPr>
          <p:cNvPr id="9" name="Rectangle 8"/>
          <p:cNvSpPr/>
          <p:nvPr/>
        </p:nvSpPr>
        <p:spPr>
          <a:xfrm>
            <a:off x="978408" y="3611880"/>
            <a:ext cx="2887370" cy="6400"/>
          </a:xfrm>
          <a:prstGeom prst="rect">
            <a:avLst/>
          </a:prstGeom>
          <a:solidFill>
            <a:srgbClr val="D9D4CB"/>
          </a:solidFill>
          <a:ln>
            <a:noFill/>
          </a:ln>
          <a:effectLst/>
          <a:effectLst/>
        </p:spPr>
        <p:txBody>
          <a:bodyPr rtlCol="0" anchor="ctr"/>
          <a:lstStyle/>
          <a:p>
            <a:pPr algn="ctr"/>
          </a:p>
        </p:txBody>
      </p:sp>
      <p:sp>
        <p:nvSpPr>
          <p:cNvPr id="10" name="TextBox 9"/>
          <p:cNvSpPr txBox="1"/>
          <p:nvPr/>
        </p:nvSpPr>
        <p:spPr>
          <a:xfrm>
            <a:off x="978408" y="3749039"/>
            <a:ext cx="2887370" cy="731520"/>
          </a:xfrm>
          <a:prstGeom prst="rect">
            <a:avLst/>
          </a:prstGeom>
          <a:noFill/>
        </p:spPr>
        <p:txBody>
          <a:bodyPr wrap="square" lIns="0" rIns="0" tIns="0" bIns="0" anchor="t">
            <a:spAutoFit/>
          </a:bodyPr>
          <a:lstStyle/>
          <a:p>
            <a:pPr algn="l">
              <a:lnSpc>
                <a:spcPct val="100000"/>
              </a:lnSpc>
              <a:spcBef>
                <a:spcPts val="0"/>
              </a:spcBef>
              <a:spcAft>
                <a:spcPts val="0"/>
              </a:spcAft>
            </a:pPr>
            <a:r>
              <a:rPr sz="1200" i="0" b="0">
                <a:solidFill>
                  <a:srgbClr val="4F4B45"/>
                </a:solidFill>
                <a:latin typeface="Cormorant Garamond"/>
              </a:rPr>
              <a:t>A focused coverage of the key chapters – ideal when you want depth without documenting the entire day.</a:t>
            </a:r>
          </a:p>
        </p:txBody>
      </p:sp>
      <p:sp>
        <p:nvSpPr>
          <p:cNvPr id="11" name="Rectangle 10"/>
          <p:cNvSpPr/>
          <p:nvPr/>
        </p:nvSpPr>
        <p:spPr>
          <a:xfrm>
            <a:off x="4359554" y="2286000"/>
            <a:ext cx="3472586" cy="2240280"/>
          </a:xfrm>
          <a:prstGeom prst="rect">
            <a:avLst/>
          </a:prstGeom>
          <a:solidFill>
            <a:srgbClr val="F4F1EB"/>
          </a:solidFill>
          <a:ln>
            <a:noFill/>
          </a:ln>
          <a:effectLst/>
          <a:effectLst/>
        </p:spPr>
        <p:txBody>
          <a:bodyPr rtlCol="0" anchor="ctr"/>
          <a:lstStyle/>
          <a:p>
            <a:pPr algn="ctr"/>
          </a:p>
        </p:txBody>
      </p:sp>
      <p:sp>
        <p:nvSpPr>
          <p:cNvPr id="12" name="TextBox 11"/>
          <p:cNvSpPr txBox="1"/>
          <p:nvPr/>
        </p:nvSpPr>
        <p:spPr>
          <a:xfrm>
            <a:off x="4652162" y="2560320"/>
            <a:ext cx="2887370" cy="228600"/>
          </a:xfrm>
          <a:prstGeom prst="rect">
            <a:avLst/>
          </a:prstGeom>
          <a:noFill/>
        </p:spPr>
        <p:txBody>
          <a:bodyPr wrap="square" lIns="0" rIns="0" tIns="0" bIns="0" anchor="t">
            <a:spAutoFit/>
          </a:bodyPr>
          <a:lstStyle/>
          <a:p>
            <a:pPr algn="l">
              <a:spcBef>
                <a:spcPts val="0"/>
              </a:spcBef>
              <a:spcAft>
                <a:spcPts val="0"/>
              </a:spcAft>
            </a:pPr>
            <a:r>
              <a:rPr sz="850" i="0" b="1" spc="238">
                <a:solidFill>
                  <a:srgbClr val="191816"/>
                </a:solidFill>
                <a:latin typeface="Cormorant Garamond"/>
              </a:rPr>
              <a:t>FULL DAY WEDDING</a:t>
            </a:r>
          </a:p>
        </p:txBody>
      </p:sp>
      <p:sp>
        <p:nvSpPr>
          <p:cNvPr id="13" name="TextBox 12"/>
          <p:cNvSpPr txBox="1"/>
          <p:nvPr/>
        </p:nvSpPr>
        <p:spPr>
          <a:xfrm>
            <a:off x="4652162" y="2816352"/>
            <a:ext cx="2887370" cy="502920"/>
          </a:xfrm>
          <a:prstGeom prst="rect">
            <a:avLst/>
          </a:prstGeom>
          <a:noFill/>
        </p:spPr>
        <p:txBody>
          <a:bodyPr wrap="square" lIns="0" rIns="0" tIns="0" bIns="0" anchor="t">
            <a:spAutoFit/>
          </a:bodyPr>
          <a:lstStyle/>
          <a:p>
            <a:pPr algn="l">
              <a:spcBef>
                <a:spcPts val="0"/>
              </a:spcBef>
              <a:spcAft>
                <a:spcPts val="0"/>
              </a:spcAft>
            </a:pPr>
            <a:r>
              <a:rPr sz="2800" i="0" b="0">
                <a:solidFill>
                  <a:srgbClr val="191816"/>
                </a:solidFill>
                <a:latin typeface="Cormorant Garamond"/>
              </a:rPr>
              <a:t>CHF 2'700.-</a:t>
            </a:r>
          </a:p>
        </p:txBody>
      </p:sp>
      <p:sp>
        <p:nvSpPr>
          <p:cNvPr id="14" name="TextBox 13"/>
          <p:cNvSpPr txBox="1"/>
          <p:nvPr/>
        </p:nvSpPr>
        <p:spPr>
          <a:xfrm>
            <a:off x="4652162" y="3319272"/>
            <a:ext cx="2887370" cy="201168"/>
          </a:xfrm>
          <a:prstGeom prst="rect">
            <a:avLst/>
          </a:prstGeom>
          <a:noFill/>
        </p:spPr>
        <p:txBody>
          <a:bodyPr wrap="square" lIns="0" rIns="0" tIns="0" bIns="0" anchor="t">
            <a:spAutoFit/>
          </a:bodyPr>
          <a:lstStyle/>
          <a:p>
            <a:pPr algn="l">
              <a:spcBef>
                <a:spcPts val="0"/>
              </a:spcBef>
              <a:spcAft>
                <a:spcPts val="0"/>
              </a:spcAft>
            </a:pPr>
            <a:r>
              <a:rPr sz="800" i="0" b="1" spc="224">
                <a:solidFill>
                  <a:srgbClr val="6D6862"/>
                </a:solidFill>
                <a:latin typeface="Cormorant Garamond"/>
              </a:rPr>
              <a:t>8 HOURS / 400+ IMAGES</a:t>
            </a:r>
          </a:p>
        </p:txBody>
      </p:sp>
      <p:sp>
        <p:nvSpPr>
          <p:cNvPr id="15" name="Rectangle 14"/>
          <p:cNvSpPr/>
          <p:nvPr/>
        </p:nvSpPr>
        <p:spPr>
          <a:xfrm>
            <a:off x="4652162" y="3611880"/>
            <a:ext cx="2887370" cy="6400"/>
          </a:xfrm>
          <a:prstGeom prst="rect">
            <a:avLst/>
          </a:prstGeom>
          <a:solidFill>
            <a:srgbClr val="D9D4CB"/>
          </a:solidFill>
          <a:ln>
            <a:noFill/>
          </a:ln>
          <a:effectLst/>
          <a:effectLst/>
        </p:spPr>
        <p:txBody>
          <a:bodyPr rtlCol="0" anchor="ctr"/>
          <a:lstStyle/>
          <a:p>
            <a:pPr algn="ctr"/>
          </a:p>
        </p:txBody>
      </p:sp>
      <p:sp>
        <p:nvSpPr>
          <p:cNvPr id="16" name="TextBox 15"/>
          <p:cNvSpPr txBox="1"/>
          <p:nvPr/>
        </p:nvSpPr>
        <p:spPr>
          <a:xfrm>
            <a:off x="4652162" y="3749039"/>
            <a:ext cx="2887370" cy="731520"/>
          </a:xfrm>
          <a:prstGeom prst="rect">
            <a:avLst/>
          </a:prstGeom>
          <a:noFill/>
        </p:spPr>
        <p:txBody>
          <a:bodyPr wrap="square" lIns="0" rIns="0" tIns="0" bIns="0" anchor="t">
            <a:spAutoFit/>
          </a:bodyPr>
          <a:lstStyle/>
          <a:p>
            <a:pPr algn="l">
              <a:lnSpc>
                <a:spcPct val="100000"/>
              </a:lnSpc>
              <a:spcBef>
                <a:spcPts val="0"/>
              </a:spcBef>
              <a:spcAft>
                <a:spcPts val="0"/>
              </a:spcAft>
            </a:pPr>
            <a:r>
              <a:rPr sz="1200" i="0" b="0">
                <a:solidFill>
                  <a:srgbClr val="4F4B45"/>
                </a:solidFill>
                <a:latin typeface="Cormorant Garamond"/>
              </a:rPr>
              <a:t>The complete rhythm of the day, from the quieter beginning to the celebration, with space for details, people and everything in between.</a:t>
            </a:r>
          </a:p>
        </p:txBody>
      </p:sp>
      <p:sp>
        <p:nvSpPr>
          <p:cNvPr id="17" name="Rectangle 16"/>
          <p:cNvSpPr/>
          <p:nvPr/>
        </p:nvSpPr>
        <p:spPr>
          <a:xfrm>
            <a:off x="8033308" y="2286000"/>
            <a:ext cx="3472586" cy="2240280"/>
          </a:xfrm>
          <a:prstGeom prst="rect">
            <a:avLst/>
          </a:prstGeom>
          <a:solidFill>
            <a:srgbClr val="F4F1EB"/>
          </a:solidFill>
          <a:ln>
            <a:noFill/>
          </a:ln>
          <a:effectLst/>
          <a:effectLst/>
        </p:spPr>
        <p:txBody>
          <a:bodyPr rtlCol="0" anchor="ctr"/>
          <a:lstStyle/>
          <a:p>
            <a:pPr algn="ctr"/>
          </a:p>
        </p:txBody>
      </p:sp>
      <p:sp>
        <p:nvSpPr>
          <p:cNvPr id="18" name="TextBox 17"/>
          <p:cNvSpPr txBox="1"/>
          <p:nvPr/>
        </p:nvSpPr>
        <p:spPr>
          <a:xfrm>
            <a:off x="8325916" y="2560320"/>
            <a:ext cx="2887370" cy="228600"/>
          </a:xfrm>
          <a:prstGeom prst="rect">
            <a:avLst/>
          </a:prstGeom>
          <a:noFill/>
        </p:spPr>
        <p:txBody>
          <a:bodyPr wrap="square" lIns="0" rIns="0" tIns="0" bIns="0" anchor="t">
            <a:spAutoFit/>
          </a:bodyPr>
          <a:lstStyle/>
          <a:p>
            <a:pPr algn="l">
              <a:spcBef>
                <a:spcPts val="0"/>
              </a:spcBef>
              <a:spcAft>
                <a:spcPts val="0"/>
              </a:spcAft>
            </a:pPr>
            <a:r>
              <a:rPr sz="850" i="0" b="1" spc="238">
                <a:solidFill>
                  <a:srgbClr val="191816"/>
                </a:solidFill>
                <a:latin typeface="Cormorant Garamond"/>
              </a:rPr>
              <a:t>EXTENDED WEDDING</a:t>
            </a:r>
          </a:p>
        </p:txBody>
      </p:sp>
      <p:sp>
        <p:nvSpPr>
          <p:cNvPr id="19" name="TextBox 18"/>
          <p:cNvSpPr txBox="1"/>
          <p:nvPr/>
        </p:nvSpPr>
        <p:spPr>
          <a:xfrm>
            <a:off x="8325916" y="2816352"/>
            <a:ext cx="2887370" cy="502920"/>
          </a:xfrm>
          <a:prstGeom prst="rect">
            <a:avLst/>
          </a:prstGeom>
          <a:noFill/>
        </p:spPr>
        <p:txBody>
          <a:bodyPr wrap="square" lIns="0" rIns="0" tIns="0" bIns="0" anchor="t">
            <a:spAutoFit/>
          </a:bodyPr>
          <a:lstStyle/>
          <a:p>
            <a:pPr algn="l">
              <a:spcBef>
                <a:spcPts val="0"/>
              </a:spcBef>
              <a:spcAft>
                <a:spcPts val="0"/>
              </a:spcAft>
            </a:pPr>
            <a:r>
              <a:rPr sz="2800" i="0" b="0">
                <a:solidFill>
                  <a:srgbClr val="191816"/>
                </a:solidFill>
                <a:latin typeface="Cormorant Garamond"/>
              </a:rPr>
              <a:t>CHF 3'200.-</a:t>
            </a:r>
          </a:p>
        </p:txBody>
      </p:sp>
      <p:sp>
        <p:nvSpPr>
          <p:cNvPr id="20" name="TextBox 19"/>
          <p:cNvSpPr txBox="1"/>
          <p:nvPr/>
        </p:nvSpPr>
        <p:spPr>
          <a:xfrm>
            <a:off x="8325916" y="3319272"/>
            <a:ext cx="2887370" cy="201168"/>
          </a:xfrm>
          <a:prstGeom prst="rect">
            <a:avLst/>
          </a:prstGeom>
          <a:noFill/>
        </p:spPr>
        <p:txBody>
          <a:bodyPr wrap="square" lIns="0" rIns="0" tIns="0" bIns="0" anchor="t">
            <a:spAutoFit/>
          </a:bodyPr>
          <a:lstStyle/>
          <a:p>
            <a:pPr algn="l">
              <a:spcBef>
                <a:spcPts val="0"/>
              </a:spcBef>
              <a:spcAft>
                <a:spcPts val="0"/>
              </a:spcAft>
            </a:pPr>
            <a:r>
              <a:rPr sz="800" i="0" b="1" spc="224">
                <a:solidFill>
                  <a:srgbClr val="6D6862"/>
                </a:solidFill>
                <a:latin typeface="Cormorant Garamond"/>
              </a:rPr>
              <a:t>10 HOURS / 600+ IMAGES</a:t>
            </a:r>
          </a:p>
        </p:txBody>
      </p:sp>
      <p:sp>
        <p:nvSpPr>
          <p:cNvPr id="21" name="Rectangle 20"/>
          <p:cNvSpPr/>
          <p:nvPr/>
        </p:nvSpPr>
        <p:spPr>
          <a:xfrm>
            <a:off x="8325916" y="3611880"/>
            <a:ext cx="2887370" cy="6400"/>
          </a:xfrm>
          <a:prstGeom prst="rect">
            <a:avLst/>
          </a:prstGeom>
          <a:solidFill>
            <a:srgbClr val="D9D4CB"/>
          </a:solidFill>
          <a:ln>
            <a:noFill/>
          </a:ln>
          <a:effectLst/>
          <a:effectLst/>
        </p:spPr>
        <p:txBody>
          <a:bodyPr rtlCol="0" anchor="ctr"/>
          <a:lstStyle/>
          <a:p>
            <a:pPr algn="ctr"/>
          </a:p>
        </p:txBody>
      </p:sp>
      <p:sp>
        <p:nvSpPr>
          <p:cNvPr id="22" name="TextBox 21"/>
          <p:cNvSpPr txBox="1"/>
          <p:nvPr/>
        </p:nvSpPr>
        <p:spPr>
          <a:xfrm>
            <a:off x="8325916" y="3749039"/>
            <a:ext cx="2887370" cy="731520"/>
          </a:xfrm>
          <a:prstGeom prst="rect">
            <a:avLst/>
          </a:prstGeom>
          <a:noFill/>
        </p:spPr>
        <p:txBody>
          <a:bodyPr wrap="square" lIns="0" rIns="0" tIns="0" bIns="0" anchor="t">
            <a:spAutoFit/>
          </a:bodyPr>
          <a:lstStyle/>
          <a:p>
            <a:pPr algn="l">
              <a:lnSpc>
                <a:spcPct val="100000"/>
              </a:lnSpc>
              <a:spcBef>
                <a:spcPts val="0"/>
              </a:spcBef>
              <a:spcAft>
                <a:spcPts val="0"/>
              </a:spcAft>
            </a:pPr>
            <a:r>
              <a:rPr sz="1200" i="0" b="0">
                <a:solidFill>
                  <a:srgbClr val="4F4B45"/>
                </a:solidFill>
                <a:latin typeface="Cormorant Garamond"/>
              </a:rPr>
              <a:t>An extended story of your celebration – from preparations to the late evening atmosphere, captured with a calm and consistent presence.</a:t>
            </a:r>
          </a:p>
        </p:txBody>
      </p:sp>
      <p:sp>
        <p:nvSpPr>
          <p:cNvPr id="23" name="Rectangle 22"/>
          <p:cNvSpPr/>
          <p:nvPr/>
        </p:nvSpPr>
        <p:spPr>
          <a:xfrm>
            <a:off x="685800" y="4846320"/>
            <a:ext cx="10820095" cy="6400"/>
          </a:xfrm>
          <a:prstGeom prst="rect">
            <a:avLst/>
          </a:prstGeom>
          <a:solidFill>
            <a:srgbClr val="D9D4CB"/>
          </a:solidFill>
          <a:ln>
            <a:noFill/>
          </a:ln>
          <a:effectLst/>
          <a:effectLst/>
        </p:spPr>
        <p:txBody>
          <a:bodyPr rtlCol="0" anchor="ctr"/>
          <a:lstStyle/>
          <a:p>
            <a:pPr algn="ctr"/>
          </a:p>
        </p:txBody>
      </p:sp>
      <p:sp>
        <p:nvSpPr>
          <p:cNvPr id="24" name="TextBox 23"/>
          <p:cNvSpPr txBox="1"/>
          <p:nvPr/>
        </p:nvSpPr>
        <p:spPr>
          <a:xfrm>
            <a:off x="685800" y="5029200"/>
            <a:ext cx="10820095" cy="228600"/>
          </a:xfrm>
          <a:prstGeom prst="rect">
            <a:avLst/>
          </a:prstGeom>
          <a:noFill/>
        </p:spPr>
        <p:txBody>
          <a:bodyPr wrap="square" lIns="0" rIns="0" tIns="0" bIns="0" anchor="t">
            <a:spAutoFit/>
          </a:bodyPr>
          <a:lstStyle/>
          <a:p>
            <a:pPr algn="ctr">
              <a:spcBef>
                <a:spcPts val="0"/>
              </a:spcBef>
              <a:spcAft>
                <a:spcPts val="0"/>
              </a:spcAft>
            </a:pPr>
            <a:r>
              <a:rPr sz="850" i="0" b="1" spc="238">
                <a:solidFill>
                  <a:srgbClr val="191816"/>
                </a:solidFill>
                <a:latin typeface="Cormorant Garamond"/>
              </a:rPr>
              <a:t>EVERY COLLECTION INCLUDES</a:t>
            </a:r>
          </a:p>
        </p:txBody>
      </p:sp>
      <p:sp>
        <p:nvSpPr>
          <p:cNvPr id="25" name="TextBox 24"/>
          <p:cNvSpPr txBox="1"/>
          <p:nvPr/>
        </p:nvSpPr>
        <p:spPr>
          <a:xfrm>
            <a:off x="685800" y="5303520"/>
            <a:ext cx="10820095" cy="274320"/>
          </a:xfrm>
          <a:prstGeom prst="rect">
            <a:avLst/>
          </a:prstGeom>
          <a:noFill/>
        </p:spPr>
        <p:txBody>
          <a:bodyPr wrap="square" lIns="0" rIns="0" tIns="0" bIns="0" anchor="t">
            <a:spAutoFit/>
          </a:bodyPr>
          <a:lstStyle/>
          <a:p>
            <a:pPr algn="ctr">
              <a:lnSpc>
                <a:spcPct val="104000"/>
              </a:lnSpc>
              <a:spcBef>
                <a:spcPts val="0"/>
              </a:spcBef>
              <a:spcAft>
                <a:spcPts val="0"/>
              </a:spcAft>
            </a:pPr>
            <a:r>
              <a:rPr sz="1300" i="0" b="0">
                <a:solidFill>
                  <a:srgbClr val="191816"/>
                </a:solidFill>
                <a:latin typeface="Cormorant Garamond"/>
              </a:rPr>
              <a:t>Private online gallery     |     High-resolution individually edited images     |     Printing rights     |     Travel within Switzerland</a:t>
            </a:r>
          </a:p>
        </p:txBody>
      </p:sp>
      <p:sp>
        <p:nvSpPr>
          <p:cNvPr id="26" name="Rectangle 25"/>
          <p:cNvSpPr/>
          <p:nvPr/>
        </p:nvSpPr>
        <p:spPr>
          <a:xfrm>
            <a:off x="685800" y="5742431"/>
            <a:ext cx="10820095" cy="6400"/>
          </a:xfrm>
          <a:prstGeom prst="rect">
            <a:avLst/>
          </a:prstGeom>
          <a:solidFill>
            <a:srgbClr val="D9D4CB"/>
          </a:solidFill>
          <a:ln>
            <a:noFill/>
          </a:ln>
          <a:effectLst/>
          <a:effectLst/>
        </p:spPr>
        <p:txBody>
          <a:bodyPr rtlCol="0" anchor="ctr"/>
          <a:lstStyle/>
          <a:p>
            <a:pPr algn="ctr"/>
          </a:p>
        </p:txBody>
      </p:sp>
      <p:sp>
        <p:nvSpPr>
          <p:cNvPr id="27" name="Rectangle 26"/>
          <p:cNvSpPr/>
          <p:nvPr/>
        </p:nvSpPr>
        <p:spPr>
          <a:xfrm>
            <a:off x="685800" y="5989320"/>
            <a:ext cx="10820095" cy="502920"/>
          </a:xfrm>
          <a:prstGeom prst="rect">
            <a:avLst/>
          </a:prstGeom>
          <a:solidFill>
            <a:srgbClr val="191816"/>
          </a:solidFill>
          <a:ln>
            <a:noFill/>
          </a:ln>
          <a:effectLst/>
          <a:effectLst/>
        </p:spPr>
        <p:txBody>
          <a:bodyPr rtlCol="0" anchor="ctr"/>
          <a:lstStyle/>
          <a:p>
            <a:pPr algn="ctr"/>
          </a:p>
        </p:txBody>
      </p:sp>
      <p:sp>
        <p:nvSpPr>
          <p:cNvPr id="28" name="TextBox 27"/>
          <p:cNvSpPr txBox="1"/>
          <p:nvPr/>
        </p:nvSpPr>
        <p:spPr>
          <a:xfrm>
            <a:off x="978408" y="5989320"/>
            <a:ext cx="3657600" cy="502920"/>
          </a:xfrm>
          <a:prstGeom prst="rect">
            <a:avLst/>
          </a:prstGeom>
          <a:noFill/>
        </p:spPr>
        <p:txBody>
          <a:bodyPr wrap="square" lIns="0" rIns="0" tIns="0" bIns="0" anchor="ctr">
            <a:spAutoFit/>
          </a:bodyPr>
          <a:lstStyle/>
          <a:p>
            <a:pPr algn="l">
              <a:spcBef>
                <a:spcPts val="0"/>
              </a:spcBef>
              <a:spcAft>
                <a:spcPts val="0"/>
              </a:spcAft>
            </a:pPr>
            <a:r>
              <a:rPr sz="850" i="0" b="1" spc="238">
                <a:solidFill>
                  <a:srgbClr val="FAF9F6"/>
                </a:solidFill>
                <a:latin typeface="Cormorant Garamond"/>
              </a:rPr>
              <a:t>ADDITIONAL HOUR</a:t>
            </a:r>
          </a:p>
        </p:txBody>
      </p:sp>
      <p:sp>
        <p:nvSpPr>
          <p:cNvPr id="29" name="TextBox 28"/>
          <p:cNvSpPr txBox="1"/>
          <p:nvPr/>
        </p:nvSpPr>
        <p:spPr>
          <a:xfrm>
            <a:off x="8470087" y="5989320"/>
            <a:ext cx="2743200" cy="502920"/>
          </a:xfrm>
          <a:prstGeom prst="rect">
            <a:avLst/>
          </a:prstGeom>
          <a:noFill/>
        </p:spPr>
        <p:txBody>
          <a:bodyPr wrap="square" lIns="0" rIns="0" tIns="0" bIns="0" anchor="ctr">
            <a:spAutoFit/>
          </a:bodyPr>
          <a:lstStyle/>
          <a:p>
            <a:pPr algn="r">
              <a:spcBef>
                <a:spcPts val="0"/>
              </a:spcBef>
              <a:spcAft>
                <a:spcPts val="0"/>
              </a:spcAft>
            </a:pPr>
            <a:r>
              <a:rPr sz="1700" i="0" b="0">
                <a:solidFill>
                  <a:srgbClr val="FAF9F6"/>
                </a:solidFill>
                <a:latin typeface="Cormorant Garamond"/>
              </a:rPr>
              <a:t>CHF 350.- / h</a:t>
            </a:r>
          </a:p>
        </p:txBody>
      </p:sp>
      <p:sp>
        <p:nvSpPr>
          <p:cNvPr id="30" name="TextBox 29"/>
          <p:cNvSpPr txBox="1"/>
          <p:nvPr/>
        </p:nvSpPr>
        <p:spPr>
          <a:xfrm>
            <a:off x="11185855" y="6510528"/>
            <a:ext cx="548640" cy="182880"/>
          </a:xfrm>
          <a:prstGeom prst="rect">
            <a:avLst/>
          </a:prstGeom>
          <a:noFill/>
        </p:spPr>
        <p:txBody>
          <a:bodyPr wrap="square" lIns="0" rIns="0" tIns="0" bIns="0" anchor="t">
            <a:spAutoFit/>
          </a:bodyPr>
          <a:lstStyle/>
          <a:p>
            <a:pPr algn="r">
              <a:spcBef>
                <a:spcPts val="0"/>
              </a:spcBef>
              <a:spcAft>
                <a:spcPts val="0"/>
              </a:spcAft>
            </a:pPr>
            <a:r>
              <a:rPr sz="800" i="0" b="1" spc="96">
                <a:solidFill>
                  <a:srgbClr val="6D6862"/>
                </a:solidFill>
                <a:latin typeface="Cormorant Garamond"/>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85800" y="502920"/>
            <a:ext cx="7315200" cy="228600"/>
          </a:xfrm>
          <a:prstGeom prst="rect">
            <a:avLst/>
          </a:prstGeom>
          <a:noFill/>
        </p:spPr>
        <p:txBody>
          <a:bodyPr wrap="square" lIns="0" rIns="0" tIns="0" bIns="0" anchor="t">
            <a:spAutoFit/>
          </a:bodyPr>
          <a:lstStyle/>
          <a:p>
            <a:pPr algn="l">
              <a:spcBef>
                <a:spcPts val="0"/>
              </a:spcBef>
              <a:spcAft>
                <a:spcPts val="0"/>
              </a:spcAft>
            </a:pPr>
            <a:r>
              <a:rPr sz="850" i="0" b="1" spc="238">
                <a:solidFill>
                  <a:srgbClr val="191816"/>
                </a:solidFill>
                <a:latin typeface="Cormorant Garamond"/>
              </a:rPr>
              <a:t>CIVIL CEREMONY &amp; INTIMATE CELEBRATIONS</a:t>
            </a:r>
          </a:p>
        </p:txBody>
      </p:sp>
      <p:sp>
        <p:nvSpPr>
          <p:cNvPr id="3" name="TextBox 2"/>
          <p:cNvSpPr txBox="1"/>
          <p:nvPr/>
        </p:nvSpPr>
        <p:spPr>
          <a:xfrm>
            <a:off x="685800" y="777240"/>
            <a:ext cx="8229600" cy="914400"/>
          </a:xfrm>
          <a:prstGeom prst="rect">
            <a:avLst/>
          </a:prstGeom>
          <a:noFill/>
        </p:spPr>
        <p:txBody>
          <a:bodyPr wrap="square" lIns="0" rIns="0" tIns="0" bIns="0" anchor="t">
            <a:spAutoFit/>
          </a:bodyPr>
          <a:lstStyle/>
          <a:p>
            <a:pPr algn="l">
              <a:lnSpc>
                <a:spcPct val="95000"/>
              </a:lnSpc>
              <a:spcBef>
                <a:spcPts val="0"/>
              </a:spcBef>
              <a:spcAft>
                <a:spcPts val="0"/>
              </a:spcAft>
            </a:pPr>
            <a:r>
              <a:rPr sz="3200" i="0" b="0">
                <a:solidFill>
                  <a:srgbClr val="191816"/>
                </a:solidFill>
                <a:latin typeface="Cormorant Garamond"/>
              </a:rPr>
              <a:t>For the chapters shaped by</a:t>
            </a:r>
          </a:p>
          <a:p>
            <a:pPr algn="l">
              <a:lnSpc>
                <a:spcPct val="95000"/>
              </a:lnSpc>
              <a:spcBef>
                <a:spcPts val="0"/>
              </a:spcBef>
              <a:spcAft>
                <a:spcPts val="0"/>
              </a:spcAft>
            </a:pPr>
            <a:r>
              <a:rPr sz="3200" i="1" b="0">
                <a:solidFill>
                  <a:srgbClr val="191816"/>
                </a:solidFill>
                <a:latin typeface="Cormorant Garamond"/>
              </a:rPr>
              <a:t>intimacy and intention.</a:t>
            </a:r>
          </a:p>
        </p:txBody>
      </p:sp>
      <p:sp>
        <p:nvSpPr>
          <p:cNvPr id="4" name="TextBox 3"/>
          <p:cNvSpPr txBox="1"/>
          <p:nvPr/>
        </p:nvSpPr>
        <p:spPr>
          <a:xfrm>
            <a:off x="685800" y="1783080"/>
            <a:ext cx="8229600" cy="274320"/>
          </a:xfrm>
          <a:prstGeom prst="rect">
            <a:avLst/>
          </a:prstGeom>
          <a:noFill/>
        </p:spPr>
        <p:txBody>
          <a:bodyPr wrap="square" lIns="0" rIns="0" tIns="0" bIns="0" anchor="t">
            <a:spAutoFit/>
          </a:bodyPr>
          <a:lstStyle/>
          <a:p>
            <a:pPr algn="l">
              <a:lnSpc>
                <a:spcPct val="104000"/>
              </a:lnSpc>
              <a:spcBef>
                <a:spcPts val="0"/>
              </a:spcBef>
              <a:spcAft>
                <a:spcPts val="700"/>
              </a:spcAft>
            </a:pPr>
            <a:r>
              <a:rPr sz="1350" i="0" b="0">
                <a:solidFill>
                  <a:srgbClr val="6D6862"/>
                </a:solidFill>
                <a:latin typeface="Cormorant Garamond"/>
              </a:rPr>
              <a:t>Thoughtful coverage for more intimate celebrations, in Lausanne and throughout Switzerland.</a:t>
            </a:r>
          </a:p>
        </p:txBody>
      </p:sp>
      <p:sp>
        <p:nvSpPr>
          <p:cNvPr id="5" name="Rectangle 4"/>
          <p:cNvSpPr/>
          <p:nvPr/>
        </p:nvSpPr>
        <p:spPr>
          <a:xfrm>
            <a:off x="685800" y="2286000"/>
            <a:ext cx="5309463" cy="2240280"/>
          </a:xfrm>
          <a:prstGeom prst="rect">
            <a:avLst/>
          </a:prstGeom>
          <a:solidFill>
            <a:srgbClr val="F4F1EB"/>
          </a:solidFill>
          <a:ln>
            <a:noFill/>
          </a:ln>
          <a:effectLst/>
          <a:effectLst/>
        </p:spPr>
        <p:txBody>
          <a:bodyPr rtlCol="0" anchor="ctr"/>
          <a:lstStyle/>
          <a:p>
            <a:pPr algn="ctr"/>
          </a:p>
        </p:txBody>
      </p:sp>
      <p:sp>
        <p:nvSpPr>
          <p:cNvPr id="6" name="TextBox 5"/>
          <p:cNvSpPr txBox="1"/>
          <p:nvPr/>
        </p:nvSpPr>
        <p:spPr>
          <a:xfrm>
            <a:off x="978408" y="2560320"/>
            <a:ext cx="4724247" cy="228600"/>
          </a:xfrm>
          <a:prstGeom prst="rect">
            <a:avLst/>
          </a:prstGeom>
          <a:noFill/>
        </p:spPr>
        <p:txBody>
          <a:bodyPr wrap="square" lIns="0" rIns="0" tIns="0" bIns="0" anchor="t">
            <a:spAutoFit/>
          </a:bodyPr>
          <a:lstStyle/>
          <a:p>
            <a:pPr algn="l">
              <a:spcBef>
                <a:spcPts val="0"/>
              </a:spcBef>
              <a:spcAft>
                <a:spcPts val="0"/>
              </a:spcAft>
            </a:pPr>
            <a:r>
              <a:rPr sz="850" i="0" b="1" spc="238">
                <a:solidFill>
                  <a:srgbClr val="191816"/>
                </a:solidFill>
                <a:latin typeface="Cormorant Garamond"/>
              </a:rPr>
              <a:t>CIVIL CEREMONY</a:t>
            </a:r>
          </a:p>
        </p:txBody>
      </p:sp>
      <p:sp>
        <p:nvSpPr>
          <p:cNvPr id="7" name="TextBox 6"/>
          <p:cNvSpPr txBox="1"/>
          <p:nvPr/>
        </p:nvSpPr>
        <p:spPr>
          <a:xfrm>
            <a:off x="978408" y="2816352"/>
            <a:ext cx="4724247" cy="502920"/>
          </a:xfrm>
          <a:prstGeom prst="rect">
            <a:avLst/>
          </a:prstGeom>
          <a:noFill/>
        </p:spPr>
        <p:txBody>
          <a:bodyPr wrap="square" lIns="0" rIns="0" tIns="0" bIns="0" anchor="t">
            <a:spAutoFit/>
          </a:bodyPr>
          <a:lstStyle/>
          <a:p>
            <a:pPr algn="l">
              <a:spcBef>
                <a:spcPts val="0"/>
              </a:spcBef>
              <a:spcAft>
                <a:spcPts val="0"/>
              </a:spcAft>
            </a:pPr>
            <a:r>
              <a:rPr sz="2800" i="0" b="0">
                <a:solidFill>
                  <a:srgbClr val="191816"/>
                </a:solidFill>
                <a:latin typeface="Cormorant Garamond"/>
              </a:rPr>
              <a:t>CHF 850.-</a:t>
            </a:r>
          </a:p>
        </p:txBody>
      </p:sp>
      <p:sp>
        <p:nvSpPr>
          <p:cNvPr id="8" name="TextBox 7"/>
          <p:cNvSpPr txBox="1"/>
          <p:nvPr/>
        </p:nvSpPr>
        <p:spPr>
          <a:xfrm>
            <a:off x="978408" y="3319272"/>
            <a:ext cx="4724247" cy="201168"/>
          </a:xfrm>
          <a:prstGeom prst="rect">
            <a:avLst/>
          </a:prstGeom>
          <a:noFill/>
        </p:spPr>
        <p:txBody>
          <a:bodyPr wrap="square" lIns="0" rIns="0" tIns="0" bIns="0" anchor="t">
            <a:spAutoFit/>
          </a:bodyPr>
          <a:lstStyle/>
          <a:p>
            <a:pPr algn="l">
              <a:spcBef>
                <a:spcPts val="0"/>
              </a:spcBef>
              <a:spcAft>
                <a:spcPts val="0"/>
              </a:spcAft>
            </a:pPr>
            <a:r>
              <a:rPr sz="800" i="0" b="1" spc="224">
                <a:solidFill>
                  <a:srgbClr val="6D6862"/>
                </a:solidFill>
                <a:latin typeface="Cormorant Garamond"/>
              </a:rPr>
              <a:t>2 HOURS / 80+ IMAGES</a:t>
            </a:r>
          </a:p>
        </p:txBody>
      </p:sp>
      <p:sp>
        <p:nvSpPr>
          <p:cNvPr id="9" name="Rectangle 8"/>
          <p:cNvSpPr/>
          <p:nvPr/>
        </p:nvSpPr>
        <p:spPr>
          <a:xfrm>
            <a:off x="978408" y="3611880"/>
            <a:ext cx="4724247" cy="6400"/>
          </a:xfrm>
          <a:prstGeom prst="rect">
            <a:avLst/>
          </a:prstGeom>
          <a:solidFill>
            <a:srgbClr val="D9D4CB"/>
          </a:solidFill>
          <a:ln>
            <a:noFill/>
          </a:ln>
          <a:effectLst/>
          <a:effectLst/>
        </p:spPr>
        <p:txBody>
          <a:bodyPr rtlCol="0" anchor="ctr"/>
          <a:lstStyle/>
          <a:p>
            <a:pPr algn="ctr"/>
          </a:p>
        </p:txBody>
      </p:sp>
      <p:sp>
        <p:nvSpPr>
          <p:cNvPr id="10" name="TextBox 9"/>
          <p:cNvSpPr txBox="1"/>
          <p:nvPr/>
        </p:nvSpPr>
        <p:spPr>
          <a:xfrm>
            <a:off x="978408" y="3749039"/>
            <a:ext cx="4724247" cy="731520"/>
          </a:xfrm>
          <a:prstGeom prst="rect">
            <a:avLst/>
          </a:prstGeom>
          <a:noFill/>
        </p:spPr>
        <p:txBody>
          <a:bodyPr wrap="square" lIns="0" rIns="0" tIns="0" bIns="0" anchor="t">
            <a:spAutoFit/>
          </a:bodyPr>
          <a:lstStyle/>
          <a:p>
            <a:pPr algn="l">
              <a:lnSpc>
                <a:spcPct val="100000"/>
              </a:lnSpc>
              <a:spcBef>
                <a:spcPts val="0"/>
              </a:spcBef>
              <a:spcAft>
                <a:spcPts val="0"/>
              </a:spcAft>
            </a:pPr>
            <a:r>
              <a:rPr sz="1350" i="0" b="0">
                <a:solidFill>
                  <a:srgbClr val="4F4B45"/>
                </a:solidFill>
                <a:latin typeface="Cormorant Garamond"/>
              </a:rPr>
              <a:t>A refined and intimate coverage of your civil ceremony, your closest people and a short portrait chapter around the celebration.</a:t>
            </a:r>
          </a:p>
        </p:txBody>
      </p:sp>
      <p:sp>
        <p:nvSpPr>
          <p:cNvPr id="11" name="Rectangle 10"/>
          <p:cNvSpPr/>
          <p:nvPr/>
        </p:nvSpPr>
        <p:spPr>
          <a:xfrm>
            <a:off x="6196431" y="2286000"/>
            <a:ext cx="5309463" cy="2240280"/>
          </a:xfrm>
          <a:prstGeom prst="rect">
            <a:avLst/>
          </a:prstGeom>
          <a:solidFill>
            <a:srgbClr val="F4F1EB"/>
          </a:solidFill>
          <a:ln>
            <a:noFill/>
          </a:ln>
          <a:effectLst/>
          <a:effectLst/>
        </p:spPr>
        <p:txBody>
          <a:bodyPr rtlCol="0" anchor="ctr"/>
          <a:lstStyle/>
          <a:p>
            <a:pPr algn="ctr"/>
          </a:p>
        </p:txBody>
      </p:sp>
      <p:sp>
        <p:nvSpPr>
          <p:cNvPr id="12" name="TextBox 11"/>
          <p:cNvSpPr txBox="1"/>
          <p:nvPr/>
        </p:nvSpPr>
        <p:spPr>
          <a:xfrm>
            <a:off x="6489039" y="2560320"/>
            <a:ext cx="4724247" cy="228600"/>
          </a:xfrm>
          <a:prstGeom prst="rect">
            <a:avLst/>
          </a:prstGeom>
          <a:noFill/>
        </p:spPr>
        <p:txBody>
          <a:bodyPr wrap="square" lIns="0" rIns="0" tIns="0" bIns="0" anchor="t">
            <a:spAutoFit/>
          </a:bodyPr>
          <a:lstStyle/>
          <a:p>
            <a:pPr algn="l">
              <a:spcBef>
                <a:spcPts val="0"/>
              </a:spcBef>
              <a:spcAft>
                <a:spcPts val="0"/>
              </a:spcAft>
            </a:pPr>
            <a:r>
              <a:rPr sz="850" i="0" b="1" spc="238">
                <a:solidFill>
                  <a:srgbClr val="191816"/>
                </a:solidFill>
                <a:latin typeface="Cormorant Garamond"/>
              </a:rPr>
              <a:t>INTIMATE WEDDING / ELOPEMENT</a:t>
            </a:r>
          </a:p>
        </p:txBody>
      </p:sp>
      <p:sp>
        <p:nvSpPr>
          <p:cNvPr id="13" name="TextBox 12"/>
          <p:cNvSpPr txBox="1"/>
          <p:nvPr/>
        </p:nvSpPr>
        <p:spPr>
          <a:xfrm>
            <a:off x="6489039" y="2816352"/>
            <a:ext cx="4724247" cy="502920"/>
          </a:xfrm>
          <a:prstGeom prst="rect">
            <a:avLst/>
          </a:prstGeom>
          <a:noFill/>
        </p:spPr>
        <p:txBody>
          <a:bodyPr wrap="square" lIns="0" rIns="0" tIns="0" bIns="0" anchor="t">
            <a:spAutoFit/>
          </a:bodyPr>
          <a:lstStyle/>
          <a:p>
            <a:pPr algn="l">
              <a:spcBef>
                <a:spcPts val="0"/>
              </a:spcBef>
              <a:spcAft>
                <a:spcPts val="0"/>
              </a:spcAft>
            </a:pPr>
            <a:r>
              <a:rPr sz="2800" i="0" b="0">
                <a:solidFill>
                  <a:srgbClr val="191816"/>
                </a:solidFill>
                <a:latin typeface="Cormorant Garamond"/>
              </a:rPr>
              <a:t>CHF 1'200.-</a:t>
            </a:r>
          </a:p>
        </p:txBody>
      </p:sp>
      <p:sp>
        <p:nvSpPr>
          <p:cNvPr id="14" name="TextBox 13"/>
          <p:cNvSpPr txBox="1"/>
          <p:nvPr/>
        </p:nvSpPr>
        <p:spPr>
          <a:xfrm>
            <a:off x="6489039" y="3319272"/>
            <a:ext cx="4724247" cy="201168"/>
          </a:xfrm>
          <a:prstGeom prst="rect">
            <a:avLst/>
          </a:prstGeom>
          <a:noFill/>
        </p:spPr>
        <p:txBody>
          <a:bodyPr wrap="square" lIns="0" rIns="0" tIns="0" bIns="0" anchor="t">
            <a:spAutoFit/>
          </a:bodyPr>
          <a:lstStyle/>
          <a:p>
            <a:pPr algn="l">
              <a:spcBef>
                <a:spcPts val="0"/>
              </a:spcBef>
              <a:spcAft>
                <a:spcPts val="0"/>
              </a:spcAft>
            </a:pPr>
            <a:r>
              <a:rPr sz="800" i="0" b="1" spc="224">
                <a:solidFill>
                  <a:srgbClr val="6D6862"/>
                </a:solidFill>
                <a:latin typeface="Cormorant Garamond"/>
              </a:rPr>
              <a:t>3 HOURS / 130+ IMAGES</a:t>
            </a:r>
          </a:p>
        </p:txBody>
      </p:sp>
      <p:sp>
        <p:nvSpPr>
          <p:cNvPr id="15" name="Rectangle 14"/>
          <p:cNvSpPr/>
          <p:nvPr/>
        </p:nvSpPr>
        <p:spPr>
          <a:xfrm>
            <a:off x="6489039" y="3611880"/>
            <a:ext cx="4724247" cy="6400"/>
          </a:xfrm>
          <a:prstGeom prst="rect">
            <a:avLst/>
          </a:prstGeom>
          <a:solidFill>
            <a:srgbClr val="D9D4CB"/>
          </a:solidFill>
          <a:ln>
            <a:noFill/>
          </a:ln>
          <a:effectLst/>
          <a:effectLst/>
        </p:spPr>
        <p:txBody>
          <a:bodyPr rtlCol="0" anchor="ctr"/>
          <a:lstStyle/>
          <a:p>
            <a:pPr algn="ctr"/>
          </a:p>
        </p:txBody>
      </p:sp>
      <p:sp>
        <p:nvSpPr>
          <p:cNvPr id="16" name="TextBox 15"/>
          <p:cNvSpPr txBox="1"/>
          <p:nvPr/>
        </p:nvSpPr>
        <p:spPr>
          <a:xfrm>
            <a:off x="6489039" y="3749039"/>
            <a:ext cx="4724247" cy="731520"/>
          </a:xfrm>
          <a:prstGeom prst="rect">
            <a:avLst/>
          </a:prstGeom>
          <a:noFill/>
        </p:spPr>
        <p:txBody>
          <a:bodyPr wrap="square" lIns="0" rIns="0" tIns="0" bIns="0" anchor="t">
            <a:spAutoFit/>
          </a:bodyPr>
          <a:lstStyle/>
          <a:p>
            <a:pPr algn="l">
              <a:lnSpc>
                <a:spcPct val="100000"/>
              </a:lnSpc>
              <a:spcBef>
                <a:spcPts val="0"/>
              </a:spcBef>
              <a:spcAft>
                <a:spcPts val="0"/>
              </a:spcAft>
            </a:pPr>
            <a:r>
              <a:rPr sz="1350" i="0" b="0">
                <a:solidFill>
                  <a:srgbClr val="4F4B45"/>
                </a:solidFill>
                <a:latin typeface="Cormorant Garamond"/>
              </a:rPr>
              <a:t>Flexible and intimate coverage shaped around the two of you, your ceremony and the atmosphere of the day.</a:t>
            </a:r>
          </a:p>
        </p:txBody>
      </p:sp>
      <p:sp>
        <p:nvSpPr>
          <p:cNvPr id="17" name="Rectangle 16"/>
          <p:cNvSpPr/>
          <p:nvPr/>
        </p:nvSpPr>
        <p:spPr>
          <a:xfrm>
            <a:off x="685800" y="4846320"/>
            <a:ext cx="10820095" cy="6400"/>
          </a:xfrm>
          <a:prstGeom prst="rect">
            <a:avLst/>
          </a:prstGeom>
          <a:solidFill>
            <a:srgbClr val="D9D4CB"/>
          </a:solidFill>
          <a:ln>
            <a:noFill/>
          </a:ln>
          <a:effectLst/>
          <a:effectLst/>
        </p:spPr>
        <p:txBody>
          <a:bodyPr rtlCol="0" anchor="ctr"/>
          <a:lstStyle/>
          <a:p>
            <a:pPr algn="ctr"/>
          </a:p>
        </p:txBody>
      </p:sp>
      <p:sp>
        <p:nvSpPr>
          <p:cNvPr id="18" name="TextBox 17"/>
          <p:cNvSpPr txBox="1"/>
          <p:nvPr/>
        </p:nvSpPr>
        <p:spPr>
          <a:xfrm>
            <a:off x="685800" y="5029200"/>
            <a:ext cx="10820095" cy="228600"/>
          </a:xfrm>
          <a:prstGeom prst="rect">
            <a:avLst/>
          </a:prstGeom>
          <a:noFill/>
        </p:spPr>
        <p:txBody>
          <a:bodyPr wrap="square" lIns="0" rIns="0" tIns="0" bIns="0" anchor="t">
            <a:spAutoFit/>
          </a:bodyPr>
          <a:lstStyle/>
          <a:p>
            <a:pPr algn="ctr">
              <a:spcBef>
                <a:spcPts val="0"/>
              </a:spcBef>
              <a:spcAft>
                <a:spcPts val="0"/>
              </a:spcAft>
            </a:pPr>
            <a:r>
              <a:rPr sz="850" i="0" b="1" spc="238">
                <a:solidFill>
                  <a:srgbClr val="191816"/>
                </a:solidFill>
                <a:latin typeface="Cormorant Garamond"/>
              </a:rPr>
              <a:t>EVERY COLLECTION INCLUDES</a:t>
            </a:r>
          </a:p>
        </p:txBody>
      </p:sp>
      <p:sp>
        <p:nvSpPr>
          <p:cNvPr id="19" name="TextBox 18"/>
          <p:cNvSpPr txBox="1"/>
          <p:nvPr/>
        </p:nvSpPr>
        <p:spPr>
          <a:xfrm>
            <a:off x="685800" y="5303520"/>
            <a:ext cx="10820095" cy="274320"/>
          </a:xfrm>
          <a:prstGeom prst="rect">
            <a:avLst/>
          </a:prstGeom>
          <a:noFill/>
        </p:spPr>
        <p:txBody>
          <a:bodyPr wrap="square" lIns="0" rIns="0" tIns="0" bIns="0" anchor="t">
            <a:spAutoFit/>
          </a:bodyPr>
          <a:lstStyle/>
          <a:p>
            <a:pPr algn="ctr">
              <a:lnSpc>
                <a:spcPct val="104000"/>
              </a:lnSpc>
              <a:spcBef>
                <a:spcPts val="0"/>
              </a:spcBef>
              <a:spcAft>
                <a:spcPts val="0"/>
              </a:spcAft>
            </a:pPr>
            <a:r>
              <a:rPr sz="1300" i="0" b="0">
                <a:solidFill>
                  <a:srgbClr val="191816"/>
                </a:solidFill>
                <a:latin typeface="Cormorant Garamond"/>
              </a:rPr>
              <a:t>Private online gallery     |     High-resolution individually edited images     |     Printing rights     |     Travel within Switzerland</a:t>
            </a:r>
          </a:p>
        </p:txBody>
      </p:sp>
      <p:sp>
        <p:nvSpPr>
          <p:cNvPr id="20" name="Rectangle 19"/>
          <p:cNvSpPr/>
          <p:nvPr/>
        </p:nvSpPr>
        <p:spPr>
          <a:xfrm>
            <a:off x="685800" y="5742431"/>
            <a:ext cx="10820095" cy="6400"/>
          </a:xfrm>
          <a:prstGeom prst="rect">
            <a:avLst/>
          </a:prstGeom>
          <a:solidFill>
            <a:srgbClr val="D9D4CB"/>
          </a:solidFill>
          <a:ln>
            <a:noFill/>
          </a:ln>
          <a:effectLst/>
          <a:effectLst/>
        </p:spPr>
        <p:txBody>
          <a:bodyPr rtlCol="0" anchor="ctr"/>
          <a:lstStyle/>
          <a:p>
            <a:pPr algn="ctr"/>
          </a:p>
        </p:txBody>
      </p:sp>
      <p:sp>
        <p:nvSpPr>
          <p:cNvPr id="21" name="Rectangle 20"/>
          <p:cNvSpPr/>
          <p:nvPr/>
        </p:nvSpPr>
        <p:spPr>
          <a:xfrm>
            <a:off x="685800" y="5989320"/>
            <a:ext cx="10820095" cy="502920"/>
          </a:xfrm>
          <a:prstGeom prst="rect">
            <a:avLst/>
          </a:prstGeom>
          <a:solidFill>
            <a:srgbClr val="191816"/>
          </a:solidFill>
          <a:ln>
            <a:noFill/>
          </a:ln>
          <a:effectLst/>
          <a:effectLst/>
        </p:spPr>
        <p:txBody>
          <a:bodyPr rtlCol="0" anchor="ctr"/>
          <a:lstStyle/>
          <a:p>
            <a:pPr algn="ctr"/>
          </a:p>
        </p:txBody>
      </p:sp>
      <p:sp>
        <p:nvSpPr>
          <p:cNvPr id="22" name="TextBox 21"/>
          <p:cNvSpPr txBox="1"/>
          <p:nvPr/>
        </p:nvSpPr>
        <p:spPr>
          <a:xfrm>
            <a:off x="978408" y="5989320"/>
            <a:ext cx="3657600" cy="502920"/>
          </a:xfrm>
          <a:prstGeom prst="rect">
            <a:avLst/>
          </a:prstGeom>
          <a:noFill/>
        </p:spPr>
        <p:txBody>
          <a:bodyPr wrap="square" lIns="0" rIns="0" tIns="0" bIns="0" anchor="ctr">
            <a:spAutoFit/>
          </a:bodyPr>
          <a:lstStyle/>
          <a:p>
            <a:pPr algn="l">
              <a:spcBef>
                <a:spcPts val="0"/>
              </a:spcBef>
              <a:spcAft>
                <a:spcPts val="0"/>
              </a:spcAft>
            </a:pPr>
            <a:r>
              <a:rPr sz="850" i="0" b="1" spc="238">
                <a:solidFill>
                  <a:srgbClr val="FAF9F6"/>
                </a:solidFill>
                <a:latin typeface="Cormorant Garamond"/>
              </a:rPr>
              <a:t>ADDITIONAL HOUR</a:t>
            </a:r>
          </a:p>
        </p:txBody>
      </p:sp>
      <p:sp>
        <p:nvSpPr>
          <p:cNvPr id="23" name="TextBox 22"/>
          <p:cNvSpPr txBox="1"/>
          <p:nvPr/>
        </p:nvSpPr>
        <p:spPr>
          <a:xfrm>
            <a:off x="8470087" y="5989320"/>
            <a:ext cx="2743200" cy="502920"/>
          </a:xfrm>
          <a:prstGeom prst="rect">
            <a:avLst/>
          </a:prstGeom>
          <a:noFill/>
        </p:spPr>
        <p:txBody>
          <a:bodyPr wrap="square" lIns="0" rIns="0" tIns="0" bIns="0" anchor="ctr">
            <a:spAutoFit/>
          </a:bodyPr>
          <a:lstStyle/>
          <a:p>
            <a:pPr algn="r">
              <a:spcBef>
                <a:spcPts val="0"/>
              </a:spcBef>
              <a:spcAft>
                <a:spcPts val="0"/>
              </a:spcAft>
            </a:pPr>
            <a:r>
              <a:rPr sz="1700" i="0" b="0">
                <a:solidFill>
                  <a:srgbClr val="FAF9F6"/>
                </a:solidFill>
                <a:latin typeface="Cormorant Garamond"/>
              </a:rPr>
              <a:t>CHF 350.- / h</a:t>
            </a:r>
          </a:p>
        </p:txBody>
      </p:sp>
      <p:sp>
        <p:nvSpPr>
          <p:cNvPr id="24" name="TextBox 23"/>
          <p:cNvSpPr txBox="1"/>
          <p:nvPr/>
        </p:nvSpPr>
        <p:spPr>
          <a:xfrm>
            <a:off x="11185855" y="6510528"/>
            <a:ext cx="548640" cy="182880"/>
          </a:xfrm>
          <a:prstGeom prst="rect">
            <a:avLst/>
          </a:prstGeom>
          <a:noFill/>
        </p:spPr>
        <p:txBody>
          <a:bodyPr wrap="square" lIns="0" rIns="0" tIns="0" bIns="0" anchor="t">
            <a:spAutoFit/>
          </a:bodyPr>
          <a:lstStyle/>
          <a:p>
            <a:pPr algn="r">
              <a:spcBef>
                <a:spcPts val="0"/>
              </a:spcBef>
              <a:spcAft>
                <a:spcPts val="0"/>
              </a:spcAft>
            </a:pPr>
            <a:r>
              <a:rPr sz="800" i="0" b="1" spc="96">
                <a:solidFill>
                  <a:srgbClr val="6D6862"/>
                </a:solidFill>
                <a:latin typeface="Cormorant Garamond"/>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pic>
        <p:nvPicPr>
          <p:cNvPr id="2" name="Picture 1" descr="image3.png"/>
          <p:cNvPicPr>
            <a:picLocks noChangeAspect="1"/>
          </p:cNvPicPr>
          <p:nvPr/>
        </p:nvPicPr>
        <p:blipFill>
          <a:blip r:embed="rId2"/>
          <a:srcRect l="25107" r="25107"/>
          <a:stretch>
            <a:fillRect/>
          </a:stretch>
        </p:blipFill>
        <p:spPr>
          <a:xfrm>
            <a:off x="457200" y="457200"/>
            <a:ext cx="5257800" cy="5943600"/>
          </a:xfrm>
          <a:prstGeom prst="rect">
            <a:avLst/>
          </a:prstGeom>
        </p:spPr>
      </p:pic>
      <p:sp>
        <p:nvSpPr>
          <p:cNvPr id="3" name="TextBox 2"/>
          <p:cNvSpPr txBox="1"/>
          <p:nvPr/>
        </p:nvSpPr>
        <p:spPr>
          <a:xfrm>
            <a:off x="6507327" y="411480"/>
            <a:ext cx="5257800" cy="1097280"/>
          </a:xfrm>
          <a:prstGeom prst="rect">
            <a:avLst/>
          </a:prstGeom>
          <a:noFill/>
        </p:spPr>
        <p:txBody>
          <a:bodyPr wrap="square" lIns="0" rIns="0" tIns="0" bIns="0" anchor="b">
            <a:spAutoFit/>
          </a:bodyPr>
          <a:lstStyle/>
          <a:p>
            <a:pPr algn="l">
              <a:lnSpc>
                <a:spcPct val="95000"/>
              </a:lnSpc>
              <a:spcBef>
                <a:spcPts val="0"/>
              </a:spcBef>
              <a:spcAft>
                <a:spcPts val="0"/>
              </a:spcAft>
            </a:pPr>
            <a:r>
              <a:rPr sz="3000" i="0" b="0" spc="179">
                <a:solidFill>
                  <a:srgbClr val="191816"/>
                </a:solidFill>
                <a:latin typeface="Cormorant Garamond"/>
              </a:rPr>
              <a:t>YOUR DAY</a:t>
            </a:r>
          </a:p>
        </p:txBody>
      </p:sp>
      <p:sp>
        <p:nvSpPr>
          <p:cNvPr id="4" name="Rectangle 3"/>
          <p:cNvSpPr/>
          <p:nvPr/>
        </p:nvSpPr>
        <p:spPr>
          <a:xfrm>
            <a:off x="6507327" y="1673351"/>
            <a:ext cx="502920" cy="6400"/>
          </a:xfrm>
          <a:prstGeom prst="rect">
            <a:avLst/>
          </a:prstGeom>
          <a:solidFill>
            <a:srgbClr val="191816"/>
          </a:solidFill>
          <a:ln>
            <a:noFill/>
          </a:ln>
          <a:effectLst/>
          <a:effectLst/>
        </p:spPr>
        <p:txBody>
          <a:bodyPr rtlCol="0" anchor="ctr"/>
          <a:lstStyle/>
          <a:p>
            <a:pPr algn="ctr"/>
          </a:p>
        </p:txBody>
      </p:sp>
      <p:sp>
        <p:nvSpPr>
          <p:cNvPr id="5" name="TextBox 4"/>
          <p:cNvSpPr txBox="1"/>
          <p:nvPr/>
        </p:nvSpPr>
        <p:spPr>
          <a:xfrm>
            <a:off x="6507327" y="2020824"/>
            <a:ext cx="4434840" cy="3566160"/>
          </a:xfrm>
          <a:prstGeom prst="rect">
            <a:avLst/>
          </a:prstGeom>
          <a:noFill/>
        </p:spPr>
        <p:txBody>
          <a:bodyPr wrap="square" lIns="0" rIns="0" tIns="0" bIns="0" anchor="t">
            <a:spAutoFit/>
          </a:bodyPr>
          <a:lstStyle/>
          <a:p>
            <a:pPr algn="l">
              <a:lnSpc>
                <a:spcPct val="100000"/>
              </a:lnSpc>
              <a:spcBef>
                <a:spcPts val="0"/>
              </a:spcBef>
              <a:spcAft>
                <a:spcPts val="800"/>
              </a:spcAft>
            </a:pPr>
            <a:r>
              <a:rPr sz="1500" i="1" b="0">
                <a:solidFill>
                  <a:srgbClr val="191816"/>
                </a:solidFill>
                <a:latin typeface="Cormorant Garamond"/>
              </a:rPr>
              <a:t>Every celebration has its own rhythm. </a:t>
            </a:r>
          </a:p>
          <a:p>
            <a:pPr algn="l">
              <a:lnSpc>
                <a:spcPct val="104000"/>
              </a:lnSpc>
              <a:spcBef>
                <a:spcPts val="0"/>
              </a:spcBef>
              <a:spcAft>
                <a:spcPts val="700"/>
              </a:spcAft>
            </a:pPr>
            <a:r>
              <a:rPr sz="1300" i="0" b="0">
                <a:solidFill>
                  <a:srgbClr val="4F4B45"/>
                </a:solidFill>
                <a:latin typeface="Cormorant Garamond"/>
              </a:rPr>
              <a:t>Getting to know you beforehand allows me to understand what matters most – the people, the energy, your priorities and the way you want the day to unfold.</a:t>
            </a:r>
          </a:p>
          <a:p>
            <a:pPr algn="l">
              <a:lnSpc>
                <a:spcPct val="104000"/>
              </a:lnSpc>
              <a:spcBef>
                <a:spcPts val="0"/>
              </a:spcBef>
              <a:spcAft>
                <a:spcPts val="700"/>
              </a:spcAft>
            </a:pPr>
            <a:r>
              <a:rPr sz="1300" i="0" b="0">
                <a:solidFill>
                  <a:srgbClr val="4F4B45"/>
                </a:solidFill>
                <a:latin typeface="Cormorant Garamond"/>
              </a:rPr>
              <a:t>When your wedding arrives, I photograph with a calm, observant presence – attentive to the moments everyone sees, but equally to those unfolding quietly around them: nervous hands, a glance across the room, a familiar embrace, laughter between friends.</a:t>
            </a:r>
          </a:p>
          <a:p>
            <a:pPr algn="l">
              <a:lnSpc>
                <a:spcPct val="104000"/>
              </a:lnSpc>
              <a:spcBef>
                <a:spcPts val="0"/>
              </a:spcBef>
              <a:spcAft>
                <a:spcPts val="700"/>
              </a:spcAft>
            </a:pPr>
            <a:r>
              <a:rPr sz="1300" i="0" b="0">
                <a:solidFill>
                  <a:srgbClr val="4F4B45"/>
                </a:solidFill>
                <a:latin typeface="Cormorant Garamond"/>
              </a:rPr>
              <a:t>When guidance is needed, I’ll gently step in. The rest of the time, I want you to forget about the camera, stay close to the people you love and live the day fully. </a:t>
            </a:r>
          </a:p>
          <a:p>
            <a:pPr algn="l">
              <a:lnSpc>
                <a:spcPct val="104000"/>
              </a:lnSpc>
              <a:spcBef>
                <a:spcPts val="0"/>
              </a:spcBef>
              <a:spcAft>
                <a:spcPts val="700"/>
              </a:spcAft>
            </a:pPr>
            <a:r>
              <a:rPr sz="1300" i="0" b="0">
                <a:solidFill>
                  <a:srgbClr val="4F4B45"/>
                </a:solidFill>
                <a:latin typeface="Cormorant Garamond"/>
              </a:rPr>
              <a:t>There is intention behind the scenes, with space for everything spontaneous in between.</a:t>
            </a:r>
          </a:p>
        </p:txBody>
      </p:sp>
      <p:sp>
        <p:nvSpPr>
          <p:cNvPr id="6" name="Rectangle 5"/>
          <p:cNvSpPr/>
          <p:nvPr/>
        </p:nvSpPr>
        <p:spPr>
          <a:xfrm>
            <a:off x="6507327" y="5257800"/>
            <a:ext cx="4434840" cy="6400"/>
          </a:xfrm>
          <a:prstGeom prst="rect">
            <a:avLst/>
          </a:prstGeom>
          <a:solidFill>
            <a:srgbClr val="D9D4CB"/>
          </a:solidFill>
          <a:ln>
            <a:noFill/>
          </a:ln>
          <a:effectLst/>
          <a:effectLst/>
        </p:spPr>
        <p:txBody>
          <a:bodyPr rtlCol="0" anchor="ctr"/>
          <a:lstStyle/>
          <a:p>
            <a:pPr algn="ctr"/>
          </a:p>
        </p:txBody>
      </p:sp>
      <p:sp>
        <p:nvSpPr>
          <p:cNvPr id="7" name="TextBox 6"/>
          <p:cNvSpPr txBox="1"/>
          <p:nvPr/>
        </p:nvSpPr>
        <p:spPr>
          <a:xfrm>
            <a:off x="6507327" y="5440680"/>
            <a:ext cx="4434840" cy="548640"/>
          </a:xfrm>
          <a:prstGeom prst="rect">
            <a:avLst/>
          </a:prstGeom>
          <a:noFill/>
        </p:spPr>
        <p:txBody>
          <a:bodyPr wrap="square" lIns="0" rIns="0" tIns="0" bIns="0" anchor="t">
            <a:spAutoFit/>
          </a:bodyPr>
          <a:lstStyle/>
          <a:p>
            <a:pPr algn="l">
              <a:lnSpc>
                <a:spcPct val="100000"/>
              </a:lnSpc>
              <a:spcBef>
                <a:spcPts val="0"/>
              </a:spcBef>
              <a:spcAft>
                <a:spcPts val="0"/>
              </a:spcAft>
            </a:pPr>
            <a:r>
              <a:rPr sz="1900" i="1" b="0">
                <a:solidFill>
                  <a:srgbClr val="191816"/>
                </a:solidFill>
                <a:latin typeface="Cormorant Garamond"/>
              </a:rPr>
              <a:t>Be fully in it. I'll take care of remembering it.</a:t>
            </a:r>
          </a:p>
        </p:txBody>
      </p:sp>
      <p:sp>
        <p:nvSpPr>
          <p:cNvPr id="8" name="TextBox 7"/>
          <p:cNvSpPr txBox="1"/>
          <p:nvPr/>
        </p:nvSpPr>
        <p:spPr>
          <a:xfrm>
            <a:off x="11185855" y="6510528"/>
            <a:ext cx="548640" cy="182880"/>
          </a:xfrm>
          <a:prstGeom prst="rect">
            <a:avLst/>
          </a:prstGeom>
          <a:noFill/>
        </p:spPr>
        <p:txBody>
          <a:bodyPr wrap="square" lIns="0" rIns="0" tIns="0" bIns="0" anchor="t">
            <a:spAutoFit/>
          </a:bodyPr>
          <a:lstStyle/>
          <a:p>
            <a:pPr algn="r">
              <a:spcBef>
                <a:spcPts val="0"/>
              </a:spcBef>
              <a:spcAft>
                <a:spcPts val="0"/>
              </a:spcAft>
            </a:pPr>
            <a:r>
              <a:rPr sz="800" i="0" b="1" spc="96">
                <a:solidFill>
                  <a:srgbClr val="6D6862"/>
                </a:solidFill>
                <a:latin typeface="Cormorant Garamond"/>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pic>
        <p:nvPicPr>
          <p:cNvPr id="2" name="Picture 1" descr="image6.png"/>
          <p:cNvPicPr>
            <a:picLocks noChangeAspect="1"/>
          </p:cNvPicPr>
          <p:nvPr/>
        </p:nvPicPr>
        <p:blipFill>
          <a:blip r:embed="rId2"/>
          <a:srcRect l="10595" r="39618"/>
          <a:stretch>
            <a:fillRect/>
          </a:stretch>
        </p:blipFill>
        <p:spPr>
          <a:xfrm>
            <a:off x="6476695" y="457200"/>
            <a:ext cx="5257800" cy="5943600"/>
          </a:xfrm>
          <a:prstGeom prst="rect">
            <a:avLst/>
          </a:prstGeom>
        </p:spPr>
      </p:pic>
      <p:sp>
        <p:nvSpPr>
          <p:cNvPr id="3" name="TextBox 2"/>
          <p:cNvSpPr txBox="1"/>
          <p:nvPr/>
        </p:nvSpPr>
        <p:spPr>
          <a:xfrm>
            <a:off x="685800" y="411480"/>
            <a:ext cx="5379415" cy="1097280"/>
          </a:xfrm>
          <a:prstGeom prst="rect">
            <a:avLst/>
          </a:prstGeom>
          <a:noFill/>
        </p:spPr>
        <p:txBody>
          <a:bodyPr wrap="square" lIns="0" rIns="0" tIns="0" bIns="0" anchor="b">
            <a:spAutoFit/>
          </a:bodyPr>
          <a:lstStyle/>
          <a:p>
            <a:pPr algn="l">
              <a:lnSpc>
                <a:spcPct val="95000"/>
              </a:lnSpc>
              <a:spcBef>
                <a:spcPts val="0"/>
              </a:spcBef>
              <a:spcAft>
                <a:spcPts val="0"/>
              </a:spcAft>
            </a:pPr>
            <a:r>
              <a:rPr sz="3000" i="0" b="0" spc="179">
                <a:solidFill>
                  <a:srgbClr val="191816"/>
                </a:solidFill>
                <a:latin typeface="Cormorant Garamond"/>
              </a:rPr>
              <a:t>WHAT FOLLOWS</a:t>
            </a:r>
          </a:p>
        </p:txBody>
      </p:sp>
      <p:sp>
        <p:nvSpPr>
          <p:cNvPr id="4" name="Rectangle 3"/>
          <p:cNvSpPr/>
          <p:nvPr/>
        </p:nvSpPr>
        <p:spPr>
          <a:xfrm>
            <a:off x="685800" y="1673351"/>
            <a:ext cx="502920" cy="6400"/>
          </a:xfrm>
          <a:prstGeom prst="rect">
            <a:avLst/>
          </a:prstGeom>
          <a:solidFill>
            <a:srgbClr val="191816"/>
          </a:solidFill>
          <a:ln>
            <a:noFill/>
          </a:ln>
          <a:effectLst/>
          <a:effectLst/>
        </p:spPr>
        <p:txBody>
          <a:bodyPr rtlCol="0" anchor="ctr"/>
          <a:lstStyle/>
          <a:p>
            <a:pPr algn="ctr"/>
          </a:p>
        </p:txBody>
      </p:sp>
      <p:sp>
        <p:nvSpPr>
          <p:cNvPr id="5" name="TextBox 4"/>
          <p:cNvSpPr txBox="1"/>
          <p:nvPr/>
        </p:nvSpPr>
        <p:spPr>
          <a:xfrm>
            <a:off x="685800" y="1975104"/>
            <a:ext cx="2529687" cy="228600"/>
          </a:xfrm>
          <a:prstGeom prst="rect">
            <a:avLst/>
          </a:prstGeom>
          <a:noFill/>
        </p:spPr>
        <p:txBody>
          <a:bodyPr wrap="square" lIns="0" rIns="0" tIns="0" bIns="0" anchor="t">
            <a:spAutoFit/>
          </a:bodyPr>
          <a:lstStyle/>
          <a:p>
            <a:pPr algn="l">
              <a:spcBef>
                <a:spcPts val="0"/>
              </a:spcBef>
              <a:spcAft>
                <a:spcPts val="0"/>
              </a:spcAft>
            </a:pPr>
            <a:r>
              <a:rPr sz="850" i="0" b="1" spc="238">
                <a:solidFill>
                  <a:srgbClr val="191816"/>
                </a:solidFill>
                <a:latin typeface="Cormorant Garamond"/>
              </a:rPr>
              <a:t>01 - CONNECT</a:t>
            </a:r>
          </a:p>
        </p:txBody>
      </p:sp>
      <p:sp>
        <p:nvSpPr>
          <p:cNvPr id="6" name="Rectangle 5"/>
          <p:cNvSpPr/>
          <p:nvPr/>
        </p:nvSpPr>
        <p:spPr>
          <a:xfrm>
            <a:off x="685800" y="2267712"/>
            <a:ext cx="2529687" cy="6400"/>
          </a:xfrm>
          <a:prstGeom prst="rect">
            <a:avLst/>
          </a:prstGeom>
          <a:solidFill>
            <a:srgbClr val="D9D4CB"/>
          </a:solidFill>
          <a:ln>
            <a:noFill/>
          </a:ln>
          <a:effectLst/>
          <a:effectLst/>
        </p:spPr>
        <p:txBody>
          <a:bodyPr rtlCol="0" anchor="ctr"/>
          <a:lstStyle/>
          <a:p>
            <a:pPr algn="ctr"/>
          </a:p>
        </p:txBody>
      </p:sp>
      <p:sp>
        <p:nvSpPr>
          <p:cNvPr id="7" name="TextBox 6"/>
          <p:cNvSpPr txBox="1"/>
          <p:nvPr/>
        </p:nvSpPr>
        <p:spPr>
          <a:xfrm>
            <a:off x="685800" y="2386584"/>
            <a:ext cx="2529687" cy="1828800"/>
          </a:xfrm>
          <a:prstGeom prst="rect">
            <a:avLst/>
          </a:prstGeom>
          <a:noFill/>
        </p:spPr>
        <p:txBody>
          <a:bodyPr wrap="square" lIns="0" rIns="0" tIns="0" bIns="0" anchor="t">
            <a:spAutoFit/>
          </a:bodyPr>
          <a:lstStyle/>
          <a:p>
            <a:pPr algn="l">
              <a:lnSpc>
                <a:spcPct val="100000"/>
              </a:lnSpc>
              <a:spcBef>
                <a:spcPts val="0"/>
              </a:spcBef>
              <a:spcAft>
                <a:spcPts val="500"/>
              </a:spcAft>
            </a:pPr>
            <a:r>
              <a:rPr sz="1250" i="0" b="0">
                <a:solidFill>
                  <a:srgbClr val="4F4B45"/>
                </a:solidFill>
                <a:latin typeface="Cormorant Garamond"/>
              </a:rPr>
              <a:t>Choose the collection that feels right for your celebration and let’s connect – in person or over a call – to talk through your plans, your vision and what matters most to you.</a:t>
            </a:r>
          </a:p>
          <a:p>
            <a:pPr algn="l">
              <a:lnSpc>
                <a:spcPct val="100000"/>
              </a:lnSpc>
              <a:spcBef>
                <a:spcPts val="0"/>
              </a:spcBef>
              <a:spcAft>
                <a:spcPts val="500"/>
              </a:spcAft>
            </a:pPr>
            <a:r>
              <a:rPr sz="1250" i="0" b="0">
                <a:solidFill>
                  <a:srgbClr val="4F4B45"/>
                </a:solidFill>
                <a:latin typeface="Cormorant Garamond"/>
              </a:rPr>
              <a:t>If it feels like the right fit, your date is officially reserved once the agreement is signed and the retainer is received.</a:t>
            </a:r>
          </a:p>
        </p:txBody>
      </p:sp>
      <p:sp>
        <p:nvSpPr>
          <p:cNvPr id="8" name="TextBox 7"/>
          <p:cNvSpPr txBox="1"/>
          <p:nvPr/>
        </p:nvSpPr>
        <p:spPr>
          <a:xfrm>
            <a:off x="3535527" y="1975104"/>
            <a:ext cx="2529687" cy="228600"/>
          </a:xfrm>
          <a:prstGeom prst="rect">
            <a:avLst/>
          </a:prstGeom>
          <a:noFill/>
        </p:spPr>
        <p:txBody>
          <a:bodyPr wrap="square" lIns="0" rIns="0" tIns="0" bIns="0" anchor="t">
            <a:spAutoFit/>
          </a:bodyPr>
          <a:lstStyle/>
          <a:p>
            <a:pPr algn="l">
              <a:spcBef>
                <a:spcPts val="0"/>
              </a:spcBef>
              <a:spcAft>
                <a:spcPts val="0"/>
              </a:spcAft>
            </a:pPr>
            <a:r>
              <a:rPr sz="850" i="0" b="1" spc="238">
                <a:solidFill>
                  <a:srgbClr val="191816"/>
                </a:solidFill>
                <a:latin typeface="Cormorant Garamond"/>
              </a:rPr>
              <a:t>02 - PREPARE</a:t>
            </a:r>
          </a:p>
        </p:txBody>
      </p:sp>
      <p:sp>
        <p:nvSpPr>
          <p:cNvPr id="9" name="Rectangle 8"/>
          <p:cNvSpPr/>
          <p:nvPr/>
        </p:nvSpPr>
        <p:spPr>
          <a:xfrm>
            <a:off x="3535527" y="2267712"/>
            <a:ext cx="2529687" cy="6400"/>
          </a:xfrm>
          <a:prstGeom prst="rect">
            <a:avLst/>
          </a:prstGeom>
          <a:solidFill>
            <a:srgbClr val="D9D4CB"/>
          </a:solidFill>
          <a:ln>
            <a:noFill/>
          </a:ln>
          <a:effectLst/>
          <a:effectLst/>
        </p:spPr>
        <p:txBody>
          <a:bodyPr rtlCol="0" anchor="ctr"/>
          <a:lstStyle/>
          <a:p>
            <a:pPr algn="ctr"/>
          </a:p>
        </p:txBody>
      </p:sp>
      <p:sp>
        <p:nvSpPr>
          <p:cNvPr id="10" name="TextBox 9"/>
          <p:cNvSpPr txBox="1"/>
          <p:nvPr/>
        </p:nvSpPr>
        <p:spPr>
          <a:xfrm>
            <a:off x="3535527" y="2386584"/>
            <a:ext cx="2529687" cy="1828800"/>
          </a:xfrm>
          <a:prstGeom prst="rect">
            <a:avLst/>
          </a:prstGeom>
          <a:noFill/>
        </p:spPr>
        <p:txBody>
          <a:bodyPr wrap="square" lIns="0" rIns="0" tIns="0" bIns="0" anchor="t">
            <a:spAutoFit/>
          </a:bodyPr>
          <a:lstStyle/>
          <a:p>
            <a:pPr algn="l">
              <a:lnSpc>
                <a:spcPct val="100000"/>
              </a:lnSpc>
              <a:spcBef>
                <a:spcPts val="0"/>
              </a:spcBef>
              <a:spcAft>
                <a:spcPts val="500"/>
              </a:spcAft>
            </a:pPr>
            <a:r>
              <a:rPr sz="1250" i="0" b="0">
                <a:solidFill>
                  <a:srgbClr val="4F4B45"/>
                </a:solidFill>
                <a:latin typeface="Cormorant Garamond"/>
              </a:rPr>
              <a:t>Around one month before your wedding, we’ll refine the timeline together, go through your photography priorities and review the details that matter most. </a:t>
            </a:r>
          </a:p>
          <a:p>
            <a:pPr algn="l">
              <a:lnSpc>
                <a:spcPct val="100000"/>
              </a:lnSpc>
              <a:spcBef>
                <a:spcPts val="0"/>
              </a:spcBef>
              <a:spcAft>
                <a:spcPts val="500"/>
              </a:spcAft>
            </a:pPr>
            <a:r>
              <a:rPr sz="1250" i="0" b="0">
                <a:solidFill>
                  <a:srgbClr val="4F4B45"/>
                </a:solidFill>
                <a:latin typeface="Cormorant Garamond"/>
              </a:rPr>
              <a:t>A final check-in shortly before the day allows us to confirm everything, make any last adjustments and ensure you feel fully prepared.</a:t>
            </a:r>
          </a:p>
        </p:txBody>
      </p:sp>
      <p:sp>
        <p:nvSpPr>
          <p:cNvPr id="11" name="TextBox 10"/>
          <p:cNvSpPr txBox="1"/>
          <p:nvPr/>
        </p:nvSpPr>
        <p:spPr>
          <a:xfrm>
            <a:off x="685800" y="4398264"/>
            <a:ext cx="2529687" cy="228600"/>
          </a:xfrm>
          <a:prstGeom prst="rect">
            <a:avLst/>
          </a:prstGeom>
          <a:noFill/>
        </p:spPr>
        <p:txBody>
          <a:bodyPr wrap="square" lIns="0" rIns="0" tIns="0" bIns="0" anchor="t">
            <a:spAutoFit/>
          </a:bodyPr>
          <a:lstStyle/>
          <a:p>
            <a:pPr algn="l">
              <a:spcBef>
                <a:spcPts val="0"/>
              </a:spcBef>
              <a:spcAft>
                <a:spcPts val="0"/>
              </a:spcAft>
            </a:pPr>
            <a:r>
              <a:rPr sz="850" i="0" b="1" spc="238">
                <a:solidFill>
                  <a:srgbClr val="191816"/>
                </a:solidFill>
                <a:latin typeface="Cormorant Garamond"/>
              </a:rPr>
              <a:t>03 - EXPERIENCE</a:t>
            </a:r>
          </a:p>
        </p:txBody>
      </p:sp>
      <p:sp>
        <p:nvSpPr>
          <p:cNvPr id="12" name="Rectangle 11"/>
          <p:cNvSpPr/>
          <p:nvPr/>
        </p:nvSpPr>
        <p:spPr>
          <a:xfrm>
            <a:off x="685800" y="4690872"/>
            <a:ext cx="2529687" cy="6400"/>
          </a:xfrm>
          <a:prstGeom prst="rect">
            <a:avLst/>
          </a:prstGeom>
          <a:solidFill>
            <a:srgbClr val="D9D4CB"/>
          </a:solidFill>
          <a:ln>
            <a:noFill/>
          </a:ln>
          <a:effectLst/>
          <a:effectLst/>
        </p:spPr>
        <p:txBody>
          <a:bodyPr rtlCol="0" anchor="ctr"/>
          <a:lstStyle/>
          <a:p>
            <a:pPr algn="ctr"/>
          </a:p>
        </p:txBody>
      </p:sp>
      <p:sp>
        <p:nvSpPr>
          <p:cNvPr id="13" name="TextBox 12"/>
          <p:cNvSpPr txBox="1"/>
          <p:nvPr/>
        </p:nvSpPr>
        <p:spPr>
          <a:xfrm>
            <a:off x="685800" y="4809744"/>
            <a:ext cx="2529687" cy="1828800"/>
          </a:xfrm>
          <a:prstGeom prst="rect">
            <a:avLst/>
          </a:prstGeom>
          <a:noFill/>
        </p:spPr>
        <p:txBody>
          <a:bodyPr wrap="square" lIns="0" rIns="0" tIns="0" bIns="0" anchor="t">
            <a:spAutoFit/>
          </a:bodyPr>
          <a:lstStyle/>
          <a:p>
            <a:pPr algn="l">
              <a:lnSpc>
                <a:spcPct val="100000"/>
              </a:lnSpc>
              <a:spcBef>
                <a:spcPts val="0"/>
              </a:spcBef>
              <a:spcAft>
                <a:spcPts val="500"/>
              </a:spcAft>
            </a:pPr>
            <a:r>
              <a:rPr sz="1250" i="0" b="0">
                <a:solidFill>
                  <a:srgbClr val="4F4B45"/>
                </a:solidFill>
                <a:latin typeface="Cormorant Garamond"/>
              </a:rPr>
              <a:t>When the day arrives, embrace it fully.</a:t>
            </a:r>
          </a:p>
          <a:p>
            <a:pPr algn="l">
              <a:lnSpc>
                <a:spcPct val="100000"/>
              </a:lnSpc>
              <a:spcBef>
                <a:spcPts val="0"/>
              </a:spcBef>
              <a:spcAft>
                <a:spcPts val="500"/>
              </a:spcAft>
            </a:pPr>
            <a:r>
              <a:rPr sz="1250" i="0" b="0">
                <a:solidFill>
                  <a:srgbClr val="4F4B45"/>
                </a:solidFill>
                <a:latin typeface="Cormorant Garamond"/>
              </a:rPr>
              <a:t>Be present, enjoy every moment and let yourself be carried by the people, emotions and energy around you. I’ll be there to observe, anticipate and gently guide when needed, allowing everything to unfold naturally while you simply enjoy your day.</a:t>
            </a:r>
          </a:p>
        </p:txBody>
      </p:sp>
      <p:sp>
        <p:nvSpPr>
          <p:cNvPr id="14" name="TextBox 13"/>
          <p:cNvSpPr txBox="1"/>
          <p:nvPr/>
        </p:nvSpPr>
        <p:spPr>
          <a:xfrm>
            <a:off x="3535527" y="4398264"/>
            <a:ext cx="2529687" cy="228600"/>
          </a:xfrm>
          <a:prstGeom prst="rect">
            <a:avLst/>
          </a:prstGeom>
          <a:noFill/>
        </p:spPr>
        <p:txBody>
          <a:bodyPr wrap="square" lIns="0" rIns="0" tIns="0" bIns="0" anchor="t">
            <a:spAutoFit/>
          </a:bodyPr>
          <a:lstStyle/>
          <a:p>
            <a:pPr algn="l">
              <a:spcBef>
                <a:spcPts val="0"/>
              </a:spcBef>
              <a:spcAft>
                <a:spcPts val="0"/>
              </a:spcAft>
            </a:pPr>
            <a:r>
              <a:rPr sz="850" i="0" b="1" spc="238">
                <a:solidFill>
                  <a:srgbClr val="191816"/>
                </a:solidFill>
                <a:latin typeface="Cormorant Garamond"/>
              </a:rPr>
              <a:t>04 - RELIVE</a:t>
            </a:r>
          </a:p>
        </p:txBody>
      </p:sp>
      <p:sp>
        <p:nvSpPr>
          <p:cNvPr id="15" name="Rectangle 14"/>
          <p:cNvSpPr/>
          <p:nvPr/>
        </p:nvSpPr>
        <p:spPr>
          <a:xfrm>
            <a:off x="3535527" y="4690872"/>
            <a:ext cx="2529687" cy="6400"/>
          </a:xfrm>
          <a:prstGeom prst="rect">
            <a:avLst/>
          </a:prstGeom>
          <a:solidFill>
            <a:srgbClr val="D9D4CB"/>
          </a:solidFill>
          <a:ln>
            <a:noFill/>
          </a:ln>
          <a:effectLst/>
          <a:effectLst/>
        </p:spPr>
        <p:txBody>
          <a:bodyPr rtlCol="0" anchor="ctr"/>
          <a:lstStyle/>
          <a:p>
            <a:pPr algn="ctr"/>
          </a:p>
        </p:txBody>
      </p:sp>
      <p:sp>
        <p:nvSpPr>
          <p:cNvPr id="16" name="TextBox 15"/>
          <p:cNvSpPr txBox="1"/>
          <p:nvPr/>
        </p:nvSpPr>
        <p:spPr>
          <a:xfrm>
            <a:off x="3535527" y="4809744"/>
            <a:ext cx="2529687" cy="1828800"/>
          </a:xfrm>
          <a:prstGeom prst="rect">
            <a:avLst/>
          </a:prstGeom>
          <a:noFill/>
        </p:spPr>
        <p:txBody>
          <a:bodyPr wrap="square" lIns="0" rIns="0" tIns="0" bIns="0" anchor="t">
            <a:spAutoFit/>
          </a:bodyPr>
          <a:lstStyle/>
          <a:p>
            <a:pPr algn="l">
              <a:lnSpc>
                <a:spcPct val="100000"/>
              </a:lnSpc>
              <a:spcBef>
                <a:spcPts val="0"/>
              </a:spcBef>
              <a:spcAft>
                <a:spcPts val="500"/>
              </a:spcAft>
            </a:pPr>
            <a:r>
              <a:rPr sz="1250" i="0" b="0">
                <a:solidFill>
                  <a:srgbClr val="4F4B45"/>
                </a:solidFill>
                <a:latin typeface="Cormorant Garamond"/>
              </a:rPr>
              <a:t>After your wedding, each photograph is carefully selected and individually edited in line with my signature approach – natural, refined and true to the feeling of the day.</a:t>
            </a:r>
          </a:p>
          <a:p>
            <a:pPr algn="l">
              <a:lnSpc>
                <a:spcPct val="100000"/>
              </a:lnSpc>
              <a:spcBef>
                <a:spcPts val="0"/>
              </a:spcBef>
              <a:spcAft>
                <a:spcPts val="500"/>
              </a:spcAft>
            </a:pPr>
            <a:r>
              <a:rPr sz="1250" i="0" b="0">
                <a:solidFill>
                  <a:srgbClr val="4F4B45"/>
                </a:solidFill>
                <a:latin typeface="Cormorant Garamond"/>
              </a:rPr>
              <a:t>Your complete gallery will be delivered through a private online gallery within five weeks, ready to be revisited, shared and relived for years to come.</a:t>
            </a:r>
          </a:p>
        </p:txBody>
      </p:sp>
      <p:sp>
        <p:nvSpPr>
          <p:cNvPr id="17" name="TextBox 16"/>
          <p:cNvSpPr txBox="1"/>
          <p:nvPr/>
        </p:nvSpPr>
        <p:spPr>
          <a:xfrm>
            <a:off x="11185855" y="6510528"/>
            <a:ext cx="548640" cy="182880"/>
          </a:xfrm>
          <a:prstGeom prst="rect">
            <a:avLst/>
          </a:prstGeom>
          <a:noFill/>
        </p:spPr>
        <p:txBody>
          <a:bodyPr wrap="square" lIns="0" rIns="0" tIns="0" bIns="0" anchor="t">
            <a:spAutoFit/>
          </a:bodyPr>
          <a:lstStyle/>
          <a:p>
            <a:pPr algn="r">
              <a:spcBef>
                <a:spcPts val="0"/>
              </a:spcBef>
              <a:spcAft>
                <a:spcPts val="0"/>
              </a:spcAft>
            </a:pPr>
            <a:r>
              <a:rPr sz="800" i="0" b="1" spc="96">
                <a:solidFill>
                  <a:srgbClr val="6D6862"/>
                </a:solidFill>
                <a:latin typeface="Cormorant Garamond"/>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pic>
        <p:nvPicPr>
          <p:cNvPr id="2" name="Picture 1" descr="image3.png"/>
          <p:cNvPicPr>
            <a:picLocks noChangeAspect="1"/>
          </p:cNvPicPr>
          <p:nvPr/>
        </p:nvPicPr>
        <p:blipFill>
          <a:blip r:embed="rId2"/>
          <a:srcRect l="25107" r="25107"/>
          <a:stretch>
            <a:fillRect/>
          </a:stretch>
        </p:blipFill>
        <p:spPr>
          <a:xfrm>
            <a:off x="6476695" y="457200"/>
            <a:ext cx="5257800" cy="5943600"/>
          </a:xfrm>
          <a:prstGeom prst="rect">
            <a:avLst/>
          </a:prstGeom>
        </p:spPr>
      </p:pic>
      <p:sp>
        <p:nvSpPr>
          <p:cNvPr id="3" name="TextBox 2"/>
          <p:cNvSpPr txBox="1"/>
          <p:nvPr/>
        </p:nvSpPr>
        <p:spPr>
          <a:xfrm>
            <a:off x="1249527" y="411480"/>
            <a:ext cx="5257800" cy="1097280"/>
          </a:xfrm>
          <a:prstGeom prst="rect">
            <a:avLst/>
          </a:prstGeom>
          <a:noFill/>
        </p:spPr>
        <p:txBody>
          <a:bodyPr wrap="square" lIns="0" rIns="0" tIns="0" bIns="0" anchor="b">
            <a:spAutoFit/>
          </a:bodyPr>
          <a:lstStyle/>
          <a:p>
            <a:pPr algn="l">
              <a:lnSpc>
                <a:spcPct val="95000"/>
              </a:lnSpc>
              <a:spcBef>
                <a:spcPts val="0"/>
              </a:spcBef>
              <a:spcAft>
                <a:spcPts val="0"/>
              </a:spcAft>
            </a:pPr>
            <a:r>
              <a:rPr sz="3000" i="0" b="0" spc="179">
                <a:solidFill>
                  <a:srgbClr val="191816"/>
                </a:solidFill>
                <a:latin typeface="Cormorant Garamond"/>
              </a:rPr>
              <a:t>A FINAL NOTE</a:t>
            </a:r>
          </a:p>
        </p:txBody>
      </p:sp>
      <p:sp>
        <p:nvSpPr>
          <p:cNvPr id="4" name="Rectangle 3"/>
          <p:cNvSpPr/>
          <p:nvPr/>
        </p:nvSpPr>
        <p:spPr>
          <a:xfrm>
            <a:off x="1249527" y="1673351"/>
            <a:ext cx="502920" cy="6400"/>
          </a:xfrm>
          <a:prstGeom prst="rect">
            <a:avLst/>
          </a:prstGeom>
          <a:solidFill>
            <a:srgbClr val="191816"/>
          </a:solidFill>
          <a:ln>
            <a:noFill/>
          </a:ln>
          <a:effectLst/>
          <a:effectLst/>
        </p:spPr>
        <p:txBody>
          <a:bodyPr rtlCol="0" anchor="ctr"/>
          <a:lstStyle/>
          <a:p>
            <a:pPr algn="ctr"/>
          </a:p>
        </p:txBody>
      </p:sp>
      <p:sp>
        <p:nvSpPr>
          <p:cNvPr id="5" name="TextBox 4"/>
          <p:cNvSpPr txBox="1"/>
          <p:nvPr/>
        </p:nvSpPr>
        <p:spPr>
          <a:xfrm>
            <a:off x="1249527" y="2020824"/>
            <a:ext cx="4434840" cy="4480560"/>
          </a:xfrm>
          <a:prstGeom prst="rect">
            <a:avLst/>
          </a:prstGeom>
          <a:noFill/>
        </p:spPr>
        <p:txBody>
          <a:bodyPr wrap="square" lIns="0" rIns="0" tIns="0" bIns="0" anchor="t">
            <a:spAutoFit/>
          </a:bodyPr>
          <a:lstStyle/>
          <a:p>
            <a:pPr algn="l">
              <a:lnSpc>
                <a:spcPct val="104000"/>
              </a:lnSpc>
              <a:spcBef>
                <a:spcPts val="0"/>
              </a:spcBef>
              <a:spcAft>
                <a:spcPts val="700"/>
              </a:spcAft>
            </a:pPr>
            <a:r>
              <a:rPr sz="1300" i="0" b="0">
                <a:solidFill>
                  <a:srgbClr val="4F4B45"/>
                </a:solidFill>
                <a:latin typeface="Cormorant Garamond"/>
              </a:rPr>
              <a:t>Long after the celebration has passed, photographs become a way back to it.</a:t>
            </a:r>
          </a:p>
          <a:p>
            <a:pPr algn="l">
              <a:lnSpc>
                <a:spcPct val="104000"/>
              </a:lnSpc>
              <a:spcBef>
                <a:spcPts val="0"/>
              </a:spcBef>
              <a:spcAft>
                <a:spcPts val="700"/>
              </a:spcAft>
            </a:pPr>
            <a:r>
              <a:rPr sz="1300" i="0" b="0">
                <a:solidFill>
                  <a:srgbClr val="4F4B45"/>
                </a:solidFill>
                <a:latin typeface="Cormorant Garamond"/>
              </a:rPr>
              <a:t>Not only to how everything looked, but to the people who were there, the atmosphere around you and the moments you may not have noticed as they unfold.</a:t>
            </a:r>
          </a:p>
          <a:p>
            <a:pPr algn="l">
              <a:lnSpc>
                <a:spcPct val="104000"/>
              </a:lnSpc>
              <a:spcBef>
                <a:spcPts val="0"/>
              </a:spcBef>
              <a:spcAft>
                <a:spcPts val="1000"/>
              </a:spcAft>
            </a:pPr>
            <a:r>
              <a:rPr sz="1300" i="0" b="0">
                <a:solidFill>
                  <a:srgbClr val="4F4B45"/>
                </a:solidFill>
                <a:latin typeface="Cormorant Garamond"/>
              </a:rPr>
              <a:t>Sometimes, the photographs that matter most are the quietest ones.</a:t>
            </a:r>
          </a:p>
          <a:p>
            <a:pPr algn="l">
              <a:lnSpc>
                <a:spcPct val="100000"/>
              </a:lnSpc>
              <a:spcBef>
                <a:spcPts val="0"/>
              </a:spcBef>
              <a:spcAft>
                <a:spcPts val="0"/>
              </a:spcAft>
            </a:pPr>
            <a:r>
              <a:rPr sz="1500" i="1" b="0">
                <a:solidFill>
                  <a:srgbClr val="191816"/>
                </a:solidFill>
                <a:latin typeface="Cormorant Garamond"/>
              </a:rPr>
              <a:t>A look.</a:t>
            </a:r>
          </a:p>
          <a:p>
            <a:pPr algn="l">
              <a:lnSpc>
                <a:spcPct val="100000"/>
              </a:lnSpc>
              <a:spcBef>
                <a:spcPts val="0"/>
              </a:spcBef>
              <a:spcAft>
                <a:spcPts val="0"/>
              </a:spcAft>
            </a:pPr>
            <a:r>
              <a:rPr sz="1500" i="1" b="0">
                <a:solidFill>
                  <a:srgbClr val="191816"/>
                </a:solidFill>
                <a:latin typeface="Cormorant Garamond"/>
              </a:rPr>
              <a:t>A hand reaching for another.</a:t>
            </a:r>
          </a:p>
          <a:p>
            <a:pPr algn="l">
              <a:lnSpc>
                <a:spcPct val="100000"/>
              </a:lnSpc>
              <a:spcBef>
                <a:spcPts val="0"/>
              </a:spcBef>
              <a:spcAft>
                <a:spcPts val="0"/>
              </a:spcAft>
            </a:pPr>
            <a:r>
              <a:rPr sz="1500" i="1" b="0">
                <a:solidFill>
                  <a:srgbClr val="191816"/>
                </a:solidFill>
                <a:latin typeface="Cormorant Garamond"/>
              </a:rPr>
              <a:t>Someone you love laughing across the room.</a:t>
            </a:r>
          </a:p>
          <a:p>
            <a:pPr algn="l">
              <a:lnSpc>
                <a:spcPct val="100000"/>
              </a:lnSpc>
              <a:spcBef>
                <a:spcPts val="0"/>
              </a:spcBef>
              <a:spcAft>
                <a:spcPts val="1200"/>
              </a:spcAft>
            </a:pPr>
            <a:r>
              <a:rPr sz="1500" i="1" b="0">
                <a:solidFill>
                  <a:srgbClr val="191816"/>
                </a:solidFill>
                <a:latin typeface="Cormorant Garamond"/>
              </a:rPr>
              <a:t>A moment you never realised I had seen.</a:t>
            </a:r>
          </a:p>
          <a:p>
            <a:pPr algn="l">
              <a:lnSpc>
                <a:spcPct val="104000"/>
              </a:lnSpc>
              <a:spcBef>
                <a:spcPts val="0"/>
              </a:spcBef>
              <a:spcAft>
                <a:spcPts val="700"/>
              </a:spcAft>
            </a:pPr>
            <a:r>
              <a:rPr sz="1300" i="0" b="0">
                <a:solidFill>
                  <a:srgbClr val="4F4B45"/>
                </a:solidFill>
                <a:latin typeface="Cormorant Garamond"/>
              </a:rPr>
              <a:t>Knowing these images may become part of how you remember this chapter years from now is one of the most meaningful parts of what I do.</a:t>
            </a:r>
          </a:p>
        </p:txBody>
      </p:sp>
      <p:sp>
        <p:nvSpPr>
          <p:cNvPr id="6" name="Rectangle 5"/>
          <p:cNvSpPr/>
          <p:nvPr/>
        </p:nvSpPr>
        <p:spPr>
          <a:xfrm>
            <a:off x="1249527" y="5715000"/>
            <a:ext cx="4434840" cy="6400"/>
          </a:xfrm>
          <a:prstGeom prst="rect">
            <a:avLst/>
          </a:prstGeom>
          <a:solidFill>
            <a:srgbClr val="D9D4CB"/>
          </a:solidFill>
          <a:ln>
            <a:noFill/>
          </a:ln>
          <a:effectLst/>
          <a:effectLst/>
        </p:spPr>
        <p:txBody>
          <a:bodyPr rtlCol="0" anchor="ctr"/>
          <a:lstStyle/>
          <a:p>
            <a:pPr algn="ctr"/>
          </a:p>
        </p:txBody>
      </p:sp>
      <p:sp>
        <p:nvSpPr>
          <p:cNvPr id="7" name="TextBox 6"/>
          <p:cNvSpPr txBox="1"/>
          <p:nvPr/>
        </p:nvSpPr>
        <p:spPr>
          <a:xfrm>
            <a:off x="1249527" y="5870448"/>
            <a:ext cx="4434840" cy="365760"/>
          </a:xfrm>
          <a:prstGeom prst="rect">
            <a:avLst/>
          </a:prstGeom>
          <a:noFill/>
        </p:spPr>
        <p:txBody>
          <a:bodyPr wrap="square" lIns="0" rIns="0" tIns="0" bIns="0" anchor="t">
            <a:spAutoFit/>
          </a:bodyPr>
          <a:lstStyle/>
          <a:p>
            <a:pPr algn="l">
              <a:lnSpc>
                <a:spcPct val="100000"/>
              </a:lnSpc>
              <a:spcBef>
                <a:spcPts val="0"/>
              </a:spcBef>
              <a:spcAft>
                <a:spcPts val="0"/>
              </a:spcAft>
            </a:pPr>
            <a:r>
              <a:rPr sz="1500" i="1" b="0">
                <a:solidFill>
                  <a:srgbClr val="191816"/>
                </a:solidFill>
                <a:latin typeface="Cormorant Garamond"/>
              </a:rPr>
              <a:t>Thank you for considering me to tell this part of your story.</a:t>
            </a:r>
          </a:p>
        </p:txBody>
      </p:sp>
      <p:sp>
        <p:nvSpPr>
          <p:cNvPr id="8" name="TextBox 7"/>
          <p:cNvSpPr txBox="1"/>
          <p:nvPr/>
        </p:nvSpPr>
        <p:spPr>
          <a:xfrm>
            <a:off x="11185855" y="6510528"/>
            <a:ext cx="548640" cy="182880"/>
          </a:xfrm>
          <a:prstGeom prst="rect">
            <a:avLst/>
          </a:prstGeom>
          <a:noFill/>
        </p:spPr>
        <p:txBody>
          <a:bodyPr wrap="square" lIns="0" rIns="0" tIns="0" bIns="0" anchor="t">
            <a:spAutoFit/>
          </a:bodyPr>
          <a:lstStyle/>
          <a:p>
            <a:pPr algn="r">
              <a:spcBef>
                <a:spcPts val="0"/>
              </a:spcBef>
              <a:spcAft>
                <a:spcPts val="0"/>
              </a:spcAft>
            </a:pPr>
            <a:r>
              <a:rPr sz="800" i="0" b="1" spc="96">
                <a:solidFill>
                  <a:srgbClr val="6D6862"/>
                </a:solidFill>
                <a:latin typeface="Cormorant Garamond"/>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