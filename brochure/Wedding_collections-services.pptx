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5" r:id="rId7"/>
    <p:sldId id="266" r:id="rId8"/>
    <p:sldId id="269" r:id="rId17"/>
    <p:sldId id="270" r:id="rId18"/>
    <p:sldId id="271" r:id="rId19"/>
    <p:sldId id="272" r:id="rId20"/>
    <p:sldId id="273" r:id="rId21"/>
    <p:sldId id="268" r:id="rId9"/>
    <p:sldId id="263"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24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88"/>
    <p:restoredTop sz="94610"/>
  </p:normalViewPr>
  <p:slideViewPr>
    <p:cSldViewPr snapToGrid="0" snapToObjects="1">
      <p:cViewPr varScale="1">
        <p:scale>
          <a:sx n="106" d="100"/>
          <a:sy n="106" d="100"/>
        </p:scale>
        <p:origin x="6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797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1A189-5EBA-F3F3-836F-3200CF418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2B4B8-7963-A3EB-6186-115273A4EA9B}"/>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CDCA919D-6F12-8F43-D182-BDDB6D26E8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C74CFE-05CF-623B-E476-82D6B06A8A0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253283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3E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010"/>
        </a:solidFill>
        <a:effectLst/>
      </p:bgPr>
    </p:bg>
    <p:spTree>
      <p:nvGrpSpPr>
        <p:cNvPr id="1" name=""/>
        <p:cNvGrpSpPr/>
        <p:nvPr/>
      </p:nvGrpSpPr>
      <p:grpSpPr>
        <a:xfrm>
          <a:off x="0" y="0"/>
          <a:ext cx="0" cy="0"/>
          <a:chOff x="0" y="0"/>
          <a:chExt cx="0" cy="0"/>
        </a:xfrm>
      </p:grpSpPr>
      <p:pic>
        <p:nvPicPr>
          <p:cNvPr id="2" name="Image 0" descr="/mnt/data/cover_darkened.png"/>
          <p:cNvPicPr>
            <a:picLocks noChangeAspect="1"/>
          </p:cNvPicPr>
          <p:nvPr/>
        </p:nvPicPr>
        <p:blipFill>
          <a:blip r:embed="rId3"/>
          <a:srcRect r="-51"/>
          <a:stretch/>
        </p:blipFill>
        <p:spPr>
          <a:xfrm>
            <a:off x="0" y="0"/>
            <a:ext cx="12191695" cy="6858000"/>
          </a:xfrm>
          <a:prstGeom prst="rect">
            <a:avLst/>
          </a:prstGeom>
        </p:spPr>
      </p:pic>
      <p:pic>
        <p:nvPicPr>
          <p:cNvPr id="3" name="Image 1" descr="/mnt/data/em_logo_white_transparent.png"/>
          <p:cNvPicPr>
            <a:picLocks noChangeAspect="1"/>
          </p:cNvPicPr>
          <p:nvPr/>
        </p:nvPicPr>
        <p:blipFill>
          <a:blip r:embed="rId4"/>
          <a:stretch>
            <a:fillRect/>
          </a:stretch>
        </p:blipFill>
        <p:spPr>
          <a:xfrm>
            <a:off x="3400726" y="2657396"/>
            <a:ext cx="5390548" cy="775112"/>
          </a:xfrm>
          <a:prstGeom prst="rect">
            <a:avLst/>
          </a:prstGeom>
        </p:spPr>
      </p:pic>
      <p:sp>
        <p:nvSpPr>
          <p:cNvPr id="4" name="Text 0"/>
          <p:cNvSpPr/>
          <p:nvPr/>
        </p:nvSpPr>
        <p:spPr>
          <a:xfrm>
            <a:off x="4267047" y="3668669"/>
            <a:ext cx="3657600" cy="201168"/>
          </a:xfrm>
          <a:prstGeom prst="rect">
            <a:avLst/>
          </a:prstGeom>
          <a:noFill/>
          <a:ln/>
        </p:spPr>
        <p:txBody>
          <a:bodyPr wrap="square" lIns="0" tIns="0" rIns="0" bIns="0" rtlCol="0" anchor="ctr">
            <a:normAutofit/>
          </a:bodyPr>
          <a:lstStyle/>
          <a:p>
            <a:pPr marL="0" indent="0" algn="ctr">
              <a:buNone/>
            </a:pPr>
            <a:r>
              <a:rPr lang="en-US" sz="850" kern="0" spc="200" dirty="0">
                <a:solidFill>
                  <a:srgbClr val="F7F3EC"/>
                </a:solidFill>
                <a:latin typeface="Aptos" pitchFamily="34" charset="0"/>
                <a:ea typeface="Aptos" pitchFamily="34" charset="-122"/>
                <a:cs typeface="Aptos" pitchFamily="34" charset="-120"/>
              </a:rPr>
              <a:t>WEDDING COLLECTIONS 2026</a:t>
            </a:r>
            <a:endParaRPr lang="en-US" sz="850" dirty="0"/>
          </a:p>
        </p:txBody>
      </p:sp>
      <p:sp>
        <p:nvSpPr>
          <p:cNvPr id="6" name="Text 2"/>
          <p:cNvSpPr/>
          <p:nvPr/>
        </p:nvSpPr>
        <p:spPr>
          <a:xfrm>
            <a:off x="11658600" y="6565392"/>
            <a:ext cx="365760" cy="137160"/>
          </a:xfrm>
          <a:prstGeom prst="rect">
            <a:avLst/>
          </a:prstGeom>
          <a:noFill/>
          <a:ln/>
        </p:spPr>
        <p:txBody>
          <a:bodyPr wrap="square" lIns="0" tIns="0" rIns="0" bIns="0" rtlCol="0" anchor="ctr"/>
          <a:lstStyle/>
          <a:p>
            <a:pPr marL="0" indent="0" algn="r">
              <a:buNone/>
            </a:pPr>
            <a:r>
              <a:rPr lang="en-US" sz="800" dirty="0">
                <a:solidFill>
                  <a:srgbClr val="F7F3EC"/>
                </a:solidFill>
                <a:latin typeface="Aptos" pitchFamily="34" charset="0"/>
                <a:ea typeface="Aptos" pitchFamily="34" charset="-122"/>
                <a:cs typeface="Aptos"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6284671" y="384048"/>
            <a:ext cx="5522976" cy="6089904"/>
          </a:xfrm>
          <a:prstGeom prst="rect">
            <a:avLst/>
          </a:prstGeom>
          <a:solidFill>
            <a:srgbClr val="E7DED4"/>
          </a:solidFill>
          <a:ln w="12700">
            <a:solidFill>
              <a:srgbClr val="E7DED4">
                <a:alpha val="0"/>
              </a:srgbClr>
            </a:solidFill>
            <a:prstDash val="solid"/>
          </a:ln>
        </p:spPr>
        <p:txBody>
          <a:bodyPr/>
          <a:lstStyle/>
          <a:p>
            <a:endParaRPr lang="fr-FR"/>
          </a:p>
        </p:txBody>
      </p:sp>
      <p:pic>
        <p:nvPicPr>
          <p:cNvPr id="3" name="Image 0" descr="/mnt/data/a_black_and_white_shallow_depth_of_field_cinemat.png"/>
          <p:cNvPicPr>
            <a:picLocks noChangeAspect="1"/>
          </p:cNvPicPr>
          <p:nvPr/>
        </p:nvPicPr>
        <p:blipFill>
          <a:blip r:embed="rId3"/>
          <a:srcRect l="24512" r="24512"/>
          <a:stretch/>
        </p:blipFill>
        <p:spPr>
          <a:xfrm>
            <a:off x="6321247" y="420624"/>
            <a:ext cx="5449824" cy="6016752"/>
          </a:xfrm>
          <a:prstGeom prst="rect">
            <a:avLst/>
          </a:prstGeom>
        </p:spPr>
      </p:pic>
      <p:sp>
        <p:nvSpPr>
          <p:cNvPr id="5" name="Text 2"/>
          <p:cNvSpPr/>
          <p:nvPr/>
        </p:nvSpPr>
        <p:spPr>
          <a:xfrm>
            <a:off x="924916" y="1280762"/>
            <a:ext cx="4881524" cy="945682"/>
          </a:xfrm>
          <a:prstGeom prst="rect">
            <a:avLst/>
          </a:prstGeom>
          <a:noFill/>
          <a:ln/>
        </p:spPr>
        <p:txBody>
          <a:bodyPr wrap="square" lIns="0" tIns="0" rIns="0" bIns="0" rtlCol="0" anchor="ctr">
            <a:noAutofit/>
          </a:bodyPr>
          <a:lstStyle/>
          <a:p>
            <a:pPr marL="0" indent="0">
              <a:buNone/>
            </a:pPr>
            <a:r>
              <a:rPr lang="en-US" sz="2800" dirty="0">
                <a:solidFill>
                  <a:srgbClr val="171513"/>
                </a:solidFill>
                <a:ea typeface="GFS Didot" pitchFamily="34" charset="-122"/>
              </a:rPr>
              <a:t>WHERE REFINED IMAGERY</a:t>
            </a:r>
          </a:p>
          <a:p>
            <a:pPr marL="0" indent="0">
              <a:buNone/>
            </a:pPr>
            <a:r>
              <a:rPr lang="en-US" sz="2800" dirty="0">
                <a:solidFill>
                  <a:srgbClr val="171513"/>
                </a:solidFill>
                <a:ea typeface="GFS Didot" pitchFamily="34" charset="-122"/>
              </a:rPr>
              <a:t>MEETS GENUINE EMOTION.</a:t>
            </a:r>
            <a:endParaRPr lang="en-US" sz="2800" dirty="0"/>
          </a:p>
        </p:txBody>
      </p:sp>
      <p:sp>
        <p:nvSpPr>
          <p:cNvPr id="7" name="Text 4"/>
          <p:cNvSpPr/>
          <p:nvPr/>
        </p:nvSpPr>
        <p:spPr>
          <a:xfrm>
            <a:off x="924916" y="3339966"/>
            <a:ext cx="4619324" cy="594360"/>
          </a:xfrm>
          <a:prstGeom prst="rect">
            <a:avLst/>
          </a:prstGeom>
          <a:noFill/>
          <a:ln/>
        </p:spPr>
        <p:txBody>
          <a:bodyPr wrap="square" lIns="0" tIns="0" rIns="0" bIns="0" rtlCol="0" anchor="t">
            <a:normAutofit/>
          </a:bodyPr>
          <a:lstStyle/>
          <a:p>
            <a:pPr marL="0" indent="0" algn="ctr">
              <a:lnSpc>
                <a:spcPct val="95000"/>
              </a:lnSpc>
              <a:buNone/>
            </a:pPr>
            <a:r>
              <a:rPr lang="en-US" sz="1200" dirty="0">
                <a:solidFill>
                  <a:srgbClr val="252422"/>
                </a:solidFill>
                <a:latin typeface="EB Garamond" pitchFamily="34" charset="0"/>
                <a:ea typeface="EB Garamond" pitchFamily="34" charset="-122"/>
                <a:cs typeface="EB Garamond" pitchFamily="34" charset="-120"/>
              </a:rPr>
              <a:t>Timeless wedding photography, thoughtfully created to preserve the beauty and feeling of your day – exactly as it was lived.</a:t>
            </a:r>
          </a:p>
        </p:txBody>
      </p:sp>
      <p:sp>
        <p:nvSpPr>
          <p:cNvPr id="8" name="Text 5"/>
          <p:cNvSpPr/>
          <p:nvPr/>
        </p:nvSpPr>
        <p:spPr>
          <a:xfrm>
            <a:off x="924916" y="5047848"/>
            <a:ext cx="4006516" cy="640080"/>
          </a:xfrm>
          <a:prstGeom prst="rect">
            <a:avLst/>
          </a:prstGeom>
          <a:noFill/>
          <a:ln/>
        </p:spPr>
        <p:txBody>
          <a:bodyPr wrap="square" lIns="0" tIns="0" rIns="0" bIns="0" rtlCol="0" anchor="t">
            <a:normAutofit/>
          </a:bodyPr>
          <a:lstStyle/>
          <a:p>
            <a:pPr marL="0" indent="0">
              <a:buNone/>
            </a:pPr>
            <a:r>
              <a:rPr lang="en-US" sz="1700" i="1" dirty="0">
                <a:solidFill>
                  <a:srgbClr val="171513"/>
                </a:solidFill>
                <a:latin typeface="EB Garamond" pitchFamily="34" charset="0"/>
                <a:ea typeface="EB Garamond" pitchFamily="34" charset="-122"/>
                <a:cs typeface="EB Garamond" pitchFamily="34" charset="-120"/>
              </a:rPr>
              <a:t>For those drawn to photographs that reveal more the longer you look.</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384048" y="384048"/>
            <a:ext cx="5522976" cy="6089904"/>
          </a:xfrm>
          <a:prstGeom prst="rect">
            <a:avLst/>
          </a:prstGeom>
          <a:solidFill>
            <a:srgbClr val="E7DED4"/>
          </a:solidFill>
          <a:ln w="12700">
            <a:solidFill>
              <a:srgbClr val="E7DED4">
                <a:alpha val="0"/>
              </a:srgbClr>
            </a:solidFill>
            <a:prstDash val="solid"/>
          </a:ln>
        </p:spPr>
        <p:txBody>
          <a:bodyPr/>
          <a:lstStyle/>
          <a:p>
            <a:endParaRPr lang="fr-FR"/>
          </a:p>
        </p:txBody>
      </p:sp>
      <p:pic>
        <p:nvPicPr>
          <p:cNvPr id="3" name="Image 0" descr="/mnt/data/a_softly_lit_intimate_bridal_preparation_scene_in.png"/>
          <p:cNvPicPr>
            <a:picLocks noChangeAspect="1"/>
          </p:cNvPicPr>
          <p:nvPr/>
        </p:nvPicPr>
        <p:blipFill>
          <a:blip r:embed="rId3"/>
          <a:srcRect l="5000" r="44023"/>
          <a:stretch/>
        </p:blipFill>
        <p:spPr>
          <a:xfrm>
            <a:off x="420624" y="420624"/>
            <a:ext cx="5449824" cy="6016752"/>
          </a:xfrm>
          <a:prstGeom prst="rect">
            <a:avLst/>
          </a:prstGeom>
        </p:spPr>
      </p:pic>
      <p:sp>
        <p:nvSpPr>
          <p:cNvPr id="5" name="Text 2"/>
          <p:cNvSpPr/>
          <p:nvPr/>
        </p:nvSpPr>
        <p:spPr>
          <a:xfrm>
            <a:off x="8064647" y="854243"/>
            <a:ext cx="1756370" cy="685800"/>
          </a:xfrm>
          <a:prstGeom prst="rect">
            <a:avLst/>
          </a:prstGeom>
          <a:noFill/>
          <a:ln/>
        </p:spPr>
        <p:txBody>
          <a:bodyPr wrap="square" lIns="0" tIns="0" rIns="0" bIns="0" rtlCol="0" anchor="ctr">
            <a:normAutofit/>
          </a:bodyPr>
          <a:lstStyle/>
          <a:p>
            <a:pPr marL="0" indent="0">
              <a:buNone/>
            </a:pPr>
            <a:r>
              <a:rPr lang="en-US" sz="2800" dirty="0">
                <a:solidFill>
                  <a:srgbClr val="171513"/>
                </a:solidFill>
                <a:ea typeface="GFS Didot" pitchFamily="34" charset="-122"/>
                <a:cs typeface="GFS Didot" pitchFamily="34" charset="-120"/>
              </a:rPr>
              <a:t>BONJOUR</a:t>
            </a:r>
            <a:endParaRPr lang="en-US" sz="3300" dirty="0"/>
          </a:p>
        </p:txBody>
      </p:sp>
      <p:sp>
        <p:nvSpPr>
          <p:cNvPr id="6" name="Text 3"/>
          <p:cNvSpPr/>
          <p:nvPr/>
        </p:nvSpPr>
        <p:spPr>
          <a:xfrm>
            <a:off x="6437135" y="2191791"/>
            <a:ext cx="5011393" cy="3282577"/>
          </a:xfrm>
          <a:prstGeom prst="rect">
            <a:avLst/>
          </a:prstGeom>
          <a:noFill/>
          <a:ln/>
        </p:spPr>
        <p:txBody>
          <a:bodyPr wrap="square" lIns="0" tIns="0" rIns="0" bIns="0" rtlCol="0" anchor="t">
            <a:normAutofit/>
          </a:bodyPr>
          <a:lstStyle/>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I’m so glad my work resonates with you, and that you’re considering me to document such a meaningful chapter of your story. Being invited into something as intimate as a wedding day is a privilege I deeply cherish.</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A wedding unfolds through so many layers – the people, the gestures, the moments long anticipated and those that happen quietly in between. I’m drawn to all of it, allowing the day to reveal itself naturally.</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My work blends the honesty of documentary photography with the refinement of an editorial eye, where genuine emotion meets beautiful light and thoughtful composition.</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Ultimately, I want your photographs to become more than a record of the day – to hold its feeling, its energy and everything that made it uniquely yours.</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I look forward to getting to know you and capturing your love in a way that feels entirely your own.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6284671" y="384048"/>
            <a:ext cx="5522976" cy="6089904"/>
          </a:xfrm>
          <a:prstGeom prst="rect">
            <a:avLst/>
          </a:prstGeom>
          <a:solidFill>
            <a:srgbClr val="E7DED4"/>
          </a:solidFill>
          <a:ln w="12700">
            <a:solidFill>
              <a:srgbClr val="E7DED4">
                <a:alpha val="0"/>
              </a:srgbClr>
            </a:solidFill>
            <a:prstDash val="solid"/>
          </a:ln>
        </p:spPr>
        <p:txBody>
          <a:bodyPr/>
          <a:lstStyle/>
          <a:p>
            <a:endParaRPr lang="fr-FR"/>
          </a:p>
        </p:txBody>
      </p:sp>
      <p:pic>
        <p:nvPicPr>
          <p:cNvPr id="3" name="Image 0" descr="/mnt/data/wide_scenic_portrait_photo_a_stylish_cinematic.png"/>
          <p:cNvPicPr>
            <a:picLocks noChangeAspect="1"/>
          </p:cNvPicPr>
          <p:nvPr/>
        </p:nvPicPr>
        <p:blipFill>
          <a:blip r:embed="rId3"/>
          <a:srcRect r="49023"/>
          <a:stretch/>
        </p:blipFill>
        <p:spPr>
          <a:xfrm>
            <a:off x="6321247" y="420624"/>
            <a:ext cx="5449824" cy="6016752"/>
          </a:xfrm>
          <a:prstGeom prst="rect">
            <a:avLst/>
          </a:prstGeom>
        </p:spPr>
      </p:pic>
      <p:sp>
        <p:nvSpPr>
          <p:cNvPr id="5" name="Text 2"/>
          <p:cNvSpPr/>
          <p:nvPr/>
        </p:nvSpPr>
        <p:spPr>
          <a:xfrm>
            <a:off x="1597793" y="875179"/>
            <a:ext cx="3296653" cy="685800"/>
          </a:xfrm>
          <a:prstGeom prst="rect">
            <a:avLst/>
          </a:prstGeom>
          <a:noFill/>
          <a:ln/>
        </p:spPr>
        <p:txBody>
          <a:bodyPr wrap="square" lIns="0" tIns="0" rIns="0" bIns="0" rtlCol="0" anchor="ctr">
            <a:normAutofit/>
          </a:bodyPr>
          <a:lstStyle/>
          <a:p>
            <a:pPr marL="0" indent="0">
              <a:buNone/>
            </a:pPr>
            <a:r>
              <a:rPr lang="en-US" sz="2800" dirty="0">
                <a:solidFill>
                  <a:srgbClr val="171513"/>
                </a:solidFill>
                <a:ea typeface="GFS Didot" pitchFamily="34" charset="-122"/>
                <a:cs typeface="GFS Didot" pitchFamily="34" charset="-120"/>
              </a:rPr>
              <a:t>BEHIND THE LENS</a:t>
            </a:r>
            <a:endParaRPr lang="en-US" sz="2800" dirty="0"/>
          </a:p>
        </p:txBody>
      </p:sp>
      <p:sp>
        <p:nvSpPr>
          <p:cNvPr id="6" name="Text 3"/>
          <p:cNvSpPr/>
          <p:nvPr/>
        </p:nvSpPr>
        <p:spPr>
          <a:xfrm>
            <a:off x="685800" y="1984248"/>
            <a:ext cx="5120640" cy="2555993"/>
          </a:xfrm>
          <a:prstGeom prst="rect">
            <a:avLst/>
          </a:prstGeom>
          <a:noFill/>
          <a:ln/>
        </p:spPr>
        <p:txBody>
          <a:bodyPr wrap="square" lIns="0" tIns="0" rIns="0" bIns="0" rtlCol="0" anchor="t">
            <a:noAutofit/>
          </a:bodyPr>
          <a:lstStyle/>
          <a:p>
            <a:pPr marL="0" indent="0" algn="ctr">
              <a:lnSpc>
                <a:spcPct val="95000"/>
              </a:lnSpc>
              <a:buNone/>
            </a:pPr>
            <a:r>
              <a:rPr lang="en-US" sz="1200" dirty="0">
                <a:solidFill>
                  <a:srgbClr val="252422"/>
                </a:solidFill>
                <a:latin typeface="EB Garamond" pitchFamily="34" charset="0"/>
                <a:ea typeface="EB Garamond" pitchFamily="34" charset="-122"/>
                <a:cs typeface="EB Garamond" pitchFamily="34" charset="-120"/>
              </a:rPr>
              <a:t>Hi, I’m Emra.</a:t>
            </a:r>
          </a:p>
          <a:p>
            <a:pPr marL="0" indent="0" algn="ctr">
              <a:lnSpc>
                <a:spcPct val="95000"/>
              </a:lnSpc>
              <a:buNone/>
            </a:pPr>
            <a:r>
              <a:rPr lang="en-US" sz="1200" dirty="0">
                <a:solidFill>
                  <a:srgbClr val="252422"/>
                </a:solidFill>
                <a:latin typeface="EB Garamond" pitchFamily="34" charset="0"/>
                <a:ea typeface="EB Garamond" pitchFamily="34" charset="-122"/>
                <a:cs typeface="EB Garamond" pitchFamily="34" charset="-120"/>
              </a:rPr>
              <a:t>With Bosnian roots and a Swiss upbringing, I'm the creative mind behind EM Photography.</a:t>
            </a:r>
            <a:endParaRPr lang="en-US" sz="1200" dirty="0">
              <a:solidFill>
                <a:srgbClr val="252422"/>
              </a:solidFill>
            </a:endParaRPr>
          </a:p>
          <a:p>
            <a:pPr marL="0" indent="0" algn="ctr">
              <a:lnSpc>
                <a:spcPct val="95000"/>
              </a:lnSpc>
              <a:buNone/>
            </a:pPr>
            <a:endParaRPr lang="en-US" sz="1200" dirty="0">
              <a:solidFill>
                <a:srgbClr val="252422"/>
              </a:solidFill>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Photography is my way of noticing the world more deeply. I’m drawn to landscapes, light, atmosphere and the subtle details that make a moment feel alive.</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That same sensitivity shapes the way I photograph people. I’m deeply inspired by love in all its forms – fleeting expressions, quiet tenderness and the gestures that often go unnoticed.</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I’m passionate about creating vibrant, emotional and layered images – photographs you can return to again and again, revealing something more with every look.</a:t>
            </a:r>
            <a:endParaRPr lang="en-US" sz="1200" dirty="0">
              <a:solidFill>
                <a:srgbClr val="252422"/>
              </a:solidFill>
            </a:endParaRPr>
          </a:p>
        </p:txBody>
      </p:sp>
      <p:sp>
        <p:nvSpPr>
          <p:cNvPr id="7" name="Shape 4"/>
          <p:cNvSpPr/>
          <p:nvPr/>
        </p:nvSpPr>
        <p:spPr>
          <a:xfrm>
            <a:off x="685800" y="4700979"/>
            <a:ext cx="5120640" cy="0"/>
          </a:xfrm>
          <a:prstGeom prst="line">
            <a:avLst/>
          </a:prstGeom>
          <a:noFill/>
          <a:ln w="8255">
            <a:solidFill>
              <a:srgbClr val="C7BBB0"/>
            </a:solidFill>
            <a:prstDash val="solid"/>
          </a:ln>
        </p:spPr>
        <p:txBody>
          <a:bodyPr/>
          <a:lstStyle/>
          <a:p>
            <a:endParaRPr lang="fr-FR"/>
          </a:p>
        </p:txBody>
      </p:sp>
      <p:sp>
        <p:nvSpPr>
          <p:cNvPr id="11" name="Text 1">
            <a:extLst>
              <a:ext uri="{FF2B5EF4-FFF2-40B4-BE49-F238E27FC236}">
                <a16:creationId xmlns:a16="http://schemas.microsoft.com/office/drawing/2014/main" id="{CA35B1AA-45AD-6784-F3A1-B5CF95CC9E3C}"/>
              </a:ext>
            </a:extLst>
          </p:cNvPr>
          <p:cNvSpPr/>
          <p:nvPr/>
        </p:nvSpPr>
        <p:spPr>
          <a:xfrm>
            <a:off x="2189748" y="4951236"/>
            <a:ext cx="2117557" cy="201110"/>
          </a:xfrm>
          <a:prstGeom prst="rect">
            <a:avLst/>
          </a:prstGeom>
          <a:noFill/>
          <a:ln/>
        </p:spPr>
        <p:txBody>
          <a:bodyPr wrap="square" lIns="0" tIns="0" rIns="0" bIns="0" rtlCol="0" anchor="ctr">
            <a:normAutofit/>
          </a:bodyPr>
          <a:lstStyle/>
          <a:p>
            <a:pPr marL="0" indent="0" algn="l">
              <a:buNone/>
            </a:pPr>
            <a:r>
              <a:rPr lang="en-US" sz="1000" b="1" kern="0" spc="200" dirty="0">
                <a:solidFill>
                  <a:srgbClr val="252422"/>
                </a:solidFill>
                <a:latin typeface="Goudy Old Style" panose="02020502050305020303" pitchFamily="18" charset="77"/>
                <a:ea typeface="Aptos" pitchFamily="34" charset="-122"/>
                <a:cs typeface="Aptos" pitchFamily="34" charset="-120"/>
              </a:rPr>
              <a:t>A FEW PERSONAL NOTES</a:t>
            </a:r>
            <a:endParaRPr lang="en-US" sz="1000" b="1" dirty="0">
              <a:solidFill>
                <a:srgbClr val="252422"/>
              </a:solidFill>
              <a:latin typeface="Goudy Old Style" panose="02020502050305020303" pitchFamily="18" charset="77"/>
            </a:endParaRPr>
          </a:p>
        </p:txBody>
      </p:sp>
      <p:sp>
        <p:nvSpPr>
          <p:cNvPr id="12" name="Text 4">
            <a:extLst>
              <a:ext uri="{FF2B5EF4-FFF2-40B4-BE49-F238E27FC236}">
                <a16:creationId xmlns:a16="http://schemas.microsoft.com/office/drawing/2014/main" id="{6B895A60-6697-C4EF-1F2A-302E57C6C04E}"/>
              </a:ext>
            </a:extLst>
          </p:cNvPr>
          <p:cNvSpPr/>
          <p:nvPr/>
        </p:nvSpPr>
        <p:spPr>
          <a:xfrm>
            <a:off x="1970771" y="5243843"/>
            <a:ext cx="2550695" cy="1088617"/>
          </a:xfrm>
          <a:prstGeom prst="rect">
            <a:avLst/>
          </a:prstGeom>
          <a:noFill/>
          <a:ln/>
        </p:spPr>
        <p:txBody>
          <a:bodyPr wrap="square" lIns="0" tIns="0" rIns="0" bIns="0" rtlCol="0" anchor="t">
            <a:normAutofit/>
          </a:bodyPr>
          <a:lstStyle/>
          <a:p>
            <a:pPr marL="0" indent="0" algn="ctr">
              <a:lnSpc>
                <a:spcPct val="95000"/>
              </a:lnSpc>
              <a:buNone/>
            </a:pPr>
            <a:r>
              <a:rPr lang="en-US" sz="1300" i="1" dirty="0">
                <a:solidFill>
                  <a:srgbClr val="252422"/>
                </a:solidFill>
                <a:ea typeface="EB Garamond" pitchFamily="34" charset="-122"/>
                <a:cs typeface="EB Garamond" pitchFamily="34" charset="-120"/>
              </a:rPr>
              <a:t>Quiet landscapes inspire me.</a:t>
            </a:r>
            <a:endParaRPr lang="en-US" sz="1300" i="1" dirty="0">
              <a:solidFill>
                <a:srgbClr val="252422"/>
              </a:solidFill>
            </a:endParaRPr>
          </a:p>
          <a:p>
            <a:pPr marL="0" indent="0" algn="ctr">
              <a:lnSpc>
                <a:spcPct val="95000"/>
              </a:lnSpc>
              <a:buNone/>
            </a:pPr>
            <a:r>
              <a:rPr lang="en-US" sz="1300" i="1" dirty="0">
                <a:solidFill>
                  <a:srgbClr val="252422"/>
                </a:solidFill>
                <a:ea typeface="EB Garamond" pitchFamily="34" charset="-122"/>
                <a:cs typeface="EB Garamond" pitchFamily="34" charset="-120"/>
              </a:rPr>
              <a:t>Coffee is a non-negotiable.</a:t>
            </a:r>
            <a:endParaRPr lang="en-US" sz="1300" i="1" dirty="0">
              <a:solidFill>
                <a:srgbClr val="252422"/>
              </a:solidFill>
            </a:endParaRPr>
          </a:p>
          <a:p>
            <a:pPr marL="0" indent="0" algn="ctr">
              <a:lnSpc>
                <a:spcPct val="95000"/>
              </a:lnSpc>
              <a:buNone/>
            </a:pPr>
            <a:r>
              <a:rPr lang="en-US" sz="1300" i="1" dirty="0">
                <a:solidFill>
                  <a:srgbClr val="252422"/>
                </a:solidFill>
                <a:ea typeface="EB Garamond" pitchFamily="34" charset="-122"/>
                <a:cs typeface="EB Garamond" pitchFamily="34" charset="-120"/>
              </a:rPr>
              <a:t>Forever curious about the world.</a:t>
            </a:r>
            <a:endParaRPr lang="en-US" sz="1300" i="1" dirty="0">
              <a:solidFill>
                <a:srgbClr val="252422"/>
              </a:solidFill>
            </a:endParaRPr>
          </a:p>
          <a:p>
            <a:pPr marL="0" indent="0" algn="ctr">
              <a:lnSpc>
                <a:spcPct val="95000"/>
              </a:lnSpc>
              <a:buNone/>
            </a:pPr>
            <a:r>
              <a:rPr lang="en-US" sz="1300" i="1" dirty="0">
                <a:solidFill>
                  <a:srgbClr val="252422"/>
                </a:solidFill>
                <a:ea typeface="EB Garamond" pitchFamily="34" charset="-122"/>
                <a:cs typeface="EB Garamond" pitchFamily="34" charset="-120"/>
              </a:rPr>
              <a:t>Little paws have my whole heart.</a:t>
            </a:r>
            <a:endParaRPr lang="en-US" sz="1300" i="1" dirty="0">
              <a:solidFill>
                <a:srgbClr val="252422"/>
              </a:solidFill>
            </a:endParaRPr>
          </a:p>
          <a:p>
            <a:pPr marL="0" indent="0" algn="ctr">
              <a:lnSpc>
                <a:spcPct val="95000"/>
              </a:lnSpc>
              <a:buNone/>
            </a:pPr>
            <a:r>
              <a:rPr lang="en-US" sz="1300" i="1" dirty="0">
                <a:solidFill>
                  <a:srgbClr val="252422"/>
                </a:solidFill>
                <a:ea typeface="EB Garamond" pitchFamily="34" charset="-122"/>
                <a:cs typeface="EB Garamond" pitchFamily="34" charset="-120"/>
              </a:rPr>
              <a:t>Drawn to the softness of golden hour.</a:t>
            </a:r>
            <a:endParaRPr lang="en-US" sz="1300" i="1" dirty="0">
              <a:solidFill>
                <a:srgbClr val="25242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12443" y="431693"/>
            <a:ext cx="5522976" cy="6089904"/>
          </a:xfrm>
          <a:prstGeom prst="rect">
            <a:avLst/>
          </a:prstGeom>
          <a:solidFill>
            <a:srgbClr val="E7DED4"/>
          </a:solidFill>
          <a:ln w="12700">
            <a:solidFill>
              <a:srgbClr val="E7DED4">
                <a:alpha val="0"/>
              </a:srgbClr>
            </a:solidFill>
            <a:prstDash val="solid"/>
          </a:ln>
        </p:spPr>
        <p:txBody>
          <a:bodyPr/>
          <a:lstStyle/>
          <a:p>
            <a:endParaRPr lang="fr-FR"/>
          </a:p>
        </p:txBody>
      </p:sp>
      <p:pic>
        <p:nvPicPr>
          <p:cNvPr id="14" name="Image 0" descr="/mnt/data/a_black_and_white_shallow_depth_of_field_cinemat.png">
            <a:extLst>
              <a:ext uri="{FF2B5EF4-FFF2-40B4-BE49-F238E27FC236}">
                <a16:creationId xmlns:a16="http://schemas.microsoft.com/office/drawing/2014/main" id="{90989DA6-CF74-5196-164D-21CCB3919733}"/>
              </a:ext>
            </a:extLst>
          </p:cNvPr>
          <p:cNvPicPr>
            <a:picLocks noChangeAspect="1"/>
          </p:cNvPicPr>
          <p:nvPr/>
        </p:nvPicPr>
        <p:blipFill>
          <a:blip r:embed="rId3"/>
          <a:srcRect l="24512" r="24512"/>
          <a:stretch/>
        </p:blipFill>
        <p:spPr>
          <a:xfrm>
            <a:off x="449019" y="468269"/>
            <a:ext cx="5449824" cy="6016752"/>
          </a:xfrm>
          <a:prstGeom prst="rect">
            <a:avLst/>
          </a:prstGeom>
        </p:spPr>
      </p:pic>
      <p:sp>
        <p:nvSpPr>
          <p:cNvPr id="15" name="Text 5">
            <a:extLst>
              <a:ext uri="{FF2B5EF4-FFF2-40B4-BE49-F238E27FC236}">
                <a16:creationId xmlns:a16="http://schemas.microsoft.com/office/drawing/2014/main" id="{09C6C4CE-A5AA-F4B0-2FE9-A6CD0F340C8D}"/>
              </a:ext>
            </a:extLst>
          </p:cNvPr>
          <p:cNvSpPr/>
          <p:nvPr/>
        </p:nvSpPr>
        <p:spPr>
          <a:xfrm>
            <a:off x="6256583" y="2362038"/>
            <a:ext cx="5120640" cy="2468880"/>
          </a:xfrm>
          <a:prstGeom prst="rect">
            <a:avLst/>
          </a:prstGeom>
          <a:noFill/>
          <a:ln/>
        </p:spPr>
        <p:txBody>
          <a:bodyPr wrap="square" lIns="0" tIns="0" rIns="0" bIns="0" rtlCol="0" anchor="t">
            <a:normAutofit fontScale="92500"/>
          </a:bodyPr>
          <a:lstStyle/>
          <a:p>
            <a:pPr algn="ctr">
              <a:lnSpc>
                <a:spcPct val="95000"/>
              </a:lnSpc>
            </a:pPr>
            <a:r>
              <a:rPr lang="en-US" sz="1200" i="1" dirty="0">
                <a:solidFill>
                  <a:srgbClr val="252422"/>
                </a:solidFill>
                <a:latin typeface="EB Garamond" pitchFamily="34" charset="0"/>
                <a:ea typeface="EB Garamond" pitchFamily="34" charset="-122"/>
                <a:cs typeface="EB Garamond" pitchFamily="34" charset="-120"/>
              </a:rPr>
              <a:t>“</a:t>
            </a:r>
            <a:r>
              <a:rPr lang="en-US" sz="1200" dirty="0">
                <a:solidFill>
                  <a:srgbClr val="252422"/>
                </a:solidFill>
                <a:latin typeface="EB Garamond" pitchFamily="34" charset="0"/>
                <a:ea typeface="EB Garamond" pitchFamily="34" charset="-122"/>
                <a:cs typeface="EB Garamond" pitchFamily="34" charset="-120"/>
              </a:rPr>
              <a:t>Every celebration has its own rhythm. </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Getting to know you beforehand allows me to understand what matters most – the people, the energy, your priorities and the way you want the day to unfold.</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When your wedding arrives, I photograph with a calm, observant presence – attentive to the moments everyone sees, but equally to those unfolding quietly around them: nervous hands, a glance across the room, a familiar embrace, laughter between friends.</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When guidance is needed, I’ll gently step in. The rest of the time, I want you to forget about the camera, stay close to the people you love and live the day fully. </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There is intention behind the scenes, with space for everything spontaneous in between.</a:t>
            </a:r>
            <a:r>
              <a:rPr lang="en-US" sz="1200" i="1" dirty="0">
                <a:solidFill>
                  <a:srgbClr val="252422"/>
                </a:solidFill>
                <a:latin typeface="EB Garamond" pitchFamily="34" charset="0"/>
                <a:ea typeface="EB Garamond" pitchFamily="34" charset="-122"/>
                <a:cs typeface="EB Garamond" pitchFamily="34" charset="-120"/>
              </a:rPr>
              <a:t>”</a:t>
            </a:r>
          </a:p>
          <a:p>
            <a:pPr algn="ctr">
              <a:lnSpc>
                <a:spcPct val="95000"/>
              </a:lnSpc>
            </a:pPr>
            <a:endParaRPr lang="en-US" sz="1200" i="1" dirty="0">
              <a:solidFill>
                <a:srgbClr val="252422"/>
              </a:solidFill>
              <a:latin typeface="EB Garamond" pitchFamily="34" charset="0"/>
              <a:ea typeface="EB Garamond" pitchFamily="34" charset="-122"/>
            </a:endParaRPr>
          </a:p>
          <a:p>
            <a:pPr algn="ctr">
              <a:lnSpc>
                <a:spcPct val="95000"/>
              </a:lnSpc>
            </a:pPr>
            <a:r>
              <a:rPr lang="en-US" sz="1200" dirty="0">
                <a:solidFill>
                  <a:srgbClr val="252422"/>
                </a:solidFill>
                <a:latin typeface="EB Garamond" pitchFamily="34" charset="0"/>
                <a:ea typeface="EB Garamond" pitchFamily="34" charset="-122"/>
              </a:rPr>
              <a:t>S &amp; A</a:t>
            </a:r>
            <a:endParaRPr lang="en-US" sz="1250" dirty="0">
              <a:solidFill>
                <a:srgbClr val="252422"/>
              </a:solidFill>
            </a:endParaRPr>
          </a:p>
        </p:txBody>
      </p:sp>
      <p:sp>
        <p:nvSpPr>
          <p:cNvPr id="16" name="Text 2">
            <a:extLst>
              <a:ext uri="{FF2B5EF4-FFF2-40B4-BE49-F238E27FC236}">
                <a16:creationId xmlns:a16="http://schemas.microsoft.com/office/drawing/2014/main" id="{4FEB3A78-3DC0-F604-7530-11AC98C34960}"/>
              </a:ext>
            </a:extLst>
          </p:cNvPr>
          <p:cNvSpPr/>
          <p:nvPr/>
        </p:nvSpPr>
        <p:spPr>
          <a:xfrm>
            <a:off x="7842345" y="1144925"/>
            <a:ext cx="2191992" cy="749808"/>
          </a:xfrm>
          <a:prstGeom prst="rect">
            <a:avLst/>
          </a:prstGeom>
          <a:noFill/>
          <a:ln/>
        </p:spPr>
        <p:txBody>
          <a:bodyPr wrap="square" lIns="0" tIns="0" rIns="0" bIns="0" rtlCol="0" anchor="ctr">
            <a:normAutofit/>
          </a:bodyPr>
          <a:lstStyle/>
          <a:p>
            <a:pPr marL="0" indent="0">
              <a:buNone/>
            </a:pPr>
            <a:r>
              <a:rPr lang="en-US" sz="2800" dirty="0">
                <a:solidFill>
                  <a:srgbClr val="171513"/>
                </a:solidFill>
                <a:ea typeface="GFS Didot" pitchFamily="34" charset="-122"/>
                <a:cs typeface="GFS Didot" pitchFamily="34" charset="-120"/>
              </a:rPr>
              <a:t>LOVE NOTES</a:t>
            </a:r>
            <a:endParaRPr lang="en-US" sz="2800" dirty="0"/>
          </a:p>
        </p:txBody>
      </p:sp>
      <p:sp>
        <p:nvSpPr>
          <p:cNvPr id="17" name="Text 4">
            <a:extLst>
              <a:ext uri="{FF2B5EF4-FFF2-40B4-BE49-F238E27FC236}">
                <a16:creationId xmlns:a16="http://schemas.microsoft.com/office/drawing/2014/main" id="{F85B778C-9154-0354-D286-54CB37D929DA}"/>
              </a:ext>
            </a:extLst>
          </p:cNvPr>
          <p:cNvSpPr/>
          <p:nvPr/>
        </p:nvSpPr>
        <p:spPr>
          <a:xfrm>
            <a:off x="7796623" y="5347315"/>
            <a:ext cx="3946358" cy="365760"/>
          </a:xfrm>
          <a:prstGeom prst="rect">
            <a:avLst/>
          </a:prstGeom>
          <a:noFill/>
          <a:ln/>
        </p:spPr>
        <p:txBody>
          <a:bodyPr wrap="square" lIns="0" tIns="0" rIns="0" bIns="0" rtlCol="0" anchor="t">
            <a:normAutofit/>
          </a:bodyPr>
          <a:lstStyle/>
          <a:p>
            <a:pPr marL="0" indent="0">
              <a:buNone/>
            </a:pPr>
            <a:r>
              <a:rPr lang="en-US" sz="1750" i="1" dirty="0" err="1">
                <a:solidFill>
                  <a:srgbClr val="171513"/>
                </a:solidFill>
                <a:latin typeface="EB Garamond" pitchFamily="34" charset="0"/>
                <a:ea typeface="EB Garamond" pitchFamily="34" charset="-122"/>
              </a:rPr>
              <a:t>Commentaire</a:t>
            </a:r>
            <a:r>
              <a:rPr lang="en-US" sz="1750" i="1" dirty="0">
                <a:solidFill>
                  <a:srgbClr val="171513"/>
                </a:solidFill>
                <a:latin typeface="EB Garamond" pitchFamily="34" charset="0"/>
                <a:ea typeface="EB Garamond" pitchFamily="34" charset="-122"/>
              </a:rPr>
              <a:t> client à </a:t>
            </a:r>
            <a:r>
              <a:rPr lang="en-US" sz="1750" i="1" dirty="0" err="1">
                <a:solidFill>
                  <a:srgbClr val="171513"/>
                </a:solidFill>
                <a:latin typeface="EB Garamond" pitchFamily="34" charset="0"/>
                <a:ea typeface="EB Garamond" pitchFamily="34" charset="-122"/>
              </a:rPr>
              <a:t>insérer</a:t>
            </a:r>
            <a:r>
              <a:rPr lang="en-US" sz="1750" i="1" dirty="0">
                <a:solidFill>
                  <a:srgbClr val="171513"/>
                </a:solidFill>
                <a:latin typeface="EB Garamond" pitchFamily="34" charset="0"/>
                <a:ea typeface="EB Garamond" pitchFamily="34" charset="-122"/>
              </a:rPr>
              <a:t> </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658368" y="347472"/>
            <a:ext cx="2926080" cy="201168"/>
          </a:xfrm>
          <a:prstGeom prst="rect">
            <a:avLst/>
          </a:prstGeom>
          <a:noFill/>
          <a:ln/>
        </p:spPr>
        <p:txBody>
          <a:bodyPr wrap="square" lIns="0" tIns="0" rIns="0" bIns="0" rtlCol="0" anchor="ctr">
            <a:normAutofit/>
          </a:bodyPr>
          <a:lstStyle/>
          <a:p>
            <a:pPr marL="0" indent="0" algn="l">
              <a:buNone/>
            </a:pPr>
            <a:r>
              <a:rPr lang="en-US" sz="850" kern="0" spc="200" dirty="0">
                <a:solidFill>
                  <a:srgbClr val="6E5E67"/>
                </a:solidFill>
                <a:latin typeface="Aptos" pitchFamily="34" charset="0"/>
                <a:ea typeface="Aptos" pitchFamily="34" charset="-122"/>
                <a:cs typeface="Aptos" pitchFamily="34" charset="-120"/>
              </a:rPr>
              <a:t>WEDDING COLLECTIONS</a:t>
            </a:r>
            <a:endParaRPr lang="en-US" sz="850" dirty="0"/>
          </a:p>
        </p:txBody>
      </p:sp>
      <p:sp>
        <p:nvSpPr>
          <p:cNvPr id="3" name="Text 1"/>
          <p:cNvSpPr/>
          <p:nvPr/>
        </p:nvSpPr>
        <p:spPr>
          <a:xfrm>
            <a:off x="658368" y="713232"/>
            <a:ext cx="8503920" cy="960120"/>
          </a:xfrm>
          <a:prstGeom prst="rect">
            <a:avLst/>
          </a:prstGeom>
          <a:noFill/>
          <a:ln/>
        </p:spPr>
        <p:txBody>
          <a:bodyPr wrap="square" lIns="0" tIns="0" rIns="0" bIns="0" rtlCol="0" anchor="ctr">
            <a:normAutofit lnSpcReduction="10000"/>
          </a:bodyPr>
          <a:lstStyle/>
          <a:p>
            <a:pPr marL="0" indent="0">
              <a:buNone/>
            </a:pPr>
            <a:r>
              <a:rPr lang="en-US" sz="3300" dirty="0">
                <a:solidFill>
                  <a:srgbClr val="171513"/>
                </a:solidFill>
                <a:ea typeface="GFS Didot" pitchFamily="34" charset="-122"/>
                <a:cs typeface="GFS Didot" pitchFamily="34" charset="-120"/>
              </a:rPr>
              <a:t>Considered collections, </a:t>
            </a:r>
          </a:p>
          <a:p>
            <a:pPr marL="0" indent="0">
              <a:buNone/>
            </a:pPr>
            <a:r>
              <a:rPr lang="en-US" sz="3300" i="1" dirty="0">
                <a:solidFill>
                  <a:srgbClr val="171513"/>
                </a:solidFill>
                <a:ea typeface="GFS Didot" pitchFamily="34" charset="-122"/>
                <a:cs typeface="GFS Didot" pitchFamily="34" charset="-120"/>
              </a:rPr>
              <a:t>tailored to your day.</a:t>
            </a:r>
            <a:endParaRPr lang="en-US" sz="3300" i="1" dirty="0"/>
          </a:p>
        </p:txBody>
      </p:sp>
      <p:sp>
        <p:nvSpPr>
          <p:cNvPr id="5" name="Text 3"/>
          <p:cNvSpPr/>
          <p:nvPr/>
        </p:nvSpPr>
        <p:spPr>
          <a:xfrm>
            <a:off x="658368" y="1828800"/>
            <a:ext cx="5943600" cy="274320"/>
          </a:xfrm>
          <a:prstGeom prst="rect">
            <a:avLst/>
          </a:prstGeom>
          <a:noFill/>
          <a:ln/>
        </p:spPr>
        <p:txBody>
          <a:bodyPr wrap="square" lIns="0" tIns="0" rIns="0" bIns="0" rtlCol="0" anchor="t">
            <a:normAutofit/>
          </a:bodyPr>
          <a:lstStyle/>
          <a:p>
            <a:pPr marL="0" indent="0">
              <a:lnSpc>
                <a:spcPct val="95000"/>
              </a:lnSpc>
              <a:buNone/>
            </a:pPr>
            <a:r>
              <a:rPr lang="en-US" sz="1280" dirty="0">
                <a:solidFill>
                  <a:srgbClr val="6E5E67"/>
                </a:solidFill>
                <a:latin typeface="EB Garamond" pitchFamily="34" charset="0"/>
                <a:ea typeface="EB Garamond" pitchFamily="34" charset="-122"/>
                <a:cs typeface="EB Garamond" pitchFamily="34" charset="-120"/>
              </a:rPr>
              <a:t>Choose the level of coverage that fits your celebration.</a:t>
            </a:r>
            <a:endParaRPr lang="en-US" sz="1280" dirty="0"/>
          </a:p>
        </p:txBody>
      </p:sp>
      <p:sp>
        <p:nvSpPr>
          <p:cNvPr id="6" name="Shape 4"/>
          <p:cNvSpPr/>
          <p:nvPr/>
        </p:nvSpPr>
        <p:spPr>
          <a:xfrm>
            <a:off x="658368" y="2103120"/>
            <a:ext cx="3566160" cy="2176272"/>
          </a:xfrm>
          <a:prstGeom prst="roundRect">
            <a:avLst>
              <a:gd name="adj" fmla="val 2970"/>
            </a:avLst>
          </a:prstGeom>
          <a:solidFill>
            <a:srgbClr val="FAF7F2">
              <a:alpha val="82000"/>
            </a:srgbClr>
          </a:solidFill>
          <a:ln w="9525">
            <a:solidFill>
              <a:srgbClr val="C7BBB0"/>
            </a:solidFill>
            <a:prstDash val="solid"/>
          </a:ln>
        </p:spPr>
        <p:txBody>
          <a:bodyPr/>
          <a:lstStyle/>
          <a:p>
            <a:endParaRPr lang="fr-FR"/>
          </a:p>
        </p:txBody>
      </p:sp>
      <p:sp>
        <p:nvSpPr>
          <p:cNvPr id="7" name="Text 5"/>
          <p:cNvSpPr/>
          <p:nvPr/>
        </p:nvSpPr>
        <p:spPr>
          <a:xfrm>
            <a:off x="886968" y="2322576"/>
            <a:ext cx="3108960" cy="201168"/>
          </a:xfrm>
          <a:prstGeom prst="rect">
            <a:avLst/>
          </a:prstGeom>
          <a:noFill/>
          <a:ln/>
        </p:spPr>
        <p:txBody>
          <a:bodyPr wrap="square" lIns="0" tIns="0" rIns="0" bIns="0" rtlCol="0" anchor="ctr">
            <a:normAutofit/>
          </a:bodyPr>
          <a:lstStyle/>
          <a:p>
            <a:pPr marL="0" indent="0" algn="l">
              <a:buNone/>
            </a:pPr>
            <a:r>
              <a:rPr lang="en-US" sz="850" kern="0" spc="200" dirty="0">
                <a:solidFill>
                  <a:srgbClr val="171513"/>
                </a:solidFill>
                <a:latin typeface="Aptos" pitchFamily="34" charset="0"/>
                <a:ea typeface="Aptos" pitchFamily="34" charset="-122"/>
                <a:cs typeface="Aptos" pitchFamily="34" charset="-120"/>
              </a:rPr>
              <a:t>HALF DAY WEDDING</a:t>
            </a:r>
            <a:endParaRPr lang="en-US" sz="850" dirty="0"/>
          </a:p>
        </p:txBody>
      </p:sp>
      <p:sp>
        <p:nvSpPr>
          <p:cNvPr id="8" name="Text 6"/>
          <p:cNvSpPr/>
          <p:nvPr/>
        </p:nvSpPr>
        <p:spPr>
          <a:xfrm>
            <a:off x="886968" y="2606040"/>
            <a:ext cx="3108960" cy="548640"/>
          </a:xfrm>
          <a:prstGeom prst="rect">
            <a:avLst/>
          </a:prstGeom>
          <a:noFill/>
          <a:ln/>
        </p:spPr>
        <p:txBody>
          <a:bodyPr wrap="square" lIns="0" tIns="0" rIns="0" bIns="0" rtlCol="0" anchor="ctr">
            <a:normAutofit/>
          </a:bodyPr>
          <a:lstStyle/>
          <a:p>
            <a:pPr marL="0" indent="0">
              <a:buNone/>
            </a:pPr>
            <a:r>
              <a:rPr lang="en-US" sz="2700" dirty="0">
                <a:solidFill>
                  <a:srgbClr val="171513"/>
                </a:solidFill>
                <a:ea typeface="GFS Didot" pitchFamily="34" charset="-122"/>
                <a:cs typeface="GFS Didot" pitchFamily="34" charset="-120"/>
              </a:rPr>
              <a:t>CHF 1'500.-</a:t>
            </a:r>
            <a:endParaRPr lang="en-US" sz="2700" dirty="0"/>
          </a:p>
        </p:txBody>
      </p:sp>
      <p:sp>
        <p:nvSpPr>
          <p:cNvPr id="9" name="Text 7"/>
          <p:cNvSpPr/>
          <p:nvPr/>
        </p:nvSpPr>
        <p:spPr>
          <a:xfrm>
            <a:off x="886968" y="3182112"/>
            <a:ext cx="3108960" cy="201168"/>
          </a:xfrm>
          <a:prstGeom prst="rect">
            <a:avLst/>
          </a:prstGeom>
          <a:noFill/>
          <a:ln/>
        </p:spPr>
        <p:txBody>
          <a:bodyPr wrap="square" lIns="0" tIns="0" rIns="0" bIns="0" rtlCol="0" anchor="ctr">
            <a:normAutofit/>
          </a:bodyPr>
          <a:lstStyle/>
          <a:p>
            <a:pPr marL="0" indent="0" algn="l">
              <a:buNone/>
            </a:pPr>
            <a:r>
              <a:rPr lang="en-US" sz="1000" kern="0" spc="200" dirty="0">
                <a:solidFill>
                  <a:srgbClr val="6E5E67"/>
                </a:solidFill>
                <a:latin typeface="Aptos" pitchFamily="34" charset="0"/>
                <a:ea typeface="Aptos" pitchFamily="34" charset="-122"/>
                <a:cs typeface="Aptos" pitchFamily="34" charset="-120"/>
              </a:rPr>
              <a:t>4 HOURS / 180+ IMAGES</a:t>
            </a:r>
            <a:endParaRPr lang="en-US" sz="1000" dirty="0"/>
          </a:p>
        </p:txBody>
      </p:sp>
      <p:sp>
        <p:nvSpPr>
          <p:cNvPr id="10" name="Shape 8"/>
          <p:cNvSpPr/>
          <p:nvPr/>
        </p:nvSpPr>
        <p:spPr>
          <a:xfrm>
            <a:off x="886968" y="3520440"/>
            <a:ext cx="3108960" cy="0"/>
          </a:xfrm>
          <a:prstGeom prst="line">
            <a:avLst/>
          </a:prstGeom>
          <a:noFill/>
          <a:ln w="8255">
            <a:solidFill>
              <a:srgbClr val="C7BBB0"/>
            </a:solidFill>
            <a:prstDash val="solid"/>
          </a:ln>
        </p:spPr>
        <p:txBody>
          <a:bodyPr/>
          <a:lstStyle/>
          <a:p>
            <a:endParaRPr lang="fr-FR"/>
          </a:p>
        </p:txBody>
      </p:sp>
      <p:sp>
        <p:nvSpPr>
          <p:cNvPr id="11" name="Text 9"/>
          <p:cNvSpPr/>
          <p:nvPr/>
        </p:nvSpPr>
        <p:spPr>
          <a:xfrm>
            <a:off x="886968" y="3703319"/>
            <a:ext cx="3108960" cy="448053"/>
          </a:xfrm>
          <a:prstGeom prst="rect">
            <a:avLst/>
          </a:prstGeom>
          <a:noFill/>
          <a:ln/>
        </p:spPr>
        <p:txBody>
          <a:bodyPr wrap="square" lIns="0" tIns="0" rIns="0" bIns="0" rtlCol="0" anchor="t">
            <a:noAutofit/>
          </a:bodyPr>
          <a:lstStyle/>
          <a:p>
            <a:pPr marL="0" indent="0">
              <a:lnSpc>
                <a:spcPct val="92000"/>
              </a:lnSpc>
              <a:buNone/>
            </a:pPr>
            <a:r>
              <a:rPr lang="en-US" sz="1200" dirty="0">
                <a:solidFill>
                  <a:srgbClr val="6E5E67"/>
                </a:solidFill>
                <a:latin typeface="EB Garamond" pitchFamily="34" charset="0"/>
                <a:ea typeface="EB Garamond" pitchFamily="34" charset="-122"/>
                <a:cs typeface="EB Garamond" pitchFamily="34" charset="-120"/>
              </a:rPr>
              <a:t>A focused coverage of the key chapters – ideal when you want depth without documenting the entire day.</a:t>
            </a:r>
            <a:endParaRPr lang="en-US" sz="1200" dirty="0"/>
          </a:p>
        </p:txBody>
      </p:sp>
      <p:sp>
        <p:nvSpPr>
          <p:cNvPr id="12" name="Shape 10"/>
          <p:cNvSpPr/>
          <p:nvPr/>
        </p:nvSpPr>
        <p:spPr>
          <a:xfrm>
            <a:off x="4407408" y="2103119"/>
            <a:ext cx="3566160" cy="2176271"/>
          </a:xfrm>
          <a:prstGeom prst="roundRect">
            <a:avLst>
              <a:gd name="adj" fmla="val 2970"/>
            </a:avLst>
          </a:prstGeom>
          <a:solidFill>
            <a:srgbClr val="FAF7F2">
              <a:alpha val="82000"/>
            </a:srgbClr>
          </a:solidFill>
          <a:ln w="9525">
            <a:solidFill>
              <a:srgbClr val="C7BBB0"/>
            </a:solidFill>
            <a:prstDash val="solid"/>
          </a:ln>
        </p:spPr>
        <p:txBody>
          <a:bodyPr/>
          <a:lstStyle/>
          <a:p>
            <a:endParaRPr lang="fr-FR"/>
          </a:p>
        </p:txBody>
      </p:sp>
      <p:sp>
        <p:nvSpPr>
          <p:cNvPr id="13" name="Text 11"/>
          <p:cNvSpPr/>
          <p:nvPr/>
        </p:nvSpPr>
        <p:spPr>
          <a:xfrm>
            <a:off x="4636008" y="2322576"/>
            <a:ext cx="3108960" cy="201168"/>
          </a:xfrm>
          <a:prstGeom prst="rect">
            <a:avLst/>
          </a:prstGeom>
          <a:noFill/>
          <a:ln/>
        </p:spPr>
        <p:txBody>
          <a:bodyPr wrap="square" lIns="0" tIns="0" rIns="0" bIns="0" rtlCol="0" anchor="ctr">
            <a:normAutofit/>
          </a:bodyPr>
          <a:lstStyle/>
          <a:p>
            <a:pPr marL="0" indent="0" algn="l">
              <a:buNone/>
            </a:pPr>
            <a:r>
              <a:rPr lang="en-US" sz="850" kern="0" spc="200" dirty="0">
                <a:solidFill>
                  <a:srgbClr val="171513"/>
                </a:solidFill>
                <a:latin typeface="Aptos" pitchFamily="34" charset="0"/>
                <a:ea typeface="Aptos" pitchFamily="34" charset="-122"/>
                <a:cs typeface="Aptos" pitchFamily="34" charset="-120"/>
              </a:rPr>
              <a:t>FULL DAY WEDDING</a:t>
            </a:r>
            <a:endParaRPr lang="en-US" sz="850" dirty="0"/>
          </a:p>
        </p:txBody>
      </p:sp>
      <p:sp>
        <p:nvSpPr>
          <p:cNvPr id="14" name="Text 12"/>
          <p:cNvSpPr/>
          <p:nvPr/>
        </p:nvSpPr>
        <p:spPr>
          <a:xfrm>
            <a:off x="4636008" y="2606040"/>
            <a:ext cx="3108960" cy="548640"/>
          </a:xfrm>
          <a:prstGeom prst="rect">
            <a:avLst/>
          </a:prstGeom>
          <a:noFill/>
          <a:ln/>
        </p:spPr>
        <p:txBody>
          <a:bodyPr wrap="square" lIns="0" tIns="0" rIns="0" bIns="0" rtlCol="0" anchor="ctr">
            <a:normAutofit/>
          </a:bodyPr>
          <a:lstStyle/>
          <a:p>
            <a:pPr marL="0" indent="0">
              <a:buNone/>
            </a:pPr>
            <a:r>
              <a:rPr lang="en-US" sz="2700" dirty="0">
                <a:solidFill>
                  <a:srgbClr val="171513"/>
                </a:solidFill>
                <a:ea typeface="GFS Didot" pitchFamily="34" charset="-122"/>
                <a:cs typeface="GFS Didot" pitchFamily="34" charset="-120"/>
              </a:rPr>
              <a:t>CHF 2'700.-</a:t>
            </a:r>
            <a:endParaRPr lang="en-US" sz="2700" dirty="0"/>
          </a:p>
        </p:txBody>
      </p:sp>
      <p:sp>
        <p:nvSpPr>
          <p:cNvPr id="15" name="Text 13"/>
          <p:cNvSpPr/>
          <p:nvPr/>
        </p:nvSpPr>
        <p:spPr>
          <a:xfrm>
            <a:off x="4636008" y="3182112"/>
            <a:ext cx="3108960" cy="201168"/>
          </a:xfrm>
          <a:prstGeom prst="rect">
            <a:avLst/>
          </a:prstGeom>
          <a:noFill/>
          <a:ln/>
        </p:spPr>
        <p:txBody>
          <a:bodyPr wrap="square" lIns="0" tIns="0" rIns="0" bIns="0" rtlCol="0" anchor="ctr">
            <a:normAutofit/>
          </a:bodyPr>
          <a:lstStyle/>
          <a:p>
            <a:pPr marL="0" indent="0" algn="l">
              <a:buNone/>
            </a:pPr>
            <a:r>
              <a:rPr lang="en-US" sz="1000" kern="0" spc="200" dirty="0">
                <a:solidFill>
                  <a:srgbClr val="6E5E67"/>
                </a:solidFill>
                <a:latin typeface="Aptos" pitchFamily="34" charset="0"/>
                <a:ea typeface="Aptos" pitchFamily="34" charset="-122"/>
                <a:cs typeface="Aptos" pitchFamily="34" charset="-120"/>
              </a:rPr>
              <a:t>8 HOURS / 400+ IMAGES</a:t>
            </a:r>
            <a:endParaRPr lang="en-US" sz="1000" dirty="0"/>
          </a:p>
        </p:txBody>
      </p:sp>
      <p:sp>
        <p:nvSpPr>
          <p:cNvPr id="16" name="Shape 14"/>
          <p:cNvSpPr/>
          <p:nvPr/>
        </p:nvSpPr>
        <p:spPr>
          <a:xfrm>
            <a:off x="4636008" y="3520440"/>
            <a:ext cx="3108960" cy="0"/>
          </a:xfrm>
          <a:prstGeom prst="line">
            <a:avLst/>
          </a:prstGeom>
          <a:noFill/>
          <a:ln w="8255">
            <a:solidFill>
              <a:srgbClr val="C7BBB0"/>
            </a:solidFill>
            <a:prstDash val="solid"/>
          </a:ln>
        </p:spPr>
        <p:txBody>
          <a:bodyPr/>
          <a:lstStyle/>
          <a:p>
            <a:endParaRPr lang="fr-FR"/>
          </a:p>
        </p:txBody>
      </p:sp>
      <p:sp>
        <p:nvSpPr>
          <p:cNvPr id="17" name="Text 15"/>
          <p:cNvSpPr/>
          <p:nvPr/>
        </p:nvSpPr>
        <p:spPr>
          <a:xfrm>
            <a:off x="4636008" y="3691768"/>
            <a:ext cx="3108960" cy="541903"/>
          </a:xfrm>
          <a:prstGeom prst="rect">
            <a:avLst/>
          </a:prstGeom>
          <a:noFill/>
          <a:ln/>
        </p:spPr>
        <p:txBody>
          <a:bodyPr wrap="square" lIns="0" tIns="0" rIns="0" bIns="0" rtlCol="0" anchor="t">
            <a:noAutofit/>
          </a:bodyPr>
          <a:lstStyle/>
          <a:p>
            <a:pPr marL="0" indent="0">
              <a:lnSpc>
                <a:spcPct val="92000"/>
              </a:lnSpc>
              <a:buNone/>
            </a:pPr>
            <a:r>
              <a:rPr lang="en-US" sz="1200" dirty="0">
                <a:solidFill>
                  <a:srgbClr val="6E5E67"/>
                </a:solidFill>
                <a:latin typeface="EB Garamond" pitchFamily="34" charset="0"/>
                <a:ea typeface="EB Garamond" pitchFamily="34" charset="-122"/>
                <a:cs typeface="EB Garamond" pitchFamily="34" charset="-120"/>
              </a:rPr>
              <a:t>The complete rhythm of the day, from the quieter beginning to the celebration, with space for details, people and everything in between.</a:t>
            </a:r>
            <a:endParaRPr lang="en-US" sz="1200" dirty="0"/>
          </a:p>
        </p:txBody>
      </p:sp>
      <p:sp>
        <p:nvSpPr>
          <p:cNvPr id="18" name="Shape 16"/>
          <p:cNvSpPr/>
          <p:nvPr/>
        </p:nvSpPr>
        <p:spPr>
          <a:xfrm>
            <a:off x="8156448" y="2103120"/>
            <a:ext cx="3364992" cy="2176270"/>
          </a:xfrm>
          <a:prstGeom prst="roundRect">
            <a:avLst>
              <a:gd name="adj" fmla="val 2970"/>
            </a:avLst>
          </a:prstGeom>
          <a:solidFill>
            <a:srgbClr val="EFE8DF">
              <a:alpha val="97000"/>
            </a:srgbClr>
          </a:solidFill>
          <a:ln w="9525">
            <a:solidFill>
              <a:srgbClr val="C7BBB0"/>
            </a:solidFill>
            <a:prstDash val="solid"/>
          </a:ln>
        </p:spPr>
        <p:txBody>
          <a:bodyPr/>
          <a:lstStyle/>
          <a:p>
            <a:endParaRPr lang="fr-FR"/>
          </a:p>
        </p:txBody>
      </p:sp>
      <p:sp>
        <p:nvSpPr>
          <p:cNvPr id="19" name="Text 17"/>
          <p:cNvSpPr/>
          <p:nvPr/>
        </p:nvSpPr>
        <p:spPr>
          <a:xfrm>
            <a:off x="8385048" y="2322576"/>
            <a:ext cx="2907792" cy="201168"/>
          </a:xfrm>
          <a:prstGeom prst="rect">
            <a:avLst/>
          </a:prstGeom>
          <a:noFill/>
          <a:ln/>
        </p:spPr>
        <p:txBody>
          <a:bodyPr wrap="square" lIns="0" tIns="0" rIns="0" bIns="0" rtlCol="0" anchor="ctr">
            <a:normAutofit/>
          </a:bodyPr>
          <a:lstStyle/>
          <a:p>
            <a:pPr marL="0" indent="0" algn="l">
              <a:buNone/>
            </a:pPr>
            <a:r>
              <a:rPr lang="en-US" sz="850" kern="0" spc="200" dirty="0">
                <a:solidFill>
                  <a:srgbClr val="171513"/>
                </a:solidFill>
                <a:latin typeface="Aptos" pitchFamily="34" charset="0"/>
                <a:ea typeface="Aptos" pitchFamily="34" charset="-122"/>
                <a:cs typeface="Aptos" pitchFamily="34" charset="-120"/>
              </a:rPr>
              <a:t>EXTENDED WEDDING</a:t>
            </a:r>
            <a:endParaRPr lang="en-US" sz="850" dirty="0"/>
          </a:p>
        </p:txBody>
      </p:sp>
      <p:sp>
        <p:nvSpPr>
          <p:cNvPr id="20" name="Text 18"/>
          <p:cNvSpPr/>
          <p:nvPr/>
        </p:nvSpPr>
        <p:spPr>
          <a:xfrm>
            <a:off x="8385048" y="2606040"/>
            <a:ext cx="2907792" cy="548640"/>
          </a:xfrm>
          <a:prstGeom prst="rect">
            <a:avLst/>
          </a:prstGeom>
          <a:noFill/>
          <a:ln/>
        </p:spPr>
        <p:txBody>
          <a:bodyPr wrap="square" lIns="0" tIns="0" rIns="0" bIns="0" rtlCol="0" anchor="ctr">
            <a:normAutofit/>
          </a:bodyPr>
          <a:lstStyle/>
          <a:p>
            <a:pPr marL="0" indent="0">
              <a:buNone/>
            </a:pPr>
            <a:r>
              <a:rPr lang="en-US" sz="2700" dirty="0">
                <a:solidFill>
                  <a:srgbClr val="171513"/>
                </a:solidFill>
                <a:ea typeface="GFS Didot" pitchFamily="34" charset="-122"/>
                <a:cs typeface="GFS Didot" pitchFamily="34" charset="-120"/>
              </a:rPr>
              <a:t>CHF 3'200.-</a:t>
            </a:r>
            <a:endParaRPr lang="en-US" sz="2700" dirty="0"/>
          </a:p>
        </p:txBody>
      </p:sp>
      <p:sp>
        <p:nvSpPr>
          <p:cNvPr id="21" name="Text 19"/>
          <p:cNvSpPr/>
          <p:nvPr/>
        </p:nvSpPr>
        <p:spPr>
          <a:xfrm>
            <a:off x="8385048" y="3182112"/>
            <a:ext cx="2907792" cy="201168"/>
          </a:xfrm>
          <a:prstGeom prst="rect">
            <a:avLst/>
          </a:prstGeom>
          <a:noFill/>
          <a:ln/>
        </p:spPr>
        <p:txBody>
          <a:bodyPr wrap="square" lIns="0" tIns="0" rIns="0" bIns="0" rtlCol="0" anchor="ctr">
            <a:normAutofit/>
          </a:bodyPr>
          <a:lstStyle/>
          <a:p>
            <a:pPr marL="0" indent="0" algn="l">
              <a:buNone/>
            </a:pPr>
            <a:r>
              <a:rPr lang="en-US" sz="1000" kern="0" spc="200" dirty="0">
                <a:solidFill>
                  <a:srgbClr val="6E5E67"/>
                </a:solidFill>
                <a:latin typeface="Aptos" pitchFamily="34" charset="0"/>
                <a:ea typeface="Aptos" pitchFamily="34" charset="-122"/>
                <a:cs typeface="Aptos" pitchFamily="34" charset="-120"/>
              </a:rPr>
              <a:t>10 HOURS / 600+ IMAGES</a:t>
            </a:r>
            <a:endParaRPr lang="en-US" sz="1000" dirty="0"/>
          </a:p>
        </p:txBody>
      </p:sp>
      <p:sp>
        <p:nvSpPr>
          <p:cNvPr id="22" name="Shape 20"/>
          <p:cNvSpPr/>
          <p:nvPr/>
        </p:nvSpPr>
        <p:spPr>
          <a:xfrm>
            <a:off x="8385048" y="3520440"/>
            <a:ext cx="2907792" cy="0"/>
          </a:xfrm>
          <a:prstGeom prst="line">
            <a:avLst/>
          </a:prstGeom>
          <a:noFill/>
          <a:ln w="8255">
            <a:solidFill>
              <a:srgbClr val="C7BBB0"/>
            </a:solidFill>
            <a:prstDash val="solid"/>
          </a:ln>
        </p:spPr>
        <p:txBody>
          <a:bodyPr/>
          <a:lstStyle/>
          <a:p>
            <a:endParaRPr lang="fr-FR"/>
          </a:p>
        </p:txBody>
      </p:sp>
      <p:sp>
        <p:nvSpPr>
          <p:cNvPr id="23" name="Text 21"/>
          <p:cNvSpPr/>
          <p:nvPr/>
        </p:nvSpPr>
        <p:spPr>
          <a:xfrm>
            <a:off x="8385048" y="3703319"/>
            <a:ext cx="2907792" cy="393187"/>
          </a:xfrm>
          <a:prstGeom prst="rect">
            <a:avLst/>
          </a:prstGeom>
          <a:noFill/>
          <a:ln/>
        </p:spPr>
        <p:txBody>
          <a:bodyPr wrap="square" lIns="0" tIns="0" rIns="0" bIns="0" rtlCol="0" anchor="t">
            <a:noAutofit/>
          </a:bodyPr>
          <a:lstStyle/>
          <a:p>
            <a:pPr marL="0" indent="0">
              <a:lnSpc>
                <a:spcPct val="92000"/>
              </a:lnSpc>
              <a:buNone/>
            </a:pPr>
            <a:r>
              <a:rPr lang="en-US" sz="1200" dirty="0">
                <a:solidFill>
                  <a:srgbClr val="6E5E67"/>
                </a:solidFill>
                <a:latin typeface="EB Garamond" pitchFamily="34" charset="0"/>
                <a:ea typeface="EB Garamond" pitchFamily="34" charset="-122"/>
                <a:cs typeface="EB Garamond" pitchFamily="34" charset="-120"/>
              </a:rPr>
              <a:t>An extended story of your celebration – from preparations to the late evening atmosphere, captured with a calm and consistent presence.</a:t>
            </a:r>
            <a:endParaRPr lang="en-US" sz="1200" dirty="0"/>
          </a:p>
        </p:txBody>
      </p:sp>
      <p:sp>
        <p:nvSpPr>
          <p:cNvPr id="24" name="Shape 22"/>
          <p:cNvSpPr/>
          <p:nvPr/>
        </p:nvSpPr>
        <p:spPr>
          <a:xfrm>
            <a:off x="649224" y="4992624"/>
            <a:ext cx="10863072" cy="749808"/>
          </a:xfrm>
          <a:prstGeom prst="roundRect">
            <a:avLst>
              <a:gd name="adj" fmla="val 7317"/>
            </a:avLst>
          </a:prstGeom>
          <a:solidFill>
            <a:srgbClr val="EEE7DE"/>
          </a:solidFill>
          <a:ln w="12700">
            <a:solidFill>
              <a:srgbClr val="EEE7DE">
                <a:alpha val="0"/>
              </a:srgbClr>
            </a:solidFill>
            <a:prstDash val="solid"/>
          </a:ln>
        </p:spPr>
        <p:txBody>
          <a:bodyPr/>
          <a:lstStyle/>
          <a:p>
            <a:endParaRPr lang="fr-FR"/>
          </a:p>
        </p:txBody>
      </p:sp>
      <p:sp>
        <p:nvSpPr>
          <p:cNvPr id="25" name="Text 23"/>
          <p:cNvSpPr/>
          <p:nvPr/>
        </p:nvSpPr>
        <p:spPr>
          <a:xfrm>
            <a:off x="4636008" y="5166360"/>
            <a:ext cx="2743200" cy="201168"/>
          </a:xfrm>
          <a:prstGeom prst="rect">
            <a:avLst/>
          </a:prstGeom>
          <a:noFill/>
          <a:ln/>
        </p:spPr>
        <p:txBody>
          <a:bodyPr wrap="square" lIns="0" tIns="0" rIns="0" bIns="0" rtlCol="0" anchor="ctr">
            <a:normAutofit/>
          </a:bodyPr>
          <a:lstStyle/>
          <a:p>
            <a:pPr marL="0" indent="0" algn="ctr">
              <a:buNone/>
            </a:pPr>
            <a:r>
              <a:rPr lang="en-US" sz="850" kern="0" spc="200" dirty="0">
                <a:solidFill>
                  <a:srgbClr val="171513"/>
                </a:solidFill>
                <a:latin typeface="Aptos" pitchFamily="34" charset="0"/>
                <a:ea typeface="Aptos" pitchFamily="34" charset="-122"/>
                <a:cs typeface="Aptos" pitchFamily="34" charset="-120"/>
              </a:rPr>
              <a:t>EVERY COLLECTION INCLUDES</a:t>
            </a:r>
            <a:endParaRPr lang="en-US" sz="850" dirty="0"/>
          </a:p>
        </p:txBody>
      </p:sp>
      <p:sp>
        <p:nvSpPr>
          <p:cNvPr id="26" name="Text 24"/>
          <p:cNvSpPr/>
          <p:nvPr/>
        </p:nvSpPr>
        <p:spPr>
          <a:xfrm>
            <a:off x="777240" y="5367528"/>
            <a:ext cx="10515600" cy="219456"/>
          </a:xfrm>
          <a:prstGeom prst="rect">
            <a:avLst/>
          </a:prstGeom>
          <a:noFill/>
          <a:ln/>
        </p:spPr>
        <p:txBody>
          <a:bodyPr wrap="square" lIns="0" tIns="0" rIns="0" bIns="0" rtlCol="0" anchor="ctr">
            <a:normAutofit/>
          </a:bodyPr>
          <a:lstStyle/>
          <a:p>
            <a:pPr marL="0" indent="0" algn="ctr">
              <a:buNone/>
            </a:pPr>
            <a:r>
              <a:rPr lang="en-US" sz="1180" dirty="0">
                <a:solidFill>
                  <a:srgbClr val="171513"/>
                </a:solidFill>
                <a:latin typeface="EB Garamond" pitchFamily="34" charset="0"/>
                <a:ea typeface="EB Garamond" pitchFamily="34" charset="-122"/>
                <a:cs typeface="EB Garamond" pitchFamily="34" charset="-120"/>
              </a:rPr>
              <a:t>Private online gallery     |     High-resolution individually edited images     |     Printing rights     |     Travel within Switzerland</a:t>
            </a:r>
            <a:endParaRPr lang="en-US" sz="1180" dirty="0"/>
          </a:p>
        </p:txBody>
      </p:sp>
      <p:sp>
        <p:nvSpPr>
          <p:cNvPr id="27" name="Shape 25"/>
          <p:cNvSpPr/>
          <p:nvPr/>
        </p:nvSpPr>
        <p:spPr>
          <a:xfrm>
            <a:off x="658368" y="6016752"/>
            <a:ext cx="10863072" cy="493776"/>
          </a:xfrm>
          <a:prstGeom prst="roundRect">
            <a:avLst>
              <a:gd name="adj" fmla="val 9259"/>
            </a:avLst>
          </a:prstGeom>
          <a:solidFill>
            <a:srgbClr val="252422"/>
          </a:solidFill>
          <a:ln w="12700">
            <a:solidFill>
              <a:srgbClr val="201F1D">
                <a:alpha val="0"/>
              </a:srgbClr>
            </a:solidFill>
            <a:prstDash val="solid"/>
          </a:ln>
        </p:spPr>
        <p:txBody>
          <a:bodyPr/>
          <a:lstStyle/>
          <a:p>
            <a:endParaRPr lang="fr-FR"/>
          </a:p>
        </p:txBody>
      </p:sp>
      <p:sp>
        <p:nvSpPr>
          <p:cNvPr id="28" name="Text 26"/>
          <p:cNvSpPr/>
          <p:nvPr/>
        </p:nvSpPr>
        <p:spPr>
          <a:xfrm>
            <a:off x="822960" y="6163056"/>
            <a:ext cx="3108960" cy="201168"/>
          </a:xfrm>
          <a:prstGeom prst="rect">
            <a:avLst/>
          </a:prstGeom>
          <a:noFill/>
          <a:ln/>
        </p:spPr>
        <p:txBody>
          <a:bodyPr wrap="square" lIns="0" tIns="0" rIns="0" bIns="0" rtlCol="0" anchor="ctr">
            <a:normAutofit/>
          </a:bodyPr>
          <a:lstStyle/>
          <a:p>
            <a:pPr marL="0" indent="0" algn="l">
              <a:buNone/>
            </a:pPr>
            <a:r>
              <a:rPr lang="en-US" sz="900" kern="0" spc="200" dirty="0">
                <a:solidFill>
                  <a:srgbClr val="F7F3EC"/>
                </a:solidFill>
                <a:latin typeface="Aptos" pitchFamily="34" charset="0"/>
                <a:ea typeface="Aptos" pitchFamily="34" charset="-122"/>
                <a:cs typeface="Aptos" pitchFamily="34" charset="-120"/>
              </a:rPr>
              <a:t>ADDITIONAL HOUR</a:t>
            </a:r>
            <a:endParaRPr lang="en-US" sz="900" dirty="0"/>
          </a:p>
        </p:txBody>
      </p:sp>
      <p:sp>
        <p:nvSpPr>
          <p:cNvPr id="29" name="Text 27"/>
          <p:cNvSpPr/>
          <p:nvPr/>
        </p:nvSpPr>
        <p:spPr>
          <a:xfrm>
            <a:off x="9052560" y="6130331"/>
            <a:ext cx="2240280" cy="256032"/>
          </a:xfrm>
          <a:prstGeom prst="rect">
            <a:avLst/>
          </a:prstGeom>
          <a:noFill/>
          <a:ln/>
        </p:spPr>
        <p:txBody>
          <a:bodyPr wrap="square" lIns="0" tIns="0" rIns="0" bIns="0" rtlCol="0" anchor="ctr"/>
          <a:lstStyle/>
          <a:p>
            <a:pPr marL="0" indent="0" algn="r">
              <a:buNone/>
            </a:pPr>
            <a:r>
              <a:rPr lang="en-US" sz="1600" dirty="0">
                <a:solidFill>
                  <a:srgbClr val="F7F3EC"/>
                </a:solidFill>
                <a:latin typeface="Goudy Old Style" panose="02020502050305020303" pitchFamily="18" charset="77"/>
                <a:ea typeface="GFS Didot" pitchFamily="34" charset="-122"/>
                <a:cs typeface="GFS Didot" pitchFamily="34" charset="-120"/>
              </a:rPr>
              <a:t>CHF 350.- / h</a:t>
            </a:r>
            <a:endParaRPr lang="en-US" sz="1600" dirty="0">
              <a:latin typeface="Goudy Old Style" panose="02020502050305020303" pitchFamily="18" charset="77"/>
            </a:endParaRPr>
          </a:p>
        </p:txBody>
      </p:sp>
      <p:sp>
        <p:nvSpPr>
          <p:cNvPr id="31" name="Text 29"/>
          <p:cNvSpPr/>
          <p:nvPr/>
        </p:nvSpPr>
        <p:spPr>
          <a:xfrm>
            <a:off x="11658600" y="6565392"/>
            <a:ext cx="365760" cy="137160"/>
          </a:xfrm>
          <a:prstGeom prst="rect">
            <a:avLst/>
          </a:prstGeom>
          <a:noFill/>
          <a:ln/>
        </p:spPr>
        <p:txBody>
          <a:bodyPr wrap="square" lIns="0" tIns="0" rIns="0" bIns="0" rtlCol="0" anchor="ctr"/>
          <a:lstStyle/>
          <a:p>
            <a:pPr marL="0" indent="0" algn="r">
              <a:buNone/>
            </a:pPr>
            <a:r>
              <a:rPr lang="en-US" sz="800" dirty="0">
                <a:solidFill>
                  <a:srgbClr val="6E5E67"/>
                </a:solidFill>
                <a:latin typeface="Aptos" pitchFamily="34" charset="0"/>
                <a:ea typeface="Aptos" pitchFamily="34" charset="-122"/>
                <a:cs typeface="Aptos" pitchFamily="34" charset="-120"/>
              </a:rPr>
              <a:t>07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a:effectLst/>
      </p:bgPr>
    </p:bg>
    <p:spTree>
      <p:nvGrpSpPr>
        <p:cNvPr id="1" name=""/>
        <p:cNvGrpSpPr/>
        <p:nvPr/>
      </p:nvGrpSpPr>
      <p:grpSpPr>
        <a:xfrm>
          <a:off x="0" y="0"/>
          <a:ext cx="0" cy="0"/>
          <a:chOff x="0" y="0"/>
          <a:chExt cx="0" cy="0"/>
        </a:xfrm>
      </p:grpSpPr>
      <p:sp>
        <p:nvSpPr>
          <p:cNvPr id="2" name="Text 0"/>
          <p:cNvSpPr/>
          <p:nvPr/>
        </p:nvSpPr>
        <p:spPr>
          <a:xfrm>
            <a:off x="658368" y="347472"/>
            <a:ext cx="5486400" cy="201168"/>
          </a:xfrm>
          <a:prstGeom prst="rect">
            <a:avLst/>
          </a:prstGeom>
          <a:noFill/>
          <a:ln/>
        </p:spPr>
        <p:txBody>
          <a:bodyPr wrap="square" lIns="0" tIns="0" rIns="0" bIns="0" rtlCol="0" anchor="ctr">
            <a:normAutofit/>
          </a:bodyPr>
          <a:lstStyle/>
          <a:p>
            <a:pPr marL="0" indent="0" algn="l">
              <a:buNone/>
            </a:pPr>
            <a:r>
              <a:rPr lang="en-US" sz="1000" kern="0" spc="200" dirty="0">
                <a:solidFill>
                  <a:srgbClr val="6E5E67"/>
                </a:solidFill>
                <a:latin typeface="Aptos" pitchFamily="34" charset="0"/>
                <a:ea typeface="Aptos" pitchFamily="34" charset="-122"/>
                <a:cs typeface="Aptos" pitchFamily="34" charset="-120"/>
              </a:rPr>
              <a:t>CIVIL CEREMONY &amp; INTIMATE CELEBRATIONS</a:t>
            </a:r>
            <a:endParaRPr lang="en-US" sz="1000" dirty="0"/>
          </a:p>
        </p:txBody>
      </p:sp>
      <p:sp>
        <p:nvSpPr>
          <p:cNvPr id="3" name="Text 1"/>
          <p:cNvSpPr/>
          <p:nvPr/>
        </p:nvSpPr>
        <p:spPr>
          <a:xfrm>
            <a:off x="658368" y="713232"/>
            <a:ext cx="7863840" cy="932690"/>
          </a:xfrm>
          <a:prstGeom prst="rect">
            <a:avLst/>
          </a:prstGeom>
          <a:noFill/>
          <a:ln/>
        </p:spPr>
        <p:txBody>
          <a:bodyPr wrap="square" lIns="0" tIns="0" rIns="0" bIns="0" rtlCol="0" anchor="ctr">
            <a:normAutofit fontScale="92500" lnSpcReduction="10000"/>
          </a:bodyPr>
          <a:lstStyle/>
          <a:p>
            <a:pPr marL="0" indent="0">
              <a:buNone/>
            </a:pPr>
            <a:r>
              <a:rPr lang="en-US" sz="3300" dirty="0">
                <a:solidFill>
                  <a:srgbClr val="171513"/>
                </a:solidFill>
                <a:ea typeface="GFS Didot" pitchFamily="34" charset="-122"/>
                <a:cs typeface="GFS Didot" pitchFamily="34" charset="-120"/>
              </a:rPr>
              <a:t>For the chapters shaped by</a:t>
            </a:r>
          </a:p>
          <a:p>
            <a:pPr marL="0" indent="0">
              <a:buNone/>
            </a:pPr>
            <a:r>
              <a:rPr lang="en-US" sz="3300" i="1" dirty="0">
                <a:solidFill>
                  <a:srgbClr val="171513"/>
                </a:solidFill>
                <a:ea typeface="GFS Didot" pitchFamily="34" charset="-122"/>
              </a:rPr>
              <a:t>intimacy and intention.</a:t>
            </a:r>
            <a:endParaRPr lang="en-US" sz="3300" i="1" dirty="0"/>
          </a:p>
        </p:txBody>
      </p:sp>
      <p:sp>
        <p:nvSpPr>
          <p:cNvPr id="5" name="Text 3"/>
          <p:cNvSpPr/>
          <p:nvPr/>
        </p:nvSpPr>
        <p:spPr>
          <a:xfrm>
            <a:off x="658368" y="1828800"/>
            <a:ext cx="7315200" cy="274320"/>
          </a:xfrm>
          <a:prstGeom prst="rect">
            <a:avLst/>
          </a:prstGeom>
          <a:noFill/>
          <a:ln/>
        </p:spPr>
        <p:txBody>
          <a:bodyPr wrap="square" lIns="0" tIns="0" rIns="0" bIns="0" rtlCol="0" anchor="t">
            <a:normAutofit/>
          </a:bodyPr>
          <a:lstStyle/>
          <a:p>
            <a:pPr marL="0" indent="0">
              <a:lnSpc>
                <a:spcPct val="95000"/>
              </a:lnSpc>
              <a:buNone/>
            </a:pPr>
            <a:r>
              <a:rPr lang="en-US" sz="1280" dirty="0">
                <a:solidFill>
                  <a:srgbClr val="6E5E67"/>
                </a:solidFill>
                <a:latin typeface="EB Garamond" pitchFamily="34" charset="0"/>
                <a:ea typeface="EB Garamond" pitchFamily="34" charset="-122"/>
                <a:cs typeface="EB Garamond" pitchFamily="34" charset="-120"/>
              </a:rPr>
              <a:t>Thoughtful coverage for more intimate celebrations, in Lausanne and throughout Switzerland.</a:t>
            </a:r>
            <a:endParaRPr lang="en-US" sz="1280" dirty="0"/>
          </a:p>
        </p:txBody>
      </p:sp>
      <p:sp>
        <p:nvSpPr>
          <p:cNvPr id="6" name="Shape 4"/>
          <p:cNvSpPr/>
          <p:nvPr/>
        </p:nvSpPr>
        <p:spPr>
          <a:xfrm>
            <a:off x="658368" y="2121407"/>
            <a:ext cx="5230368" cy="2441449"/>
          </a:xfrm>
          <a:prstGeom prst="roundRect">
            <a:avLst>
              <a:gd name="adj" fmla="val 2553"/>
            </a:avLst>
          </a:prstGeom>
          <a:solidFill>
            <a:srgbClr val="FAF7F2">
              <a:alpha val="82000"/>
            </a:srgbClr>
          </a:solidFill>
          <a:ln w="9525">
            <a:solidFill>
              <a:srgbClr val="C7BBB0"/>
            </a:solidFill>
            <a:prstDash val="solid"/>
          </a:ln>
        </p:spPr>
        <p:txBody>
          <a:bodyPr/>
          <a:lstStyle/>
          <a:p>
            <a:endParaRPr lang="fr-FR"/>
          </a:p>
        </p:txBody>
      </p:sp>
      <p:sp>
        <p:nvSpPr>
          <p:cNvPr id="7" name="Text 5"/>
          <p:cNvSpPr/>
          <p:nvPr/>
        </p:nvSpPr>
        <p:spPr>
          <a:xfrm>
            <a:off x="886968" y="2340864"/>
            <a:ext cx="4773168" cy="201168"/>
          </a:xfrm>
          <a:prstGeom prst="rect">
            <a:avLst/>
          </a:prstGeom>
          <a:noFill/>
          <a:ln/>
        </p:spPr>
        <p:txBody>
          <a:bodyPr wrap="square" lIns="0" tIns="0" rIns="0" bIns="0" rtlCol="0" anchor="ctr">
            <a:normAutofit/>
          </a:bodyPr>
          <a:lstStyle/>
          <a:p>
            <a:pPr marL="0" indent="0" algn="l">
              <a:buNone/>
            </a:pPr>
            <a:r>
              <a:rPr lang="en-US" sz="850" kern="0" spc="200" dirty="0">
                <a:solidFill>
                  <a:srgbClr val="171513"/>
                </a:solidFill>
                <a:latin typeface="Aptos" pitchFamily="34" charset="0"/>
                <a:ea typeface="Aptos" pitchFamily="34" charset="-122"/>
                <a:cs typeface="Aptos" pitchFamily="34" charset="-120"/>
              </a:rPr>
              <a:t>CIVIL CEREMONY</a:t>
            </a:r>
            <a:endParaRPr lang="en-US" sz="850" dirty="0"/>
          </a:p>
        </p:txBody>
      </p:sp>
      <p:sp>
        <p:nvSpPr>
          <p:cNvPr id="8" name="Text 6"/>
          <p:cNvSpPr/>
          <p:nvPr/>
        </p:nvSpPr>
        <p:spPr>
          <a:xfrm>
            <a:off x="886968" y="2624328"/>
            <a:ext cx="4773168" cy="548640"/>
          </a:xfrm>
          <a:prstGeom prst="rect">
            <a:avLst/>
          </a:prstGeom>
          <a:noFill/>
          <a:ln/>
        </p:spPr>
        <p:txBody>
          <a:bodyPr wrap="square" lIns="0" tIns="0" rIns="0" bIns="0" rtlCol="0" anchor="ctr">
            <a:normAutofit/>
          </a:bodyPr>
          <a:lstStyle/>
          <a:p>
            <a:pPr marL="0" indent="0">
              <a:buNone/>
            </a:pPr>
            <a:r>
              <a:rPr lang="en-US" sz="2700" dirty="0">
                <a:solidFill>
                  <a:srgbClr val="171513"/>
                </a:solidFill>
                <a:ea typeface="GFS Didot" pitchFamily="34" charset="-122"/>
                <a:cs typeface="GFS Didot" pitchFamily="34" charset="-120"/>
              </a:rPr>
              <a:t>CHF 850.-</a:t>
            </a:r>
            <a:endParaRPr lang="en-US" sz="2700" dirty="0"/>
          </a:p>
        </p:txBody>
      </p:sp>
      <p:sp>
        <p:nvSpPr>
          <p:cNvPr id="9" name="Text 7"/>
          <p:cNvSpPr/>
          <p:nvPr/>
        </p:nvSpPr>
        <p:spPr>
          <a:xfrm>
            <a:off x="886968" y="3200400"/>
            <a:ext cx="4773168" cy="201168"/>
          </a:xfrm>
          <a:prstGeom prst="rect">
            <a:avLst/>
          </a:prstGeom>
          <a:noFill/>
          <a:ln/>
        </p:spPr>
        <p:txBody>
          <a:bodyPr wrap="square" lIns="0" tIns="0" rIns="0" bIns="0" rtlCol="0" anchor="ctr">
            <a:normAutofit/>
          </a:bodyPr>
          <a:lstStyle/>
          <a:p>
            <a:pPr marL="0" indent="0" algn="l">
              <a:buNone/>
            </a:pPr>
            <a:r>
              <a:rPr lang="en-US" sz="1000" kern="0" spc="200" dirty="0">
                <a:solidFill>
                  <a:srgbClr val="6E5E67"/>
                </a:solidFill>
                <a:latin typeface="Aptos" pitchFamily="34" charset="0"/>
                <a:ea typeface="Aptos" pitchFamily="34" charset="-122"/>
                <a:cs typeface="Aptos" pitchFamily="34" charset="-120"/>
              </a:rPr>
              <a:t>2 HOURS / 80+ IMAGES</a:t>
            </a:r>
            <a:endParaRPr lang="en-US" sz="1000" dirty="0"/>
          </a:p>
        </p:txBody>
      </p:sp>
      <p:sp>
        <p:nvSpPr>
          <p:cNvPr id="10" name="Shape 8"/>
          <p:cNvSpPr/>
          <p:nvPr/>
        </p:nvSpPr>
        <p:spPr>
          <a:xfrm>
            <a:off x="886968" y="3538728"/>
            <a:ext cx="4773168" cy="0"/>
          </a:xfrm>
          <a:prstGeom prst="line">
            <a:avLst/>
          </a:prstGeom>
          <a:noFill/>
          <a:ln w="8255">
            <a:solidFill>
              <a:srgbClr val="C7BBB0"/>
            </a:solidFill>
            <a:prstDash val="solid"/>
          </a:ln>
        </p:spPr>
        <p:txBody>
          <a:bodyPr/>
          <a:lstStyle/>
          <a:p>
            <a:endParaRPr lang="fr-FR"/>
          </a:p>
        </p:txBody>
      </p:sp>
      <p:sp>
        <p:nvSpPr>
          <p:cNvPr id="11" name="Text 9"/>
          <p:cNvSpPr/>
          <p:nvPr/>
        </p:nvSpPr>
        <p:spPr>
          <a:xfrm>
            <a:off x="886968" y="3721607"/>
            <a:ext cx="4551306" cy="548629"/>
          </a:xfrm>
          <a:prstGeom prst="rect">
            <a:avLst/>
          </a:prstGeom>
          <a:noFill/>
          <a:ln/>
        </p:spPr>
        <p:txBody>
          <a:bodyPr wrap="square" lIns="0" tIns="0" rIns="0" bIns="0" rtlCol="0" anchor="t">
            <a:noAutofit/>
          </a:bodyPr>
          <a:lstStyle/>
          <a:p>
            <a:pPr marL="0" indent="0">
              <a:lnSpc>
                <a:spcPct val="92000"/>
              </a:lnSpc>
              <a:buNone/>
            </a:pPr>
            <a:r>
              <a:rPr lang="en-US" sz="1400" dirty="0">
                <a:solidFill>
                  <a:srgbClr val="6E5E67"/>
                </a:solidFill>
                <a:latin typeface="EB Garamond" pitchFamily="34" charset="0"/>
                <a:ea typeface="EB Garamond" pitchFamily="34" charset="-122"/>
                <a:cs typeface="EB Garamond" pitchFamily="34" charset="-120"/>
              </a:rPr>
              <a:t>A refined and intimate coverage of your civil ceremony, your closest people and a short portrait chapter around the celebration.</a:t>
            </a:r>
            <a:endParaRPr lang="en-US" sz="1400" dirty="0"/>
          </a:p>
        </p:txBody>
      </p:sp>
      <p:sp>
        <p:nvSpPr>
          <p:cNvPr id="12" name="Shape 10"/>
          <p:cNvSpPr/>
          <p:nvPr/>
        </p:nvSpPr>
        <p:spPr>
          <a:xfrm>
            <a:off x="6144768" y="2121408"/>
            <a:ext cx="5376672" cy="2441448"/>
          </a:xfrm>
          <a:prstGeom prst="roundRect">
            <a:avLst>
              <a:gd name="adj" fmla="val 2553"/>
            </a:avLst>
          </a:prstGeom>
          <a:solidFill>
            <a:srgbClr val="EFE8DF">
              <a:alpha val="97000"/>
            </a:srgbClr>
          </a:solidFill>
          <a:ln w="9525">
            <a:solidFill>
              <a:srgbClr val="C7BBB0"/>
            </a:solidFill>
            <a:prstDash val="solid"/>
          </a:ln>
        </p:spPr>
        <p:txBody>
          <a:bodyPr/>
          <a:lstStyle/>
          <a:p>
            <a:endParaRPr lang="fr-FR"/>
          </a:p>
        </p:txBody>
      </p:sp>
      <p:sp>
        <p:nvSpPr>
          <p:cNvPr id="13" name="Text 11"/>
          <p:cNvSpPr/>
          <p:nvPr/>
        </p:nvSpPr>
        <p:spPr>
          <a:xfrm>
            <a:off x="6373368" y="2340864"/>
            <a:ext cx="4919472" cy="201168"/>
          </a:xfrm>
          <a:prstGeom prst="rect">
            <a:avLst/>
          </a:prstGeom>
          <a:noFill/>
          <a:ln/>
        </p:spPr>
        <p:txBody>
          <a:bodyPr wrap="square" lIns="0" tIns="0" rIns="0" bIns="0" rtlCol="0" anchor="ctr">
            <a:normAutofit/>
          </a:bodyPr>
          <a:lstStyle/>
          <a:p>
            <a:pPr marL="0" indent="0" algn="l">
              <a:buNone/>
            </a:pPr>
            <a:r>
              <a:rPr lang="en-US" sz="850" kern="0" spc="200" dirty="0">
                <a:solidFill>
                  <a:srgbClr val="171513"/>
                </a:solidFill>
                <a:latin typeface="Aptos" pitchFamily="34" charset="0"/>
                <a:ea typeface="Aptos" pitchFamily="34" charset="-122"/>
                <a:cs typeface="Aptos" pitchFamily="34" charset="-120"/>
              </a:rPr>
              <a:t>INTIMATE WEDDING / ELOPEMENT</a:t>
            </a:r>
            <a:endParaRPr lang="en-US" sz="850" dirty="0"/>
          </a:p>
        </p:txBody>
      </p:sp>
      <p:sp>
        <p:nvSpPr>
          <p:cNvPr id="14" name="Text 12"/>
          <p:cNvSpPr/>
          <p:nvPr/>
        </p:nvSpPr>
        <p:spPr>
          <a:xfrm>
            <a:off x="6373368" y="2624328"/>
            <a:ext cx="4919472" cy="548640"/>
          </a:xfrm>
          <a:prstGeom prst="rect">
            <a:avLst/>
          </a:prstGeom>
          <a:noFill/>
          <a:ln/>
        </p:spPr>
        <p:txBody>
          <a:bodyPr wrap="square" lIns="0" tIns="0" rIns="0" bIns="0" rtlCol="0" anchor="ctr">
            <a:normAutofit/>
          </a:bodyPr>
          <a:lstStyle/>
          <a:p>
            <a:pPr marL="0" indent="0">
              <a:buNone/>
            </a:pPr>
            <a:r>
              <a:rPr lang="en-US" sz="2700" dirty="0">
                <a:solidFill>
                  <a:srgbClr val="171513"/>
                </a:solidFill>
                <a:ea typeface="GFS Didot" pitchFamily="34" charset="-122"/>
                <a:cs typeface="GFS Didot" pitchFamily="34" charset="-120"/>
              </a:rPr>
              <a:t>CHF 1'200.-</a:t>
            </a:r>
            <a:endParaRPr lang="en-US" sz="2700" dirty="0"/>
          </a:p>
        </p:txBody>
      </p:sp>
      <p:sp>
        <p:nvSpPr>
          <p:cNvPr id="15" name="Text 13"/>
          <p:cNvSpPr/>
          <p:nvPr/>
        </p:nvSpPr>
        <p:spPr>
          <a:xfrm>
            <a:off x="6373368" y="3200400"/>
            <a:ext cx="4919472" cy="201168"/>
          </a:xfrm>
          <a:prstGeom prst="rect">
            <a:avLst/>
          </a:prstGeom>
          <a:noFill/>
          <a:ln/>
        </p:spPr>
        <p:txBody>
          <a:bodyPr wrap="square" lIns="0" tIns="0" rIns="0" bIns="0" rtlCol="0" anchor="ctr">
            <a:normAutofit/>
          </a:bodyPr>
          <a:lstStyle/>
          <a:p>
            <a:pPr marL="0" indent="0" algn="l">
              <a:buNone/>
            </a:pPr>
            <a:r>
              <a:rPr lang="en-US" sz="1000" kern="0" spc="200" dirty="0">
                <a:solidFill>
                  <a:srgbClr val="6E5E67"/>
                </a:solidFill>
                <a:latin typeface="Aptos" pitchFamily="34" charset="0"/>
                <a:ea typeface="Aptos" pitchFamily="34" charset="-122"/>
                <a:cs typeface="Aptos" pitchFamily="34" charset="-120"/>
              </a:rPr>
              <a:t>3 HOURS / 130+ IMAGES</a:t>
            </a:r>
            <a:endParaRPr lang="en-US" sz="1000" dirty="0"/>
          </a:p>
        </p:txBody>
      </p:sp>
      <p:sp>
        <p:nvSpPr>
          <p:cNvPr id="16" name="Shape 14"/>
          <p:cNvSpPr/>
          <p:nvPr/>
        </p:nvSpPr>
        <p:spPr>
          <a:xfrm>
            <a:off x="6373368" y="3538728"/>
            <a:ext cx="4919472" cy="0"/>
          </a:xfrm>
          <a:prstGeom prst="line">
            <a:avLst/>
          </a:prstGeom>
          <a:noFill/>
          <a:ln w="8255">
            <a:solidFill>
              <a:srgbClr val="C7BBB0"/>
            </a:solidFill>
            <a:prstDash val="solid"/>
          </a:ln>
        </p:spPr>
        <p:txBody>
          <a:bodyPr/>
          <a:lstStyle/>
          <a:p>
            <a:endParaRPr lang="fr-FR"/>
          </a:p>
        </p:txBody>
      </p:sp>
      <p:sp>
        <p:nvSpPr>
          <p:cNvPr id="17" name="Text 15"/>
          <p:cNvSpPr/>
          <p:nvPr/>
        </p:nvSpPr>
        <p:spPr>
          <a:xfrm>
            <a:off x="6373368" y="3721607"/>
            <a:ext cx="4919472" cy="539493"/>
          </a:xfrm>
          <a:prstGeom prst="rect">
            <a:avLst/>
          </a:prstGeom>
          <a:noFill/>
          <a:ln/>
        </p:spPr>
        <p:txBody>
          <a:bodyPr wrap="square" lIns="0" tIns="0" rIns="0" bIns="0" rtlCol="0" anchor="t">
            <a:noAutofit/>
          </a:bodyPr>
          <a:lstStyle/>
          <a:p>
            <a:pPr marL="0" indent="0">
              <a:lnSpc>
                <a:spcPct val="92000"/>
              </a:lnSpc>
              <a:buNone/>
            </a:pPr>
            <a:r>
              <a:rPr lang="en-US" sz="1400" dirty="0">
                <a:solidFill>
                  <a:srgbClr val="6E5E67"/>
                </a:solidFill>
                <a:latin typeface="EB Garamond" pitchFamily="34" charset="0"/>
                <a:ea typeface="EB Garamond" pitchFamily="34" charset="-122"/>
                <a:cs typeface="EB Garamond" pitchFamily="34" charset="-120"/>
              </a:rPr>
              <a:t>Flexible and intimate coverage shaped around the two of you, your ceremony and the atmosphere of the day.</a:t>
            </a:r>
            <a:endParaRPr lang="en-US" sz="1400" dirty="0"/>
          </a:p>
        </p:txBody>
      </p:sp>
      <p:sp>
        <p:nvSpPr>
          <p:cNvPr id="18" name="Shape 16"/>
          <p:cNvSpPr/>
          <p:nvPr/>
        </p:nvSpPr>
        <p:spPr>
          <a:xfrm>
            <a:off x="664464" y="4901185"/>
            <a:ext cx="10863072" cy="749808"/>
          </a:xfrm>
          <a:prstGeom prst="roundRect">
            <a:avLst>
              <a:gd name="adj" fmla="val 7317"/>
            </a:avLst>
          </a:prstGeom>
          <a:solidFill>
            <a:srgbClr val="EEE7DE"/>
          </a:solidFill>
          <a:ln w="12700">
            <a:solidFill>
              <a:srgbClr val="EEE7DE">
                <a:alpha val="0"/>
              </a:srgbClr>
            </a:solidFill>
            <a:prstDash val="solid"/>
          </a:ln>
        </p:spPr>
        <p:txBody>
          <a:bodyPr/>
          <a:lstStyle/>
          <a:p>
            <a:endParaRPr lang="fr-FR"/>
          </a:p>
        </p:txBody>
      </p:sp>
      <p:sp>
        <p:nvSpPr>
          <p:cNvPr id="19" name="Text 17"/>
          <p:cNvSpPr/>
          <p:nvPr/>
        </p:nvSpPr>
        <p:spPr>
          <a:xfrm>
            <a:off x="4724400" y="5074921"/>
            <a:ext cx="2743200" cy="201168"/>
          </a:xfrm>
          <a:prstGeom prst="rect">
            <a:avLst/>
          </a:prstGeom>
          <a:noFill/>
          <a:ln/>
        </p:spPr>
        <p:txBody>
          <a:bodyPr wrap="square" lIns="0" tIns="0" rIns="0" bIns="0" rtlCol="0" anchor="ctr">
            <a:normAutofit/>
          </a:bodyPr>
          <a:lstStyle/>
          <a:p>
            <a:pPr marL="0" indent="0" algn="ctr">
              <a:buNone/>
            </a:pPr>
            <a:r>
              <a:rPr lang="en-US" sz="850" kern="0" spc="200" dirty="0">
                <a:solidFill>
                  <a:srgbClr val="171513"/>
                </a:solidFill>
                <a:latin typeface="Aptos" pitchFamily="34" charset="0"/>
                <a:ea typeface="Aptos" pitchFamily="34" charset="-122"/>
                <a:cs typeface="Aptos" pitchFamily="34" charset="-120"/>
              </a:rPr>
              <a:t>EVERY COLLECTION INCLUDES</a:t>
            </a:r>
            <a:endParaRPr lang="en-US" sz="850" dirty="0"/>
          </a:p>
        </p:txBody>
      </p:sp>
      <p:sp>
        <p:nvSpPr>
          <p:cNvPr id="20" name="Text 18"/>
          <p:cNvSpPr/>
          <p:nvPr/>
        </p:nvSpPr>
        <p:spPr>
          <a:xfrm>
            <a:off x="886968" y="5276089"/>
            <a:ext cx="10515600" cy="219456"/>
          </a:xfrm>
          <a:prstGeom prst="rect">
            <a:avLst/>
          </a:prstGeom>
          <a:noFill/>
          <a:ln/>
        </p:spPr>
        <p:txBody>
          <a:bodyPr wrap="square" lIns="0" tIns="0" rIns="0" bIns="0" rtlCol="0" anchor="ctr">
            <a:normAutofit/>
          </a:bodyPr>
          <a:lstStyle/>
          <a:p>
            <a:pPr marL="0" indent="0" algn="ctr">
              <a:buNone/>
            </a:pPr>
            <a:r>
              <a:rPr lang="en-US" sz="1180" dirty="0">
                <a:solidFill>
                  <a:srgbClr val="171513"/>
                </a:solidFill>
                <a:latin typeface="EB Garamond" pitchFamily="34" charset="0"/>
                <a:ea typeface="EB Garamond" pitchFamily="34" charset="-122"/>
                <a:cs typeface="EB Garamond" pitchFamily="34" charset="-120"/>
              </a:rPr>
              <a:t>Private online gallery     |     High-resolution individually edited images     |     Printing rights     |     Travel within Switzerland</a:t>
            </a:r>
            <a:endParaRPr lang="en-US" sz="1180" dirty="0"/>
          </a:p>
        </p:txBody>
      </p:sp>
      <p:sp>
        <p:nvSpPr>
          <p:cNvPr id="21" name="Shape 19"/>
          <p:cNvSpPr/>
          <p:nvPr/>
        </p:nvSpPr>
        <p:spPr>
          <a:xfrm>
            <a:off x="649224" y="5989321"/>
            <a:ext cx="10863072" cy="493776"/>
          </a:xfrm>
          <a:prstGeom prst="roundRect">
            <a:avLst>
              <a:gd name="adj" fmla="val 9259"/>
            </a:avLst>
          </a:prstGeom>
          <a:solidFill>
            <a:srgbClr val="252422"/>
          </a:solidFill>
          <a:ln w="12700">
            <a:solidFill>
              <a:srgbClr val="201F1D">
                <a:alpha val="0"/>
              </a:srgbClr>
            </a:solidFill>
            <a:prstDash val="solid"/>
          </a:ln>
        </p:spPr>
        <p:txBody>
          <a:bodyPr/>
          <a:lstStyle/>
          <a:p>
            <a:endParaRPr lang="fr-FR"/>
          </a:p>
        </p:txBody>
      </p:sp>
      <p:sp>
        <p:nvSpPr>
          <p:cNvPr id="22" name="Text 20"/>
          <p:cNvSpPr/>
          <p:nvPr/>
        </p:nvSpPr>
        <p:spPr>
          <a:xfrm>
            <a:off x="886968" y="6135625"/>
            <a:ext cx="3108960" cy="201168"/>
          </a:xfrm>
          <a:prstGeom prst="rect">
            <a:avLst/>
          </a:prstGeom>
          <a:noFill/>
          <a:ln/>
        </p:spPr>
        <p:txBody>
          <a:bodyPr wrap="square" lIns="0" tIns="0" rIns="0" bIns="0" rtlCol="0" anchor="ctr">
            <a:normAutofit/>
          </a:bodyPr>
          <a:lstStyle/>
          <a:p>
            <a:pPr marL="0" indent="0" algn="l">
              <a:buNone/>
            </a:pPr>
            <a:r>
              <a:rPr lang="en-US" sz="900" kern="0" spc="200" dirty="0">
                <a:solidFill>
                  <a:srgbClr val="F7F3EC"/>
                </a:solidFill>
                <a:latin typeface="Aptos" pitchFamily="34" charset="0"/>
                <a:ea typeface="Aptos" pitchFamily="34" charset="-122"/>
                <a:cs typeface="Aptos" pitchFamily="34" charset="-120"/>
              </a:rPr>
              <a:t>ADDITIONAL HOUR</a:t>
            </a:r>
            <a:endParaRPr lang="en-US" sz="900" dirty="0"/>
          </a:p>
        </p:txBody>
      </p:sp>
      <p:sp>
        <p:nvSpPr>
          <p:cNvPr id="23" name="Text 21"/>
          <p:cNvSpPr/>
          <p:nvPr/>
        </p:nvSpPr>
        <p:spPr>
          <a:xfrm>
            <a:off x="9064752" y="6080761"/>
            <a:ext cx="2240280" cy="256032"/>
          </a:xfrm>
          <a:prstGeom prst="rect">
            <a:avLst/>
          </a:prstGeom>
          <a:noFill/>
          <a:ln/>
        </p:spPr>
        <p:txBody>
          <a:bodyPr wrap="square" lIns="0" tIns="0" rIns="0" bIns="0" rtlCol="0" anchor="ctr"/>
          <a:lstStyle/>
          <a:p>
            <a:pPr marL="0" indent="0" algn="r">
              <a:buNone/>
            </a:pPr>
            <a:r>
              <a:rPr lang="en-US" sz="1600" dirty="0">
                <a:solidFill>
                  <a:srgbClr val="F7F3EC"/>
                </a:solidFill>
                <a:latin typeface="Goudy Old Style" panose="02020502050305020303" pitchFamily="18" charset="77"/>
                <a:ea typeface="GFS Didot" pitchFamily="34" charset="-122"/>
                <a:cs typeface="GFS Didot" pitchFamily="34" charset="-120"/>
              </a:rPr>
              <a:t>CHF 350.- / h</a:t>
            </a:r>
            <a:endParaRPr lang="en-US" sz="1600" dirty="0">
              <a:latin typeface="Goudy Old Style" panose="02020502050305020303" pitchFamily="18" charset="77"/>
            </a:endParaRPr>
          </a:p>
        </p:txBody>
      </p:sp>
      <p:sp>
        <p:nvSpPr>
          <p:cNvPr id="25" name="Text 23"/>
          <p:cNvSpPr/>
          <p:nvPr/>
        </p:nvSpPr>
        <p:spPr>
          <a:xfrm>
            <a:off x="11658600" y="6565392"/>
            <a:ext cx="365760" cy="137160"/>
          </a:xfrm>
          <a:prstGeom prst="rect">
            <a:avLst/>
          </a:prstGeom>
          <a:noFill/>
          <a:ln/>
        </p:spPr>
        <p:txBody>
          <a:bodyPr wrap="square" lIns="0" tIns="0" rIns="0" bIns="0" rtlCol="0" anchor="ctr"/>
          <a:lstStyle/>
          <a:p>
            <a:pPr marL="0" indent="0" algn="r">
              <a:buNone/>
            </a:pPr>
            <a:r>
              <a:rPr lang="en-US" sz="800" dirty="0">
                <a:solidFill>
                  <a:srgbClr val="6E5E67"/>
                </a:solidFill>
                <a:latin typeface="Aptos" pitchFamily="34" charset="0"/>
              </a:rPr>
              <a:t>08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a:extLst>
            <a:ext uri="{FF2B5EF4-FFF2-40B4-BE49-F238E27FC236}">
              <a16:creationId xmlns:a16="http://schemas.microsoft.com/office/drawing/2014/main" id="{CE1A1976-517D-BC99-C75F-DFAF4A6767E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6968BD-C172-A3EC-BE3F-F72A7806A299}"/>
              </a:ext>
            </a:extLst>
          </p:cNvPr>
          <p:cNvSpPr/>
          <p:nvPr/>
        </p:nvSpPr>
        <p:spPr>
          <a:xfrm>
            <a:off x="412443" y="431693"/>
            <a:ext cx="5522976" cy="6089904"/>
          </a:xfrm>
          <a:prstGeom prst="rect">
            <a:avLst/>
          </a:prstGeom>
          <a:solidFill>
            <a:srgbClr val="E7DED4"/>
          </a:solidFill>
          <a:ln w="12700">
            <a:solidFill>
              <a:srgbClr val="E7DED4">
                <a:alpha val="0"/>
              </a:srgbClr>
            </a:solidFill>
            <a:prstDash val="solid"/>
          </a:ln>
        </p:spPr>
        <p:txBody>
          <a:bodyPr/>
          <a:lstStyle/>
          <a:p>
            <a:endParaRPr lang="fr-FR"/>
          </a:p>
        </p:txBody>
      </p:sp>
      <p:pic>
        <p:nvPicPr>
          <p:cNvPr id="14" name="Image 0" descr="/mnt/data/a_black_and_white_shallow_depth_of_field_cinemat.png">
            <a:extLst>
              <a:ext uri="{FF2B5EF4-FFF2-40B4-BE49-F238E27FC236}">
                <a16:creationId xmlns:a16="http://schemas.microsoft.com/office/drawing/2014/main" id="{D85BAAD8-4C60-12AE-A5EA-0326BEF8821F}"/>
              </a:ext>
            </a:extLst>
          </p:cNvPr>
          <p:cNvPicPr>
            <a:picLocks noChangeAspect="1"/>
          </p:cNvPicPr>
          <p:nvPr/>
        </p:nvPicPr>
        <p:blipFill>
          <a:blip r:embed="rId3"/>
          <a:srcRect l="24512" r="24512"/>
          <a:stretch/>
        </p:blipFill>
        <p:spPr>
          <a:xfrm>
            <a:off x="449019" y="468269"/>
            <a:ext cx="5449824" cy="6016752"/>
          </a:xfrm>
          <a:prstGeom prst="rect">
            <a:avLst/>
          </a:prstGeom>
        </p:spPr>
      </p:pic>
      <p:sp>
        <p:nvSpPr>
          <p:cNvPr id="15" name="Text 5">
            <a:extLst>
              <a:ext uri="{FF2B5EF4-FFF2-40B4-BE49-F238E27FC236}">
                <a16:creationId xmlns:a16="http://schemas.microsoft.com/office/drawing/2014/main" id="{40A3B535-FA13-227B-0EBB-1C3C0B384A8A}"/>
              </a:ext>
            </a:extLst>
          </p:cNvPr>
          <p:cNvSpPr/>
          <p:nvPr/>
        </p:nvSpPr>
        <p:spPr>
          <a:xfrm>
            <a:off x="6256583" y="2362038"/>
            <a:ext cx="5120640" cy="2468880"/>
          </a:xfrm>
          <a:prstGeom prst="rect">
            <a:avLst/>
          </a:prstGeom>
          <a:noFill/>
          <a:ln/>
        </p:spPr>
        <p:txBody>
          <a:bodyPr wrap="square" lIns="0" tIns="0" rIns="0" bIns="0" rtlCol="0" anchor="t">
            <a:normAutofit/>
          </a:bodyPr>
          <a:lstStyle/>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Every celebration has its own rhythm. </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Getting to know you beforehand allows me to understand what matters most – the people, the energy, your priorities and the way you want the day to unfold.</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When your wedding arrives, I photograph with a calm, observant presence – attentive to the moments everyone sees, but equally to those unfolding quietly around them: nervous hands, a glance across the room, a familiar embrace, laughter between friends.</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When guidance is needed, I’ll gently step in. The rest of the time, I want you to forget about the camera, stay close to the people you love and live the day fully. </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There is intention behind the scenes, with space for everything spontaneous in between.</a:t>
            </a:r>
            <a:endParaRPr lang="en-US" sz="1250" dirty="0">
              <a:solidFill>
                <a:srgbClr val="252422"/>
              </a:solidFill>
            </a:endParaRPr>
          </a:p>
        </p:txBody>
      </p:sp>
      <p:sp>
        <p:nvSpPr>
          <p:cNvPr id="16" name="Text 2">
            <a:extLst>
              <a:ext uri="{FF2B5EF4-FFF2-40B4-BE49-F238E27FC236}">
                <a16:creationId xmlns:a16="http://schemas.microsoft.com/office/drawing/2014/main" id="{06580AE5-C7EB-CDC8-9531-67E9AA0FF393}"/>
              </a:ext>
            </a:extLst>
          </p:cNvPr>
          <p:cNvSpPr/>
          <p:nvPr/>
        </p:nvSpPr>
        <p:spPr>
          <a:xfrm>
            <a:off x="7842345" y="1144925"/>
            <a:ext cx="1949116" cy="749808"/>
          </a:xfrm>
          <a:prstGeom prst="rect">
            <a:avLst/>
          </a:prstGeom>
          <a:noFill/>
          <a:ln/>
        </p:spPr>
        <p:txBody>
          <a:bodyPr wrap="square" lIns="0" tIns="0" rIns="0" bIns="0" rtlCol="0" anchor="ctr">
            <a:normAutofit/>
          </a:bodyPr>
          <a:lstStyle/>
          <a:p>
            <a:pPr marL="0" indent="0">
              <a:buNone/>
            </a:pPr>
            <a:r>
              <a:rPr lang="en-US" sz="2800" dirty="0">
                <a:solidFill>
                  <a:srgbClr val="171513"/>
                </a:solidFill>
                <a:ea typeface="GFS Didot" pitchFamily="34" charset="-122"/>
                <a:cs typeface="GFS Didot" pitchFamily="34" charset="-120"/>
              </a:rPr>
              <a:t>YOUR DAY</a:t>
            </a:r>
            <a:endParaRPr lang="en-US" sz="2800" dirty="0"/>
          </a:p>
        </p:txBody>
      </p:sp>
      <p:sp>
        <p:nvSpPr>
          <p:cNvPr id="17" name="Text 4">
            <a:extLst>
              <a:ext uri="{FF2B5EF4-FFF2-40B4-BE49-F238E27FC236}">
                <a16:creationId xmlns:a16="http://schemas.microsoft.com/office/drawing/2014/main" id="{4EB370B0-432A-FF24-C179-CB2CB6388AB1}"/>
              </a:ext>
            </a:extLst>
          </p:cNvPr>
          <p:cNvSpPr/>
          <p:nvPr/>
        </p:nvSpPr>
        <p:spPr>
          <a:xfrm>
            <a:off x="7796623" y="5347315"/>
            <a:ext cx="3946358" cy="365760"/>
          </a:xfrm>
          <a:prstGeom prst="rect">
            <a:avLst/>
          </a:prstGeom>
          <a:noFill/>
          <a:ln/>
        </p:spPr>
        <p:txBody>
          <a:bodyPr wrap="square" lIns="0" tIns="0" rIns="0" bIns="0" rtlCol="0" anchor="t">
            <a:normAutofit/>
          </a:bodyPr>
          <a:lstStyle/>
          <a:p>
            <a:pPr marL="0" indent="0">
              <a:buNone/>
            </a:pPr>
            <a:r>
              <a:rPr lang="en-US" sz="1750" i="1" dirty="0">
                <a:solidFill>
                  <a:srgbClr val="171513"/>
                </a:solidFill>
                <a:latin typeface="EB Garamond" pitchFamily="34" charset="0"/>
                <a:ea typeface="EB Garamond" pitchFamily="34" charset="-122"/>
                <a:cs typeface="EB Garamond" pitchFamily="34" charset="-120"/>
              </a:rPr>
              <a:t>Be fully in it. I'll take care of remembering it.</a:t>
            </a:r>
            <a:endParaRPr lang="en-US" sz="1750" dirty="0"/>
          </a:p>
        </p:txBody>
      </p:sp>
    </p:spTree>
    <p:extLst>
      <p:ext uri="{BB962C8B-B14F-4D97-AF65-F5344CB8AC3E}">
        <p14:creationId xmlns:p14="http://schemas.microsoft.com/office/powerpoint/2010/main" val="1637503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6284671" y="384048"/>
            <a:ext cx="5522976" cy="6089904"/>
          </a:xfrm>
          <a:prstGeom prst="rect">
            <a:avLst/>
          </a:prstGeom>
          <a:solidFill>
            <a:srgbClr val="E7DED4"/>
          </a:solidFill>
          <a:ln w="12700">
            <a:solidFill>
              <a:srgbClr val="E7DED4">
                <a:alpha val="0"/>
              </a:srgbClr>
            </a:solidFill>
            <a:prstDash val="solid"/>
          </a:ln>
        </p:spPr>
        <p:txBody>
          <a:bodyPr/>
          <a:lstStyle/>
          <a:p>
            <a:endParaRPr lang="fr-FR"/>
          </a:p>
        </p:txBody>
      </p:sp>
      <p:pic>
        <p:nvPicPr>
          <p:cNvPr id="3" name="Image 0" descr="/mnt/data/a_warm_intimate_elegant_wedding_reception_table.png"/>
          <p:cNvPicPr>
            <a:picLocks noChangeAspect="1"/>
          </p:cNvPicPr>
          <p:nvPr/>
        </p:nvPicPr>
        <p:blipFill>
          <a:blip r:embed="rId3"/>
          <a:srcRect l="10000" r="39023"/>
          <a:stretch/>
        </p:blipFill>
        <p:spPr>
          <a:xfrm>
            <a:off x="6321247" y="420624"/>
            <a:ext cx="5449824" cy="6016752"/>
          </a:xfrm>
          <a:prstGeom prst="rect">
            <a:avLst/>
          </a:prstGeom>
        </p:spPr>
      </p:pic>
      <p:sp>
        <p:nvSpPr>
          <p:cNvPr id="5" name="Text 2"/>
          <p:cNvSpPr/>
          <p:nvPr/>
        </p:nvSpPr>
        <p:spPr>
          <a:xfrm>
            <a:off x="1718712" y="937982"/>
            <a:ext cx="3035567" cy="548640"/>
          </a:xfrm>
          <a:prstGeom prst="rect">
            <a:avLst/>
          </a:prstGeom>
          <a:noFill/>
          <a:ln/>
        </p:spPr>
        <p:txBody>
          <a:bodyPr wrap="square" lIns="0" tIns="0" rIns="0" bIns="0" rtlCol="0" anchor="ctr">
            <a:normAutofit/>
          </a:bodyPr>
          <a:lstStyle/>
          <a:p>
            <a:pPr marL="0" indent="0">
              <a:buNone/>
            </a:pPr>
            <a:r>
              <a:rPr lang="en-US" sz="2800" dirty="0">
                <a:solidFill>
                  <a:srgbClr val="171513"/>
                </a:solidFill>
                <a:ea typeface="GFS Didot" pitchFamily="34" charset="-122"/>
                <a:cs typeface="GFS Didot" pitchFamily="34" charset="-120"/>
              </a:rPr>
              <a:t>WHAT FOLLOWS</a:t>
            </a:r>
            <a:endParaRPr lang="en-US" sz="2800" dirty="0"/>
          </a:p>
        </p:txBody>
      </p:sp>
      <p:sp>
        <p:nvSpPr>
          <p:cNvPr id="7" name="Text 4"/>
          <p:cNvSpPr/>
          <p:nvPr/>
        </p:nvSpPr>
        <p:spPr>
          <a:xfrm>
            <a:off x="2646949" y="1700706"/>
            <a:ext cx="1130968" cy="237744"/>
          </a:xfrm>
          <a:prstGeom prst="rect">
            <a:avLst/>
          </a:prstGeom>
          <a:noFill/>
          <a:ln/>
        </p:spPr>
        <p:txBody>
          <a:bodyPr wrap="square" lIns="0" tIns="0" rIns="0" bIns="0" rtlCol="0" anchor="ctr">
            <a:normAutofit/>
          </a:bodyPr>
          <a:lstStyle/>
          <a:p>
            <a:pPr marL="0" indent="0" algn="l">
              <a:buNone/>
            </a:pPr>
            <a:r>
              <a:rPr lang="en-US" sz="900" kern="0" spc="200" dirty="0">
                <a:solidFill>
                  <a:srgbClr val="171513"/>
                </a:solidFill>
                <a:latin typeface="Aptos" pitchFamily="34" charset="0"/>
                <a:ea typeface="Aptos" pitchFamily="34" charset="-122"/>
                <a:cs typeface="Aptos" pitchFamily="34" charset="-120"/>
              </a:rPr>
              <a:t>01 - CONNECT</a:t>
            </a:r>
            <a:endParaRPr lang="en-US" sz="900" dirty="0"/>
          </a:p>
        </p:txBody>
      </p:sp>
      <p:sp>
        <p:nvSpPr>
          <p:cNvPr id="8" name="Text 5"/>
          <p:cNvSpPr/>
          <p:nvPr/>
        </p:nvSpPr>
        <p:spPr>
          <a:xfrm>
            <a:off x="685800" y="1994419"/>
            <a:ext cx="5120640" cy="969264"/>
          </a:xfrm>
          <a:prstGeom prst="rect">
            <a:avLst/>
          </a:prstGeom>
          <a:noFill/>
          <a:ln/>
        </p:spPr>
        <p:txBody>
          <a:bodyPr wrap="square" lIns="0" tIns="0" rIns="0" bIns="0" rtlCol="0" anchor="t">
            <a:normAutofit/>
          </a:bodyPr>
          <a:lstStyle/>
          <a:p>
            <a:pPr marL="0" indent="0" algn="ctr">
              <a:lnSpc>
                <a:spcPct val="95000"/>
              </a:lnSpc>
              <a:buNone/>
            </a:pPr>
            <a:r>
              <a:rPr lang="en-US" sz="1100" dirty="0">
                <a:solidFill>
                  <a:srgbClr val="252422"/>
                </a:solidFill>
                <a:latin typeface="EB Garamond" pitchFamily="34" charset="0"/>
                <a:ea typeface="EB Garamond" pitchFamily="34" charset="-122"/>
                <a:cs typeface="EB Garamond" pitchFamily="34" charset="-120"/>
              </a:rPr>
              <a:t>Choose the collection that feels right for your celebration and let’s connect – in person or over a call – to talk through your plans, your vision and what matters most to you.</a:t>
            </a:r>
            <a:endParaRPr lang="en-US" sz="1100" dirty="0">
              <a:solidFill>
                <a:srgbClr val="252422"/>
              </a:solidFill>
            </a:endParaRPr>
          </a:p>
          <a:p>
            <a:pPr marL="0" indent="0" algn="ctr">
              <a:lnSpc>
                <a:spcPct val="95000"/>
              </a:lnSpc>
              <a:buNone/>
            </a:pPr>
            <a:endParaRPr lang="en-US" sz="1100" dirty="0">
              <a:solidFill>
                <a:srgbClr val="252422"/>
              </a:solidFill>
            </a:endParaRPr>
          </a:p>
          <a:p>
            <a:pPr algn="ctr">
              <a:lnSpc>
                <a:spcPct val="95000"/>
              </a:lnSpc>
            </a:pPr>
            <a:r>
              <a:rPr lang="en-US" sz="1100" dirty="0">
                <a:solidFill>
                  <a:srgbClr val="252422"/>
                </a:solidFill>
                <a:latin typeface="EB Garamond" pitchFamily="34" charset="0"/>
                <a:ea typeface="EB Garamond" pitchFamily="34" charset="-122"/>
                <a:cs typeface="EB Garamond" pitchFamily="34" charset="-120"/>
              </a:rPr>
              <a:t>If it feels like the right fit, your date is officially reserved once the agreement is signed and the retainer is received.</a:t>
            </a:r>
            <a:endParaRPr lang="en-US" sz="1100" dirty="0">
              <a:solidFill>
                <a:srgbClr val="252422"/>
              </a:solidFill>
            </a:endParaRPr>
          </a:p>
        </p:txBody>
      </p:sp>
      <p:sp>
        <p:nvSpPr>
          <p:cNvPr id="9" name="Text 6"/>
          <p:cNvSpPr/>
          <p:nvPr/>
        </p:nvSpPr>
        <p:spPr>
          <a:xfrm>
            <a:off x="2695075" y="2937356"/>
            <a:ext cx="1082842" cy="201168"/>
          </a:xfrm>
          <a:prstGeom prst="rect">
            <a:avLst/>
          </a:prstGeom>
          <a:noFill/>
          <a:ln/>
        </p:spPr>
        <p:txBody>
          <a:bodyPr wrap="square" lIns="0" tIns="0" rIns="0" bIns="0" rtlCol="0" anchor="ctr">
            <a:normAutofit/>
          </a:bodyPr>
          <a:lstStyle/>
          <a:p>
            <a:pPr marL="0" indent="0" algn="l">
              <a:buNone/>
            </a:pPr>
            <a:r>
              <a:rPr lang="en-US" sz="900" kern="0" spc="200" dirty="0">
                <a:solidFill>
                  <a:srgbClr val="171513"/>
                </a:solidFill>
                <a:latin typeface="Aptos" pitchFamily="34" charset="0"/>
                <a:ea typeface="Aptos" pitchFamily="34" charset="-122"/>
                <a:cs typeface="Aptos" pitchFamily="34" charset="-120"/>
              </a:rPr>
              <a:t>02 - PREPARE</a:t>
            </a:r>
            <a:endParaRPr lang="en-US" sz="900" dirty="0"/>
          </a:p>
        </p:txBody>
      </p:sp>
      <p:sp>
        <p:nvSpPr>
          <p:cNvPr id="10" name="Text 7"/>
          <p:cNvSpPr/>
          <p:nvPr/>
        </p:nvSpPr>
        <p:spPr>
          <a:xfrm>
            <a:off x="685800" y="3263991"/>
            <a:ext cx="5120640" cy="863946"/>
          </a:xfrm>
          <a:prstGeom prst="rect">
            <a:avLst/>
          </a:prstGeom>
          <a:noFill/>
          <a:ln/>
        </p:spPr>
        <p:txBody>
          <a:bodyPr wrap="square" lIns="0" tIns="0" rIns="0" bIns="0" rtlCol="0" anchor="t">
            <a:normAutofit/>
          </a:bodyPr>
          <a:lstStyle/>
          <a:p>
            <a:pPr algn="ctr">
              <a:lnSpc>
                <a:spcPct val="95000"/>
              </a:lnSpc>
            </a:pPr>
            <a:r>
              <a:rPr lang="en-US" sz="1100" dirty="0">
                <a:solidFill>
                  <a:srgbClr val="252422"/>
                </a:solidFill>
                <a:latin typeface="EB Garamond" pitchFamily="34" charset="0"/>
                <a:ea typeface="EB Garamond" pitchFamily="34" charset="-122"/>
                <a:cs typeface="EB Garamond" pitchFamily="34" charset="-120"/>
              </a:rPr>
              <a:t>Around one month before your wedding, we’ll refine the timeline together, go through your photography priorities and review the details that matter most. </a:t>
            </a:r>
          </a:p>
          <a:p>
            <a:pPr algn="ctr">
              <a:lnSpc>
                <a:spcPct val="95000"/>
              </a:lnSpc>
            </a:pPr>
            <a:endParaRPr lang="en-US" sz="11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100" dirty="0">
                <a:solidFill>
                  <a:srgbClr val="252422"/>
                </a:solidFill>
                <a:latin typeface="EB Garamond" pitchFamily="34" charset="0"/>
                <a:ea typeface="EB Garamond" pitchFamily="34" charset="-122"/>
                <a:cs typeface="EB Garamond" pitchFamily="34" charset="-120"/>
              </a:rPr>
              <a:t>A final check-in shortly before the day allows us to confirm everything, make any last adjustments and ensure you feel fully prepared.</a:t>
            </a:r>
            <a:endParaRPr lang="en-US" sz="1100" dirty="0">
              <a:solidFill>
                <a:srgbClr val="252422"/>
              </a:solidFill>
            </a:endParaRPr>
          </a:p>
        </p:txBody>
      </p:sp>
      <p:sp>
        <p:nvSpPr>
          <p:cNvPr id="12" name="Text 9"/>
          <p:cNvSpPr/>
          <p:nvPr/>
        </p:nvSpPr>
        <p:spPr>
          <a:xfrm>
            <a:off x="11658600" y="6565392"/>
            <a:ext cx="365760" cy="137160"/>
          </a:xfrm>
          <a:prstGeom prst="rect">
            <a:avLst/>
          </a:prstGeom>
          <a:noFill/>
          <a:ln/>
        </p:spPr>
        <p:txBody>
          <a:bodyPr wrap="square" lIns="0" tIns="0" rIns="0" bIns="0" rtlCol="0" anchor="ctr"/>
          <a:lstStyle/>
          <a:p>
            <a:pPr marL="0" indent="0" algn="r">
              <a:buNone/>
            </a:pPr>
            <a:r>
              <a:rPr lang="en-US" sz="800" dirty="0">
                <a:solidFill>
                  <a:srgbClr val="6E5E67"/>
                </a:solidFill>
                <a:latin typeface="Aptos" pitchFamily="34" charset="0"/>
                <a:ea typeface="Aptos" pitchFamily="34" charset="-122"/>
                <a:cs typeface="Aptos" pitchFamily="34" charset="-120"/>
              </a:rPr>
              <a:t>06</a:t>
            </a:r>
            <a:endParaRPr lang="en-US" sz="800" dirty="0"/>
          </a:p>
        </p:txBody>
      </p:sp>
      <p:sp>
        <p:nvSpPr>
          <p:cNvPr id="13" name="Text 4">
            <a:extLst>
              <a:ext uri="{FF2B5EF4-FFF2-40B4-BE49-F238E27FC236}">
                <a16:creationId xmlns:a16="http://schemas.microsoft.com/office/drawing/2014/main" id="{9631513E-55F3-6F7D-AAF3-1F9BCDE09A24}"/>
              </a:ext>
            </a:extLst>
          </p:cNvPr>
          <p:cNvSpPr/>
          <p:nvPr/>
        </p:nvSpPr>
        <p:spPr>
          <a:xfrm>
            <a:off x="2566336" y="4227077"/>
            <a:ext cx="1359568" cy="201168"/>
          </a:xfrm>
          <a:prstGeom prst="rect">
            <a:avLst/>
          </a:prstGeom>
          <a:noFill/>
          <a:ln/>
        </p:spPr>
        <p:txBody>
          <a:bodyPr wrap="square" lIns="0" tIns="0" rIns="0" bIns="0" rtlCol="0" anchor="ctr">
            <a:normAutofit/>
          </a:bodyPr>
          <a:lstStyle/>
          <a:p>
            <a:pPr marL="0" indent="0" algn="l">
              <a:buNone/>
            </a:pPr>
            <a:r>
              <a:rPr lang="en-US" sz="900" kern="0" spc="200" dirty="0">
                <a:solidFill>
                  <a:srgbClr val="171513"/>
                </a:solidFill>
                <a:latin typeface="Aptos" pitchFamily="34" charset="0"/>
                <a:ea typeface="Aptos" pitchFamily="34" charset="-122"/>
                <a:cs typeface="Aptos" pitchFamily="34" charset="-120"/>
              </a:rPr>
              <a:t>03 - EXPERIENCE</a:t>
            </a:r>
            <a:endParaRPr lang="en-US" sz="900" dirty="0"/>
          </a:p>
        </p:txBody>
      </p:sp>
      <p:sp>
        <p:nvSpPr>
          <p:cNvPr id="14" name="Text 5">
            <a:extLst>
              <a:ext uri="{FF2B5EF4-FFF2-40B4-BE49-F238E27FC236}">
                <a16:creationId xmlns:a16="http://schemas.microsoft.com/office/drawing/2014/main" id="{5B0EAAF4-56C7-7A37-6F42-774540ECA6AC}"/>
              </a:ext>
            </a:extLst>
          </p:cNvPr>
          <p:cNvSpPr/>
          <p:nvPr/>
        </p:nvSpPr>
        <p:spPr>
          <a:xfrm>
            <a:off x="685800" y="4517136"/>
            <a:ext cx="5120640" cy="833548"/>
          </a:xfrm>
          <a:prstGeom prst="rect">
            <a:avLst/>
          </a:prstGeom>
          <a:noFill/>
          <a:ln/>
        </p:spPr>
        <p:txBody>
          <a:bodyPr wrap="square" lIns="0" tIns="0" rIns="0" bIns="0" rtlCol="0" anchor="t">
            <a:normAutofit/>
          </a:bodyPr>
          <a:lstStyle/>
          <a:p>
            <a:pPr marL="0" indent="0" algn="ctr">
              <a:lnSpc>
                <a:spcPct val="95000"/>
              </a:lnSpc>
              <a:buNone/>
            </a:pPr>
            <a:r>
              <a:rPr lang="en-US" sz="1100" dirty="0">
                <a:solidFill>
                  <a:srgbClr val="252422"/>
                </a:solidFill>
                <a:latin typeface="EB Garamond" pitchFamily="34" charset="0"/>
                <a:ea typeface="EB Garamond" pitchFamily="34" charset="-122"/>
                <a:cs typeface="EB Garamond" pitchFamily="34" charset="-120"/>
              </a:rPr>
              <a:t>When the day arrives, embrace it fully.</a:t>
            </a:r>
            <a:endParaRPr lang="en-US" sz="1100" dirty="0">
              <a:solidFill>
                <a:srgbClr val="252422"/>
              </a:solidFill>
            </a:endParaRPr>
          </a:p>
          <a:p>
            <a:pPr marL="0" indent="0" algn="ctr">
              <a:lnSpc>
                <a:spcPct val="95000"/>
              </a:lnSpc>
              <a:buNone/>
            </a:pPr>
            <a:endParaRPr lang="en-US" sz="1100" dirty="0">
              <a:solidFill>
                <a:srgbClr val="252422"/>
              </a:solidFill>
            </a:endParaRPr>
          </a:p>
          <a:p>
            <a:pPr algn="ctr">
              <a:lnSpc>
                <a:spcPct val="95000"/>
              </a:lnSpc>
            </a:pPr>
            <a:r>
              <a:rPr lang="en-US" sz="1100" dirty="0">
                <a:solidFill>
                  <a:srgbClr val="252422"/>
                </a:solidFill>
                <a:latin typeface="EB Garamond" pitchFamily="34" charset="0"/>
                <a:ea typeface="EB Garamond" pitchFamily="34" charset="-122"/>
                <a:cs typeface="EB Garamond" pitchFamily="34" charset="-120"/>
              </a:rPr>
              <a:t>Be present, enjoy every moment and let yourself be carried by the people, emotions and energy around you. I’ll be there to observe, anticipate and gently guide when needed, allowing everything to unfold naturally while you simply enjoy your day.</a:t>
            </a:r>
            <a:endParaRPr lang="en-US" sz="1100" dirty="0">
              <a:solidFill>
                <a:srgbClr val="252422"/>
              </a:solidFill>
            </a:endParaRPr>
          </a:p>
        </p:txBody>
      </p:sp>
      <p:sp>
        <p:nvSpPr>
          <p:cNvPr id="15" name="Text 6">
            <a:extLst>
              <a:ext uri="{FF2B5EF4-FFF2-40B4-BE49-F238E27FC236}">
                <a16:creationId xmlns:a16="http://schemas.microsoft.com/office/drawing/2014/main" id="{A3994F97-EF73-A75C-AEA3-EDC0984AEFB8}"/>
              </a:ext>
            </a:extLst>
          </p:cNvPr>
          <p:cNvSpPr/>
          <p:nvPr/>
        </p:nvSpPr>
        <p:spPr>
          <a:xfrm>
            <a:off x="2770872" y="5381966"/>
            <a:ext cx="950495" cy="263732"/>
          </a:xfrm>
          <a:prstGeom prst="rect">
            <a:avLst/>
          </a:prstGeom>
          <a:noFill/>
          <a:ln/>
        </p:spPr>
        <p:txBody>
          <a:bodyPr wrap="square" lIns="0" tIns="0" rIns="0" bIns="0" rtlCol="0" anchor="ctr">
            <a:normAutofit/>
          </a:bodyPr>
          <a:lstStyle/>
          <a:p>
            <a:pPr marL="0" indent="0" algn="l">
              <a:buNone/>
            </a:pPr>
            <a:r>
              <a:rPr lang="en-US" sz="900" kern="0" spc="200" dirty="0">
                <a:solidFill>
                  <a:srgbClr val="171513"/>
                </a:solidFill>
                <a:latin typeface="Aptos" pitchFamily="34" charset="0"/>
                <a:ea typeface="Aptos" pitchFamily="34" charset="-122"/>
                <a:cs typeface="Aptos" pitchFamily="34" charset="-120"/>
              </a:rPr>
              <a:t>04 - RELIVE</a:t>
            </a:r>
            <a:endParaRPr lang="en-US" sz="900" dirty="0"/>
          </a:p>
        </p:txBody>
      </p:sp>
      <p:sp>
        <p:nvSpPr>
          <p:cNvPr id="16" name="Text 7">
            <a:extLst>
              <a:ext uri="{FF2B5EF4-FFF2-40B4-BE49-F238E27FC236}">
                <a16:creationId xmlns:a16="http://schemas.microsoft.com/office/drawing/2014/main" id="{D1AC2570-052E-43A7-1964-BAEB3A162D69}"/>
              </a:ext>
            </a:extLst>
          </p:cNvPr>
          <p:cNvSpPr/>
          <p:nvPr/>
        </p:nvSpPr>
        <p:spPr>
          <a:xfrm>
            <a:off x="685800" y="5676980"/>
            <a:ext cx="5120640" cy="796972"/>
          </a:xfrm>
          <a:prstGeom prst="rect">
            <a:avLst/>
          </a:prstGeom>
          <a:noFill/>
          <a:ln/>
        </p:spPr>
        <p:txBody>
          <a:bodyPr wrap="square" lIns="0" tIns="0" rIns="0" bIns="0" rtlCol="0" anchor="t">
            <a:normAutofit/>
          </a:bodyPr>
          <a:lstStyle/>
          <a:p>
            <a:pPr algn="ctr">
              <a:lnSpc>
                <a:spcPct val="95000"/>
              </a:lnSpc>
            </a:pPr>
            <a:r>
              <a:rPr lang="en-US" sz="1100" dirty="0">
                <a:solidFill>
                  <a:srgbClr val="252422"/>
                </a:solidFill>
                <a:latin typeface="EB Garamond" pitchFamily="34" charset="0"/>
                <a:ea typeface="EB Garamond" pitchFamily="34" charset="-122"/>
                <a:cs typeface="EB Garamond" pitchFamily="34" charset="-120"/>
              </a:rPr>
              <a:t>After your wedding, each photograph is carefully selected and individually edited in line with my signature approach – natural, refined and true to the feeling of the day.</a:t>
            </a:r>
          </a:p>
          <a:p>
            <a:pPr algn="ctr">
              <a:lnSpc>
                <a:spcPct val="95000"/>
              </a:lnSpc>
            </a:pPr>
            <a:endParaRPr lang="en-US" sz="11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100" dirty="0">
                <a:solidFill>
                  <a:srgbClr val="252422"/>
                </a:solidFill>
                <a:latin typeface="EB Garamond" pitchFamily="34" charset="0"/>
                <a:ea typeface="EB Garamond" pitchFamily="34" charset="-122"/>
                <a:cs typeface="EB Garamond" pitchFamily="34" charset="-120"/>
              </a:rPr>
              <a:t>Your complete gallery will be delivered through a private online gallery within five weeks, ready to be revisited, shared and relived for years to come.</a:t>
            </a:r>
            <a:endParaRPr lang="en-US" sz="1100" dirty="0">
              <a:solidFill>
                <a:srgbClr val="25242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6284671" y="384048"/>
            <a:ext cx="5522976" cy="6089904"/>
          </a:xfrm>
          <a:prstGeom prst="rect">
            <a:avLst/>
          </a:prstGeom>
          <a:solidFill>
            <a:srgbClr val="E7DED4"/>
          </a:solidFill>
          <a:ln w="12700">
            <a:solidFill>
              <a:srgbClr val="E7DED4">
                <a:alpha val="0"/>
              </a:srgbClr>
            </a:solidFill>
            <a:prstDash val="solid"/>
          </a:ln>
        </p:spPr>
        <p:txBody>
          <a:bodyPr/>
          <a:lstStyle/>
          <a:p>
            <a:endParaRPr lang="fr-FR"/>
          </a:p>
        </p:txBody>
      </p:sp>
      <p:pic>
        <p:nvPicPr>
          <p:cNvPr id="3" name="Image 0" descr="/mnt/data/a_black_and_white_shallow_depth_of_field_cinemat.png"/>
          <p:cNvPicPr>
            <a:picLocks noChangeAspect="1"/>
          </p:cNvPicPr>
          <p:nvPr/>
        </p:nvPicPr>
        <p:blipFill>
          <a:blip r:embed="rId3"/>
          <a:srcRect l="24512" r="24512"/>
          <a:stretch/>
        </p:blipFill>
        <p:spPr>
          <a:xfrm>
            <a:off x="6321247" y="420624"/>
            <a:ext cx="5449824" cy="6016752"/>
          </a:xfrm>
          <a:prstGeom prst="rect">
            <a:avLst/>
          </a:prstGeom>
        </p:spPr>
      </p:pic>
      <p:sp>
        <p:nvSpPr>
          <p:cNvPr id="7" name="Text 4"/>
          <p:cNvSpPr/>
          <p:nvPr/>
        </p:nvSpPr>
        <p:spPr>
          <a:xfrm>
            <a:off x="685800" y="2449630"/>
            <a:ext cx="5120640" cy="3299780"/>
          </a:xfrm>
          <a:prstGeom prst="rect">
            <a:avLst/>
          </a:prstGeom>
          <a:noFill/>
          <a:ln/>
        </p:spPr>
        <p:txBody>
          <a:bodyPr wrap="square" lIns="0" tIns="0" rIns="0" bIns="0" rtlCol="0" anchor="t">
            <a:normAutofit/>
          </a:bodyPr>
          <a:lstStyle/>
          <a:p>
            <a:pPr marL="0" indent="0" algn="ctr">
              <a:lnSpc>
                <a:spcPct val="95000"/>
              </a:lnSpc>
              <a:buNone/>
            </a:pPr>
            <a:r>
              <a:rPr lang="en-US" sz="1200" dirty="0">
                <a:solidFill>
                  <a:srgbClr val="252422"/>
                </a:solidFill>
                <a:latin typeface="EB Garamond" pitchFamily="34" charset="0"/>
                <a:ea typeface="EB Garamond" pitchFamily="34" charset="-122"/>
                <a:cs typeface="EB Garamond" pitchFamily="34" charset="-120"/>
              </a:rPr>
              <a:t>Long after the celebration has passed, photographs become a way back to it.</a:t>
            </a:r>
            <a:endParaRPr lang="en-US" sz="1200" dirty="0">
              <a:solidFill>
                <a:srgbClr val="252422"/>
              </a:solidFill>
            </a:endParaRPr>
          </a:p>
          <a:p>
            <a:pPr marL="0" indent="0" algn="ctr">
              <a:lnSpc>
                <a:spcPct val="95000"/>
              </a:lnSpc>
              <a:buNone/>
            </a:pPr>
            <a:endParaRPr lang="en-US" sz="1200" dirty="0">
              <a:solidFill>
                <a:srgbClr val="252422"/>
              </a:solidFill>
            </a:endParaRPr>
          </a:p>
          <a:p>
            <a:pPr marL="0" indent="0" algn="ctr">
              <a:lnSpc>
                <a:spcPct val="95000"/>
              </a:lnSpc>
              <a:buNone/>
            </a:pPr>
            <a:r>
              <a:rPr lang="en-US" sz="1200" dirty="0">
                <a:solidFill>
                  <a:srgbClr val="252422"/>
                </a:solidFill>
                <a:latin typeface="EB Garamond" pitchFamily="34" charset="0"/>
                <a:ea typeface="EB Garamond" pitchFamily="34" charset="-122"/>
                <a:cs typeface="EB Garamond" pitchFamily="34" charset="-120"/>
              </a:rPr>
              <a:t>Not only to how everything looked, but to the people who were there, the atmosphere around you and the moments you may not have noticed as they unfold.</a:t>
            </a:r>
            <a:endParaRPr lang="en-US" sz="1200" dirty="0">
              <a:solidFill>
                <a:srgbClr val="252422"/>
              </a:solidFill>
            </a:endParaRPr>
          </a:p>
          <a:p>
            <a:pPr marL="0" indent="0" algn="ctr">
              <a:lnSpc>
                <a:spcPct val="95000"/>
              </a:lnSpc>
              <a:buNone/>
            </a:pPr>
            <a:endParaRPr lang="en-US" sz="1200" dirty="0">
              <a:solidFill>
                <a:srgbClr val="252422"/>
              </a:solidFill>
            </a:endParaRPr>
          </a:p>
          <a:p>
            <a:pPr marL="0" indent="0" algn="ctr">
              <a:lnSpc>
                <a:spcPct val="95000"/>
              </a:lnSpc>
              <a:buNone/>
            </a:pPr>
            <a:r>
              <a:rPr lang="en-US" sz="1200" dirty="0">
                <a:solidFill>
                  <a:srgbClr val="252422"/>
                </a:solidFill>
                <a:latin typeface="EB Garamond" pitchFamily="34" charset="0"/>
                <a:ea typeface="EB Garamond" pitchFamily="34" charset="-122"/>
                <a:cs typeface="EB Garamond" pitchFamily="34" charset="-120"/>
              </a:rPr>
              <a:t>Sometimes, the photographs that matter most are the quietest ones.</a:t>
            </a:r>
          </a:p>
          <a:p>
            <a:pPr marL="0" indent="0" algn="ctr">
              <a:lnSpc>
                <a:spcPct val="95000"/>
              </a:lnSpc>
              <a:buNone/>
            </a:pPr>
            <a:endParaRPr lang="en-US" sz="1200" dirty="0">
              <a:solidFill>
                <a:srgbClr val="252422"/>
              </a:solidFill>
              <a:latin typeface="EB Garamond" pitchFamily="34" charset="0"/>
              <a:ea typeface="EB Garamond" pitchFamily="34" charset="-122"/>
              <a:cs typeface="EB Garamond" pitchFamily="34" charset="-120"/>
            </a:endParaRPr>
          </a:p>
          <a:p>
            <a:pPr marL="0" indent="0" algn="ctr">
              <a:lnSpc>
                <a:spcPct val="95000"/>
              </a:lnSpc>
              <a:buNone/>
            </a:pPr>
            <a:endParaRPr lang="en-US" sz="1200" dirty="0">
              <a:solidFill>
                <a:srgbClr val="252422"/>
              </a:solidFill>
              <a:latin typeface="EB Garamond" pitchFamily="34" charset="0"/>
              <a:ea typeface="EB Garamond" pitchFamily="34" charset="-122"/>
            </a:endParaRPr>
          </a:p>
          <a:p>
            <a:pPr algn="ctr"/>
            <a:r>
              <a:rPr lang="en-US" sz="1200" i="1" dirty="0">
                <a:solidFill>
                  <a:srgbClr val="171513"/>
                </a:solidFill>
                <a:latin typeface="EB Garamond" pitchFamily="34" charset="0"/>
                <a:ea typeface="EB Garamond" pitchFamily="34" charset="-122"/>
                <a:cs typeface="EB Garamond" pitchFamily="34" charset="-120"/>
              </a:rPr>
              <a:t>A look.</a:t>
            </a:r>
            <a:endParaRPr lang="en-US" sz="1200" dirty="0"/>
          </a:p>
          <a:p>
            <a:pPr algn="ctr"/>
            <a:r>
              <a:rPr lang="en-US" sz="1200" i="1" dirty="0">
                <a:solidFill>
                  <a:srgbClr val="171513"/>
                </a:solidFill>
                <a:latin typeface="EB Garamond" pitchFamily="34" charset="0"/>
                <a:ea typeface="EB Garamond" pitchFamily="34" charset="-122"/>
                <a:cs typeface="EB Garamond" pitchFamily="34" charset="-120"/>
              </a:rPr>
              <a:t>A hand reaching for another.</a:t>
            </a:r>
            <a:endParaRPr lang="en-US" sz="1200" dirty="0"/>
          </a:p>
          <a:p>
            <a:pPr algn="ctr"/>
            <a:r>
              <a:rPr lang="en-US" sz="1200" i="1" dirty="0">
                <a:solidFill>
                  <a:srgbClr val="171513"/>
                </a:solidFill>
                <a:latin typeface="EB Garamond" pitchFamily="34" charset="0"/>
                <a:ea typeface="EB Garamond" pitchFamily="34" charset="-122"/>
                <a:cs typeface="EB Garamond" pitchFamily="34" charset="-120"/>
              </a:rPr>
              <a:t>Someone you love laughing across the room.</a:t>
            </a:r>
            <a:endParaRPr lang="en-US" sz="1200" dirty="0"/>
          </a:p>
          <a:p>
            <a:pPr algn="ctr"/>
            <a:r>
              <a:rPr lang="en-US" sz="1200" i="1" dirty="0">
                <a:solidFill>
                  <a:srgbClr val="171513"/>
                </a:solidFill>
                <a:latin typeface="EB Garamond" pitchFamily="34" charset="0"/>
                <a:ea typeface="EB Garamond" pitchFamily="34" charset="-122"/>
                <a:cs typeface="EB Garamond" pitchFamily="34" charset="-120"/>
              </a:rPr>
              <a:t>A moment you never </a:t>
            </a:r>
            <a:r>
              <a:rPr lang="en-US" sz="1200" i="1" dirty="0" err="1">
                <a:solidFill>
                  <a:srgbClr val="171513"/>
                </a:solidFill>
                <a:latin typeface="EB Garamond" pitchFamily="34" charset="0"/>
                <a:ea typeface="EB Garamond" pitchFamily="34" charset="-122"/>
                <a:cs typeface="EB Garamond" pitchFamily="34" charset="-120"/>
              </a:rPr>
              <a:t>realised</a:t>
            </a:r>
            <a:r>
              <a:rPr lang="en-US" sz="1200" i="1" dirty="0">
                <a:solidFill>
                  <a:srgbClr val="171513"/>
                </a:solidFill>
                <a:latin typeface="EB Garamond" pitchFamily="34" charset="0"/>
                <a:ea typeface="EB Garamond" pitchFamily="34" charset="-122"/>
                <a:cs typeface="EB Garamond" pitchFamily="34" charset="-120"/>
              </a:rPr>
              <a:t> I had seen.</a:t>
            </a:r>
          </a:p>
          <a:p>
            <a:pPr algn="ctr"/>
            <a:endParaRPr lang="en-US" sz="1200" i="1" dirty="0">
              <a:solidFill>
                <a:srgbClr val="171513"/>
              </a:solidFill>
              <a:latin typeface="EB Garamond" pitchFamily="34" charset="0"/>
              <a:ea typeface="EB Garamond" pitchFamily="34" charset="-122"/>
              <a:cs typeface="EB Garamond" pitchFamily="34" charset="-120"/>
            </a:endParaRPr>
          </a:p>
          <a:p>
            <a:endParaRPr lang="en-US" sz="1200" i="1" dirty="0">
              <a:solidFill>
                <a:srgbClr val="171513"/>
              </a:solidFill>
              <a:latin typeface="EB Garamond" pitchFamily="34" charset="0"/>
              <a:ea typeface="EB Garamond" pitchFamily="34" charset="-122"/>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Knowing these images may become part of how you remember this chapter years from now is one of the most meaningful parts of what I do.</a:t>
            </a:r>
          </a:p>
          <a:p>
            <a:pPr algn="ctr">
              <a:lnSpc>
                <a:spcPct val="95000"/>
              </a:lnSpc>
            </a:pPr>
            <a:endParaRPr lang="en-US" sz="1200" dirty="0">
              <a:solidFill>
                <a:srgbClr val="252422"/>
              </a:solidFill>
              <a:latin typeface="EB Garamond" pitchFamily="34" charset="0"/>
              <a:ea typeface="EB Garamond" pitchFamily="34" charset="-122"/>
              <a:cs typeface="EB Garamond" pitchFamily="34" charset="-120"/>
            </a:endParaRPr>
          </a:p>
          <a:p>
            <a:pPr algn="ctr">
              <a:lnSpc>
                <a:spcPct val="95000"/>
              </a:lnSpc>
            </a:pPr>
            <a:r>
              <a:rPr lang="en-US" sz="1200" dirty="0">
                <a:solidFill>
                  <a:srgbClr val="252422"/>
                </a:solidFill>
                <a:latin typeface="EB Garamond" pitchFamily="34" charset="0"/>
                <a:ea typeface="EB Garamond" pitchFamily="34" charset="-122"/>
                <a:cs typeface="EB Garamond" pitchFamily="34" charset="-120"/>
              </a:rPr>
              <a:t>Thank you for considering me to tell this part of your story.</a:t>
            </a:r>
            <a:endParaRPr lang="en-US" sz="1200" dirty="0">
              <a:solidFill>
                <a:srgbClr val="252422"/>
              </a:solidFill>
            </a:endParaRPr>
          </a:p>
          <a:p>
            <a:endParaRPr lang="en-US" sz="1400" dirty="0"/>
          </a:p>
          <a:p>
            <a:pPr marL="0" indent="0" algn="ctr">
              <a:lnSpc>
                <a:spcPct val="95000"/>
              </a:lnSpc>
              <a:buNone/>
            </a:pPr>
            <a:endParaRPr lang="en-US" sz="1290" dirty="0">
              <a:solidFill>
                <a:srgbClr val="252422"/>
              </a:solidFill>
            </a:endParaRPr>
          </a:p>
        </p:txBody>
      </p:sp>
      <p:sp>
        <p:nvSpPr>
          <p:cNvPr id="10" name="Text 7"/>
          <p:cNvSpPr/>
          <p:nvPr/>
        </p:nvSpPr>
        <p:spPr>
          <a:xfrm>
            <a:off x="11658600" y="6565392"/>
            <a:ext cx="365760" cy="137160"/>
          </a:xfrm>
          <a:prstGeom prst="rect">
            <a:avLst/>
          </a:prstGeom>
          <a:noFill/>
          <a:ln/>
        </p:spPr>
        <p:txBody>
          <a:bodyPr wrap="square" lIns="0" tIns="0" rIns="0" bIns="0" rtlCol="0" anchor="ctr"/>
          <a:lstStyle/>
          <a:p>
            <a:pPr marL="0" indent="0" algn="r">
              <a:buNone/>
            </a:pPr>
            <a:r>
              <a:rPr lang="en-US" sz="800" dirty="0">
                <a:solidFill>
                  <a:srgbClr val="6E5E67"/>
                </a:solidFill>
                <a:latin typeface="Aptos" pitchFamily="34" charset="0"/>
              </a:rPr>
              <a:t>09</a:t>
            </a:r>
            <a:endParaRPr lang="en-US" sz="800" dirty="0"/>
          </a:p>
        </p:txBody>
      </p:sp>
      <p:sp>
        <p:nvSpPr>
          <p:cNvPr id="14" name="Text 2">
            <a:extLst>
              <a:ext uri="{FF2B5EF4-FFF2-40B4-BE49-F238E27FC236}">
                <a16:creationId xmlns:a16="http://schemas.microsoft.com/office/drawing/2014/main" id="{5235DCA5-A37F-A7F6-7627-AB3FDCCC6144}"/>
              </a:ext>
            </a:extLst>
          </p:cNvPr>
          <p:cNvSpPr/>
          <p:nvPr/>
        </p:nvSpPr>
        <p:spPr>
          <a:xfrm>
            <a:off x="1741270" y="1108590"/>
            <a:ext cx="3009700" cy="548640"/>
          </a:xfrm>
          <a:prstGeom prst="rect">
            <a:avLst/>
          </a:prstGeom>
          <a:noFill/>
          <a:ln/>
        </p:spPr>
        <p:txBody>
          <a:bodyPr wrap="square" lIns="0" tIns="0" rIns="0" bIns="0" rtlCol="0" anchor="ctr">
            <a:normAutofit/>
          </a:bodyPr>
          <a:lstStyle/>
          <a:p>
            <a:pPr lvl="1"/>
            <a:r>
              <a:rPr lang="en-US" sz="2800" dirty="0">
                <a:solidFill>
                  <a:srgbClr val="171513"/>
                </a:solidFill>
                <a:ea typeface="GFS Didot" pitchFamily="34" charset="-122"/>
                <a:cs typeface="GFS Didot" pitchFamily="34" charset="-120"/>
              </a:rPr>
              <a:t>A FINAL NOTE</a:t>
            </a:r>
            <a:endParaRPr lang="en-US" sz="28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3EC"/>
        </a:solidFill>
        <a:effectLst/>
      </p:bgPr>
    </p:bg>
    <p:spTree>
      <p:nvGrpSpPr>
        <p:cNvPr id="1" name=""/>
        <p:cNvGrpSpPr/>
        <p:nvPr/>
      </p:nvGrpSpPr>
      <p:grpSpPr/>
      <p:sp>
        <p:nvSpPr>
          <p:cNvPr id="2" name="Rectangle 1"/>
          <p:cNvSpPr/>
          <p:nvPr/>
        </p:nvSpPr>
        <p:spPr>
          <a:xfrm>
            <a:off x="6281928" y="384048"/>
            <a:ext cx="5522976" cy="6089904"/>
          </a:xfrm>
          <a:prstGeom prst="rect">
            <a:avLst/>
          </a:prstGeom>
          <a:solidFill>
            <a:srgbClr val="E7DED4"/>
          </a:solidFill>
          <a:ln>
            <a:noFill/>
          </a:ln>
        </p:spPr>
        <p:txBody>
          <a:bodyPr rtlCol="0" anchor="ctr"/>
          <a:lstStyle/>
          <a:p>
            <a:pPr algn="ctr"/>
          </a:p>
        </p:txBody>
      </p:sp>
      <p:pic>
        <p:nvPicPr>
          <p:cNvPr id="3" name="Picture 2" descr="svc-portraits.jpg"/>
          <p:cNvPicPr>
            <a:picLocks noChangeAspect="1"/>
          </p:cNvPicPr>
          <p:nvPr/>
        </p:nvPicPr>
        <p:blipFill>
          <a:blip r:embed="rId2"/>
          <a:stretch>
            <a:fillRect/>
          </a:stretch>
        </p:blipFill>
        <p:spPr>
          <a:xfrm>
            <a:off x="6318504" y="420623"/>
            <a:ext cx="5449824" cy="6016752"/>
          </a:xfrm>
          <a:prstGeom prst="rect">
            <a:avLst/>
          </a:prstGeom>
        </p:spPr>
      </p:pic>
      <p:sp>
        <p:nvSpPr>
          <p:cNvPr id="4" name="TextBox 3"/>
          <p:cNvSpPr txBox="1"/>
          <p:nvPr/>
        </p:nvSpPr>
        <p:spPr>
          <a:xfrm>
            <a:off x="685800" y="1737360"/>
            <a:ext cx="5120640" cy="228600"/>
          </a:xfrm>
          <a:prstGeom prst="rect">
            <a:avLst/>
          </a:prstGeom>
          <a:noFill/>
        </p:spPr>
        <p:txBody>
          <a:bodyPr wrap="square" lIns="0" rIns="0" tIns="0" bIns="0" anchor="t">
            <a:spAutoFit/>
          </a:bodyPr>
          <a:lstStyle/>
          <a:p>
            <a:pPr algn="ctr">
              <a:lnSpc>
                <a:spcPct val="95000"/>
              </a:lnSpc>
              <a:spcBef>
                <a:spcPts val="0"/>
              </a:spcBef>
              <a:spcAft>
                <a:spcPts val="0"/>
              </a:spcAft>
            </a:pPr>
            <a:r>
              <a:rPr sz="850" i="0" b="0" lang="en-US" spc="200" kern="0">
                <a:solidFill>
                  <a:srgbClr val="6E5E67"/>
                </a:solidFill>
                <a:latin typeface="Aptos"/>
                <a:ea typeface="Aptos"/>
                <a:cs typeface="Aptos"/>
              </a:rPr>
              <a:t>COLLECTIONS</a:t>
            </a:r>
          </a:p>
        </p:txBody>
      </p:sp>
      <p:sp>
        <p:nvSpPr>
          <p:cNvPr id="5" name="TextBox 4"/>
          <p:cNvSpPr txBox="1"/>
          <p:nvPr/>
        </p:nvSpPr>
        <p:spPr>
          <a:xfrm>
            <a:off x="685800" y="2103120"/>
            <a:ext cx="5120640" cy="1097280"/>
          </a:xfrm>
          <a:prstGeom prst="rect">
            <a:avLst/>
          </a:prstGeom>
          <a:noFill/>
        </p:spPr>
        <p:txBody>
          <a:bodyPr wrap="square" lIns="0" rIns="0" tIns="0" bIns="0" anchor="ctr">
            <a:spAutoFit/>
          </a:bodyPr>
          <a:lstStyle/>
          <a:p>
            <a:pPr algn="ctr">
              <a:lnSpc>
                <a:spcPct val="95000"/>
              </a:lnSpc>
              <a:spcBef>
                <a:spcPts val="0"/>
              </a:spcBef>
              <a:spcAft>
                <a:spcPts val="0"/>
              </a:spcAft>
            </a:pPr>
            <a:r>
              <a:rPr sz="2800" i="0" b="0" lang="en-US">
                <a:solidFill>
                  <a:srgbClr val="171513"/>
                </a:solidFill>
                <a:latin typeface="GFS Didot"/>
                <a:ea typeface="GFS Didot"/>
                <a:cs typeface="GFS Didot"/>
              </a:rPr>
              <a:t>Portraits &amp; Lifestyle session</a:t>
            </a:r>
          </a:p>
        </p:txBody>
      </p:sp>
      <p:cxnSp>
        <p:nvCxnSpPr>
          <p:cNvPr id="6" name="Connector 5"/>
          <p:cNvCxnSpPr/>
          <p:nvPr/>
        </p:nvCxnSpPr>
        <p:spPr>
          <a:xfrm>
            <a:off x="2971800" y="3337560"/>
            <a:ext cx="548640" cy="0"/>
          </a:xfrm>
          <a:prstGeom prst="line">
            <a:avLst/>
          </a:prstGeom>
          <a:ln w="6350">
            <a:solidFill>
              <a:srgbClr val="C7BBB0"/>
            </a:solidFill>
          </a:ln>
        </p:spPr>
      </p:cxnSp>
      <p:sp>
        <p:nvSpPr>
          <p:cNvPr id="7" name="Rounded Rectangle 6"/>
          <p:cNvSpPr/>
          <p:nvPr/>
        </p:nvSpPr>
        <p:spPr>
          <a:xfrm>
            <a:off x="1600199" y="3703320"/>
            <a:ext cx="3291840" cy="1417320"/>
          </a:xfrm>
          <a:prstGeom prst="roundRect">
            <a:avLst>
              <a:gd name="adj" fmla="val 2970"/>
            </a:avLst>
          </a:prstGeom>
          <a:solidFill>
            <a:srgbClr val="FAF7F2">
              <a:alpha val="82000"/>
            </a:srgbClr>
          </a:solidFill>
          <a:ln w="9525">
            <a:solidFill>
              <a:srgbClr val="C7BBB0"/>
            </a:solidFill>
          </a:ln>
        </p:spPr>
        <p:txBody>
          <a:bodyPr rtlCol="0" anchor="ctr"/>
          <a:lstStyle/>
          <a:p>
            <a:pPr algn="ctr"/>
          </a:p>
        </p:txBody>
      </p:sp>
      <p:sp>
        <p:nvSpPr>
          <p:cNvPr id="8" name="TextBox 7"/>
          <p:cNvSpPr txBox="1"/>
          <p:nvPr/>
        </p:nvSpPr>
        <p:spPr>
          <a:xfrm>
            <a:off x="1600199" y="3886200"/>
            <a:ext cx="3291840" cy="411480"/>
          </a:xfrm>
          <a:prstGeom prst="rect">
            <a:avLst/>
          </a:prstGeom>
          <a:noFill/>
        </p:spPr>
        <p:txBody>
          <a:bodyPr wrap="square" lIns="0" rIns="0" tIns="0" bIns="0" anchor="ctr">
            <a:spAutoFit/>
          </a:bodyPr>
          <a:lstStyle/>
          <a:p>
            <a:pPr algn="ctr">
              <a:lnSpc>
                <a:spcPct val="95000"/>
              </a:lnSpc>
              <a:spcBef>
                <a:spcPts val="0"/>
              </a:spcBef>
              <a:spcAft>
                <a:spcPts val="0"/>
              </a:spcAft>
            </a:pPr>
            <a:r>
              <a:rPr sz="1900" i="0" b="0" lang="en-US">
                <a:solidFill>
                  <a:srgbClr val="171513"/>
                </a:solidFill>
                <a:latin typeface="GFS Didot"/>
                <a:ea typeface="GFS Didot"/>
                <a:cs typeface="GFS Didot"/>
              </a:rPr>
              <a:t>1 hour coverage</a:t>
            </a:r>
          </a:p>
        </p:txBody>
      </p:sp>
      <p:cxnSp>
        <p:nvCxnSpPr>
          <p:cNvPr id="9" name="Connector 8"/>
          <p:cNvCxnSpPr/>
          <p:nvPr/>
        </p:nvCxnSpPr>
        <p:spPr>
          <a:xfrm>
            <a:off x="2057400" y="4416552"/>
            <a:ext cx="2377440" cy="0"/>
          </a:xfrm>
          <a:prstGeom prst="line">
            <a:avLst/>
          </a:prstGeom>
          <a:ln w="6350">
            <a:solidFill>
              <a:srgbClr val="C7BBB0"/>
            </a:solidFill>
          </a:ln>
        </p:spPr>
      </p:cxnSp>
      <p:sp>
        <p:nvSpPr>
          <p:cNvPr id="10" name="TextBox 9"/>
          <p:cNvSpPr txBox="1"/>
          <p:nvPr/>
        </p:nvSpPr>
        <p:spPr>
          <a:xfrm>
            <a:off x="1600199" y="4526280"/>
            <a:ext cx="3291840" cy="411480"/>
          </a:xfrm>
          <a:prstGeom prst="rect">
            <a:avLst/>
          </a:prstGeom>
          <a:noFill/>
        </p:spPr>
        <p:txBody>
          <a:bodyPr wrap="square" lIns="0" rIns="0" tIns="0" bIns="0" anchor="ctr">
            <a:spAutoFit/>
          </a:bodyPr>
          <a:lstStyle/>
          <a:p>
            <a:pPr algn="ctr">
              <a:lnSpc>
                <a:spcPct val="95000"/>
              </a:lnSpc>
              <a:spcBef>
                <a:spcPts val="0"/>
              </a:spcBef>
              <a:spcAft>
                <a:spcPts val="0"/>
              </a:spcAft>
            </a:pPr>
            <a:r>
              <a:rPr sz="1400" i="0" b="0" lang="en-US">
                <a:solidFill>
                  <a:srgbClr val="252422"/>
                </a:solidFill>
                <a:latin typeface="EB Garamond"/>
                <a:ea typeface="EB Garamond"/>
                <a:cs typeface="EB Garamond"/>
              </a:rPr>
              <a:t>20+ edited photographs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EC"/>
        </a:solidFill>
        <a:effectLst/>
      </p:bgPr>
    </p:bg>
    <p:spTree>
      <p:nvGrpSpPr>
        <p:cNvPr id="1" name=""/>
        <p:cNvGrpSpPr/>
        <p:nvPr/>
      </p:nvGrpSpPr>
      <p:grpSpPr/>
      <p:sp>
        <p:nvSpPr>
          <p:cNvPr id="2" name="Rectangle 1"/>
          <p:cNvSpPr/>
          <p:nvPr/>
        </p:nvSpPr>
        <p:spPr>
          <a:xfrm>
            <a:off x="384048" y="384048"/>
            <a:ext cx="5522976" cy="6089904"/>
          </a:xfrm>
          <a:prstGeom prst="rect">
            <a:avLst/>
          </a:prstGeom>
          <a:solidFill>
            <a:srgbClr val="E7DED4"/>
          </a:solidFill>
          <a:ln>
            <a:noFill/>
          </a:ln>
        </p:spPr>
        <p:txBody>
          <a:bodyPr rtlCol="0" anchor="ctr"/>
          <a:lstStyle/>
          <a:p>
            <a:pPr algn="ctr"/>
          </a:p>
        </p:txBody>
      </p:sp>
      <p:pic>
        <p:nvPicPr>
          <p:cNvPr id="3" name="Picture 2" descr="svc-civil.jpg"/>
          <p:cNvPicPr>
            <a:picLocks noChangeAspect="1"/>
          </p:cNvPicPr>
          <p:nvPr/>
        </p:nvPicPr>
        <p:blipFill>
          <a:blip r:embed="rId2"/>
          <a:stretch>
            <a:fillRect/>
          </a:stretch>
        </p:blipFill>
        <p:spPr>
          <a:xfrm>
            <a:off x="420623" y="420623"/>
            <a:ext cx="5449824" cy="6016752"/>
          </a:xfrm>
          <a:prstGeom prst="rect">
            <a:avLst/>
          </a:prstGeom>
        </p:spPr>
      </p:pic>
      <p:sp>
        <p:nvSpPr>
          <p:cNvPr id="4" name="TextBox 3"/>
          <p:cNvSpPr txBox="1"/>
          <p:nvPr/>
        </p:nvSpPr>
        <p:spPr>
          <a:xfrm>
            <a:off x="6400800" y="1737360"/>
            <a:ext cx="5120640" cy="228600"/>
          </a:xfrm>
          <a:prstGeom prst="rect">
            <a:avLst/>
          </a:prstGeom>
          <a:noFill/>
        </p:spPr>
        <p:txBody>
          <a:bodyPr wrap="square" lIns="0" rIns="0" tIns="0" bIns="0" anchor="t">
            <a:spAutoFit/>
          </a:bodyPr>
          <a:lstStyle/>
          <a:p>
            <a:pPr algn="ctr">
              <a:lnSpc>
                <a:spcPct val="95000"/>
              </a:lnSpc>
              <a:spcBef>
                <a:spcPts val="0"/>
              </a:spcBef>
              <a:spcAft>
                <a:spcPts val="0"/>
              </a:spcAft>
            </a:pPr>
            <a:r>
              <a:rPr sz="850" i="0" b="0" lang="en-US" spc="200" kern="0">
                <a:solidFill>
                  <a:srgbClr val="6E5E67"/>
                </a:solidFill>
                <a:latin typeface="Aptos"/>
                <a:ea typeface="Aptos"/>
                <a:cs typeface="Aptos"/>
              </a:rPr>
              <a:t>COLLECTIONS</a:t>
            </a:r>
          </a:p>
        </p:txBody>
      </p:sp>
      <p:sp>
        <p:nvSpPr>
          <p:cNvPr id="5" name="TextBox 4"/>
          <p:cNvSpPr txBox="1"/>
          <p:nvPr/>
        </p:nvSpPr>
        <p:spPr>
          <a:xfrm>
            <a:off x="6400800" y="2103120"/>
            <a:ext cx="5120640" cy="1097280"/>
          </a:xfrm>
          <a:prstGeom prst="rect">
            <a:avLst/>
          </a:prstGeom>
          <a:noFill/>
        </p:spPr>
        <p:txBody>
          <a:bodyPr wrap="square" lIns="0" rIns="0" tIns="0" bIns="0" anchor="ctr">
            <a:spAutoFit/>
          </a:bodyPr>
          <a:lstStyle/>
          <a:p>
            <a:pPr algn="ctr">
              <a:lnSpc>
                <a:spcPct val="95000"/>
              </a:lnSpc>
              <a:spcBef>
                <a:spcPts val="0"/>
              </a:spcBef>
              <a:spcAft>
                <a:spcPts val="0"/>
              </a:spcAft>
            </a:pPr>
            <a:r>
              <a:rPr sz="2800" i="0" b="0" lang="en-US">
                <a:solidFill>
                  <a:srgbClr val="171513"/>
                </a:solidFill>
                <a:latin typeface="GFS Didot"/>
                <a:ea typeface="GFS Didot"/>
                <a:cs typeface="GFS Didot"/>
              </a:rPr>
              <a:t>Civil Ceremony</a:t>
            </a:r>
          </a:p>
        </p:txBody>
      </p:sp>
      <p:cxnSp>
        <p:nvCxnSpPr>
          <p:cNvPr id="6" name="Connector 5"/>
          <p:cNvCxnSpPr/>
          <p:nvPr/>
        </p:nvCxnSpPr>
        <p:spPr>
          <a:xfrm>
            <a:off x="8686800" y="3337560"/>
            <a:ext cx="548640" cy="0"/>
          </a:xfrm>
          <a:prstGeom prst="line">
            <a:avLst/>
          </a:prstGeom>
          <a:ln w="6350">
            <a:solidFill>
              <a:srgbClr val="C7BBB0"/>
            </a:solidFill>
          </a:ln>
        </p:spPr>
      </p:cxnSp>
      <p:sp>
        <p:nvSpPr>
          <p:cNvPr id="7" name="Rounded Rectangle 6"/>
          <p:cNvSpPr/>
          <p:nvPr/>
        </p:nvSpPr>
        <p:spPr>
          <a:xfrm>
            <a:off x="7315200" y="3703320"/>
            <a:ext cx="3291840" cy="1417320"/>
          </a:xfrm>
          <a:prstGeom prst="roundRect">
            <a:avLst>
              <a:gd name="adj" fmla="val 2970"/>
            </a:avLst>
          </a:prstGeom>
          <a:solidFill>
            <a:srgbClr val="FAF7F2">
              <a:alpha val="82000"/>
            </a:srgbClr>
          </a:solidFill>
          <a:ln w="9525">
            <a:solidFill>
              <a:srgbClr val="C7BBB0"/>
            </a:solidFill>
          </a:ln>
        </p:spPr>
        <p:txBody>
          <a:bodyPr rtlCol="0" anchor="ctr"/>
          <a:lstStyle/>
          <a:p>
            <a:pPr algn="ctr"/>
          </a:p>
        </p:txBody>
      </p:sp>
      <p:sp>
        <p:nvSpPr>
          <p:cNvPr id="8" name="TextBox 7"/>
          <p:cNvSpPr txBox="1"/>
          <p:nvPr/>
        </p:nvSpPr>
        <p:spPr>
          <a:xfrm>
            <a:off x="7315200" y="3886200"/>
            <a:ext cx="3291840" cy="411480"/>
          </a:xfrm>
          <a:prstGeom prst="rect">
            <a:avLst/>
          </a:prstGeom>
          <a:noFill/>
        </p:spPr>
        <p:txBody>
          <a:bodyPr wrap="square" lIns="0" rIns="0" tIns="0" bIns="0" anchor="ctr">
            <a:spAutoFit/>
          </a:bodyPr>
          <a:lstStyle/>
          <a:p>
            <a:pPr algn="ctr">
              <a:lnSpc>
                <a:spcPct val="95000"/>
              </a:lnSpc>
              <a:spcBef>
                <a:spcPts val="0"/>
              </a:spcBef>
              <a:spcAft>
                <a:spcPts val="0"/>
              </a:spcAft>
            </a:pPr>
            <a:r>
              <a:rPr sz="1900" i="0" b="0" lang="en-US">
                <a:solidFill>
                  <a:srgbClr val="171513"/>
                </a:solidFill>
                <a:latin typeface="GFS Didot"/>
                <a:ea typeface="GFS Didot"/>
                <a:cs typeface="GFS Didot"/>
              </a:rPr>
              <a:t>2 hours coverage</a:t>
            </a:r>
          </a:p>
        </p:txBody>
      </p:sp>
      <p:cxnSp>
        <p:nvCxnSpPr>
          <p:cNvPr id="9" name="Connector 8"/>
          <p:cNvCxnSpPr/>
          <p:nvPr/>
        </p:nvCxnSpPr>
        <p:spPr>
          <a:xfrm>
            <a:off x="7772400" y="4416552"/>
            <a:ext cx="2377440" cy="0"/>
          </a:xfrm>
          <a:prstGeom prst="line">
            <a:avLst/>
          </a:prstGeom>
          <a:ln w="6350">
            <a:solidFill>
              <a:srgbClr val="C7BBB0"/>
            </a:solidFill>
          </a:ln>
        </p:spPr>
      </p:cxnSp>
      <p:sp>
        <p:nvSpPr>
          <p:cNvPr id="10" name="TextBox 9"/>
          <p:cNvSpPr txBox="1"/>
          <p:nvPr/>
        </p:nvSpPr>
        <p:spPr>
          <a:xfrm>
            <a:off x="7315200" y="4526280"/>
            <a:ext cx="3291840" cy="411480"/>
          </a:xfrm>
          <a:prstGeom prst="rect">
            <a:avLst/>
          </a:prstGeom>
          <a:noFill/>
        </p:spPr>
        <p:txBody>
          <a:bodyPr wrap="square" lIns="0" rIns="0" tIns="0" bIns="0" anchor="ctr">
            <a:spAutoFit/>
          </a:bodyPr>
          <a:lstStyle/>
          <a:p>
            <a:pPr algn="ctr">
              <a:lnSpc>
                <a:spcPct val="95000"/>
              </a:lnSpc>
              <a:spcBef>
                <a:spcPts val="0"/>
              </a:spcBef>
              <a:spcAft>
                <a:spcPts val="0"/>
              </a:spcAft>
            </a:pPr>
            <a:r>
              <a:rPr sz="1400" i="0" b="0" lang="en-US">
                <a:solidFill>
                  <a:srgbClr val="252422"/>
                </a:solidFill>
                <a:latin typeface="EB Garamond"/>
                <a:ea typeface="EB Garamond"/>
                <a:cs typeface="EB Garamond"/>
              </a:rPr>
              <a:t>80+ edited photographs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3EC"/>
        </a:solidFill>
        <a:effectLst/>
      </p:bgPr>
    </p:bg>
    <p:spTree>
      <p:nvGrpSpPr>
        <p:cNvPr id="1" name=""/>
        <p:cNvGrpSpPr/>
        <p:nvPr/>
      </p:nvGrpSpPr>
      <p:grpSpPr/>
      <p:sp>
        <p:nvSpPr>
          <p:cNvPr id="2" name="Rectangle 1"/>
          <p:cNvSpPr/>
          <p:nvPr/>
        </p:nvSpPr>
        <p:spPr>
          <a:xfrm>
            <a:off x="6281928" y="384048"/>
            <a:ext cx="5522976" cy="6089904"/>
          </a:xfrm>
          <a:prstGeom prst="rect">
            <a:avLst/>
          </a:prstGeom>
          <a:solidFill>
            <a:srgbClr val="E7DED4"/>
          </a:solidFill>
          <a:ln>
            <a:noFill/>
          </a:ln>
        </p:spPr>
        <p:txBody>
          <a:bodyPr rtlCol="0" anchor="ctr"/>
          <a:lstStyle/>
          <a:p>
            <a:pPr algn="ctr"/>
          </a:p>
        </p:txBody>
      </p:sp>
      <p:pic>
        <p:nvPicPr>
          <p:cNvPr id="3" name="Picture 2" descr="svc-elopement.jpg"/>
          <p:cNvPicPr>
            <a:picLocks noChangeAspect="1"/>
          </p:cNvPicPr>
          <p:nvPr/>
        </p:nvPicPr>
        <p:blipFill>
          <a:blip r:embed="rId2"/>
          <a:stretch>
            <a:fillRect/>
          </a:stretch>
        </p:blipFill>
        <p:spPr>
          <a:xfrm>
            <a:off x="6318504" y="420623"/>
            <a:ext cx="5449824" cy="6016752"/>
          </a:xfrm>
          <a:prstGeom prst="rect">
            <a:avLst/>
          </a:prstGeom>
        </p:spPr>
      </p:pic>
      <p:sp>
        <p:nvSpPr>
          <p:cNvPr id="4" name="TextBox 3"/>
          <p:cNvSpPr txBox="1"/>
          <p:nvPr/>
        </p:nvSpPr>
        <p:spPr>
          <a:xfrm>
            <a:off x="685800" y="1737360"/>
            <a:ext cx="5120640" cy="228600"/>
          </a:xfrm>
          <a:prstGeom prst="rect">
            <a:avLst/>
          </a:prstGeom>
          <a:noFill/>
        </p:spPr>
        <p:txBody>
          <a:bodyPr wrap="square" lIns="0" rIns="0" tIns="0" bIns="0" anchor="t">
            <a:spAutoFit/>
          </a:bodyPr>
          <a:lstStyle/>
          <a:p>
            <a:pPr algn="ctr">
              <a:lnSpc>
                <a:spcPct val="95000"/>
              </a:lnSpc>
              <a:spcBef>
                <a:spcPts val="0"/>
              </a:spcBef>
              <a:spcAft>
                <a:spcPts val="0"/>
              </a:spcAft>
            </a:pPr>
            <a:r>
              <a:rPr sz="850" i="0" b="0" lang="en-US" spc="200" kern="0">
                <a:solidFill>
                  <a:srgbClr val="6E5E67"/>
                </a:solidFill>
                <a:latin typeface="Aptos"/>
                <a:ea typeface="Aptos"/>
                <a:cs typeface="Aptos"/>
              </a:rPr>
              <a:t>COLLECTIONS</a:t>
            </a:r>
          </a:p>
        </p:txBody>
      </p:sp>
      <p:sp>
        <p:nvSpPr>
          <p:cNvPr id="5" name="TextBox 4"/>
          <p:cNvSpPr txBox="1"/>
          <p:nvPr/>
        </p:nvSpPr>
        <p:spPr>
          <a:xfrm>
            <a:off x="685800" y="2103120"/>
            <a:ext cx="5120640" cy="1097280"/>
          </a:xfrm>
          <a:prstGeom prst="rect">
            <a:avLst/>
          </a:prstGeom>
          <a:noFill/>
        </p:spPr>
        <p:txBody>
          <a:bodyPr wrap="square" lIns="0" rIns="0" tIns="0" bIns="0" anchor="ctr">
            <a:spAutoFit/>
          </a:bodyPr>
          <a:lstStyle/>
          <a:p>
            <a:pPr algn="ctr">
              <a:lnSpc>
                <a:spcPct val="95000"/>
              </a:lnSpc>
              <a:spcBef>
                <a:spcPts val="0"/>
              </a:spcBef>
              <a:spcAft>
                <a:spcPts val="0"/>
              </a:spcAft>
            </a:pPr>
            <a:r>
              <a:rPr sz="2800" i="0" b="0" lang="en-US">
                <a:solidFill>
                  <a:srgbClr val="171513"/>
                </a:solidFill>
                <a:latin typeface="GFS Didot"/>
                <a:ea typeface="GFS Didot"/>
                <a:cs typeface="GFS Didot"/>
              </a:rPr>
              <a:t>Elopement &amp; Intimate Wedding</a:t>
            </a:r>
          </a:p>
        </p:txBody>
      </p:sp>
      <p:cxnSp>
        <p:nvCxnSpPr>
          <p:cNvPr id="6" name="Connector 5"/>
          <p:cNvCxnSpPr/>
          <p:nvPr/>
        </p:nvCxnSpPr>
        <p:spPr>
          <a:xfrm>
            <a:off x="2971800" y="3337560"/>
            <a:ext cx="548640" cy="0"/>
          </a:xfrm>
          <a:prstGeom prst="line">
            <a:avLst/>
          </a:prstGeom>
          <a:ln w="6350">
            <a:solidFill>
              <a:srgbClr val="C7BBB0"/>
            </a:solidFill>
          </a:ln>
        </p:spPr>
      </p:cxnSp>
      <p:sp>
        <p:nvSpPr>
          <p:cNvPr id="7" name="Rounded Rectangle 6"/>
          <p:cNvSpPr/>
          <p:nvPr/>
        </p:nvSpPr>
        <p:spPr>
          <a:xfrm>
            <a:off x="1600199" y="3703320"/>
            <a:ext cx="3291840" cy="1417320"/>
          </a:xfrm>
          <a:prstGeom prst="roundRect">
            <a:avLst>
              <a:gd name="adj" fmla="val 2970"/>
            </a:avLst>
          </a:prstGeom>
          <a:solidFill>
            <a:srgbClr val="FAF7F2">
              <a:alpha val="82000"/>
            </a:srgbClr>
          </a:solidFill>
          <a:ln w="9525">
            <a:solidFill>
              <a:srgbClr val="C7BBB0"/>
            </a:solidFill>
          </a:ln>
        </p:spPr>
        <p:txBody>
          <a:bodyPr rtlCol="0" anchor="ctr"/>
          <a:lstStyle/>
          <a:p>
            <a:pPr algn="ctr"/>
          </a:p>
        </p:txBody>
      </p:sp>
      <p:sp>
        <p:nvSpPr>
          <p:cNvPr id="8" name="TextBox 7"/>
          <p:cNvSpPr txBox="1"/>
          <p:nvPr/>
        </p:nvSpPr>
        <p:spPr>
          <a:xfrm>
            <a:off x="1600199" y="3886200"/>
            <a:ext cx="3291840" cy="411480"/>
          </a:xfrm>
          <a:prstGeom prst="rect">
            <a:avLst/>
          </a:prstGeom>
          <a:noFill/>
        </p:spPr>
        <p:txBody>
          <a:bodyPr wrap="square" lIns="0" rIns="0" tIns="0" bIns="0" anchor="ctr">
            <a:spAutoFit/>
          </a:bodyPr>
          <a:lstStyle/>
          <a:p>
            <a:pPr algn="ctr">
              <a:lnSpc>
                <a:spcPct val="95000"/>
              </a:lnSpc>
              <a:spcBef>
                <a:spcPts val="0"/>
              </a:spcBef>
              <a:spcAft>
                <a:spcPts val="0"/>
              </a:spcAft>
            </a:pPr>
            <a:r>
              <a:rPr sz="1900" i="0" b="0" lang="en-US">
                <a:solidFill>
                  <a:srgbClr val="171513"/>
                </a:solidFill>
                <a:latin typeface="GFS Didot"/>
                <a:ea typeface="GFS Didot"/>
                <a:cs typeface="GFS Didot"/>
              </a:rPr>
              <a:t>3 hours coverage</a:t>
            </a:r>
          </a:p>
        </p:txBody>
      </p:sp>
      <p:cxnSp>
        <p:nvCxnSpPr>
          <p:cNvPr id="9" name="Connector 8"/>
          <p:cNvCxnSpPr/>
          <p:nvPr/>
        </p:nvCxnSpPr>
        <p:spPr>
          <a:xfrm>
            <a:off x="2057400" y="4416552"/>
            <a:ext cx="2377440" cy="0"/>
          </a:xfrm>
          <a:prstGeom prst="line">
            <a:avLst/>
          </a:prstGeom>
          <a:ln w="6350">
            <a:solidFill>
              <a:srgbClr val="C7BBB0"/>
            </a:solidFill>
          </a:ln>
        </p:spPr>
      </p:cxnSp>
      <p:sp>
        <p:nvSpPr>
          <p:cNvPr id="10" name="TextBox 9"/>
          <p:cNvSpPr txBox="1"/>
          <p:nvPr/>
        </p:nvSpPr>
        <p:spPr>
          <a:xfrm>
            <a:off x="1600199" y="4526280"/>
            <a:ext cx="3291840" cy="411480"/>
          </a:xfrm>
          <a:prstGeom prst="rect">
            <a:avLst/>
          </a:prstGeom>
          <a:noFill/>
        </p:spPr>
        <p:txBody>
          <a:bodyPr wrap="square" lIns="0" rIns="0" tIns="0" bIns="0" anchor="ctr">
            <a:spAutoFit/>
          </a:bodyPr>
          <a:lstStyle/>
          <a:p>
            <a:pPr algn="ctr">
              <a:lnSpc>
                <a:spcPct val="95000"/>
              </a:lnSpc>
              <a:spcBef>
                <a:spcPts val="0"/>
              </a:spcBef>
              <a:spcAft>
                <a:spcPts val="0"/>
              </a:spcAft>
            </a:pPr>
            <a:r>
              <a:rPr sz="1400" i="0" b="0" lang="en-US">
                <a:solidFill>
                  <a:srgbClr val="252422"/>
                </a:solidFill>
                <a:latin typeface="EB Garamond"/>
                <a:ea typeface="EB Garamond"/>
                <a:cs typeface="EB Garamond"/>
              </a:rPr>
              <a:t>120+ edited photographs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EC"/>
        </a:solidFill>
        <a:effectLst/>
      </p:bgPr>
    </p:bg>
    <p:spTree>
      <p:nvGrpSpPr>
        <p:cNvPr id="1" name=""/>
        <p:cNvGrpSpPr/>
        <p:nvPr/>
      </p:nvGrpSpPr>
      <p:grpSpPr/>
      <p:sp>
        <p:nvSpPr>
          <p:cNvPr id="2" name="Rectangle 1"/>
          <p:cNvSpPr/>
          <p:nvPr/>
        </p:nvSpPr>
        <p:spPr>
          <a:xfrm>
            <a:off x="384048" y="384048"/>
            <a:ext cx="5522976" cy="6089904"/>
          </a:xfrm>
          <a:prstGeom prst="rect">
            <a:avLst/>
          </a:prstGeom>
          <a:solidFill>
            <a:srgbClr val="E7DED4"/>
          </a:solidFill>
          <a:ln>
            <a:noFill/>
          </a:ln>
        </p:spPr>
        <p:txBody>
          <a:bodyPr rtlCol="0" anchor="ctr"/>
          <a:lstStyle/>
          <a:p>
            <a:pPr algn="ctr"/>
          </a:p>
        </p:txBody>
      </p:sp>
      <p:pic>
        <p:nvPicPr>
          <p:cNvPr id="3" name="Picture 2" descr="svc-halfday.jpg"/>
          <p:cNvPicPr>
            <a:picLocks noChangeAspect="1"/>
          </p:cNvPicPr>
          <p:nvPr/>
        </p:nvPicPr>
        <p:blipFill>
          <a:blip r:embed="rId2"/>
          <a:stretch>
            <a:fillRect/>
          </a:stretch>
        </p:blipFill>
        <p:spPr>
          <a:xfrm>
            <a:off x="420623" y="420623"/>
            <a:ext cx="5449824" cy="6016752"/>
          </a:xfrm>
          <a:prstGeom prst="rect">
            <a:avLst/>
          </a:prstGeom>
        </p:spPr>
      </p:pic>
      <p:sp>
        <p:nvSpPr>
          <p:cNvPr id="4" name="TextBox 3"/>
          <p:cNvSpPr txBox="1"/>
          <p:nvPr/>
        </p:nvSpPr>
        <p:spPr>
          <a:xfrm>
            <a:off x="6400800" y="1737360"/>
            <a:ext cx="5120640" cy="228600"/>
          </a:xfrm>
          <a:prstGeom prst="rect">
            <a:avLst/>
          </a:prstGeom>
          <a:noFill/>
        </p:spPr>
        <p:txBody>
          <a:bodyPr wrap="square" lIns="0" rIns="0" tIns="0" bIns="0" anchor="t">
            <a:spAutoFit/>
          </a:bodyPr>
          <a:lstStyle/>
          <a:p>
            <a:pPr algn="ctr">
              <a:lnSpc>
                <a:spcPct val="95000"/>
              </a:lnSpc>
              <a:spcBef>
                <a:spcPts val="0"/>
              </a:spcBef>
              <a:spcAft>
                <a:spcPts val="0"/>
              </a:spcAft>
            </a:pPr>
            <a:r>
              <a:rPr sz="850" i="0" b="0" lang="en-US" spc="200" kern="0">
                <a:solidFill>
                  <a:srgbClr val="6E5E67"/>
                </a:solidFill>
                <a:latin typeface="Aptos"/>
                <a:ea typeface="Aptos"/>
                <a:cs typeface="Aptos"/>
              </a:rPr>
              <a:t>COLLECTIONS</a:t>
            </a:r>
          </a:p>
        </p:txBody>
      </p:sp>
      <p:sp>
        <p:nvSpPr>
          <p:cNvPr id="5" name="TextBox 4"/>
          <p:cNvSpPr txBox="1"/>
          <p:nvPr/>
        </p:nvSpPr>
        <p:spPr>
          <a:xfrm>
            <a:off x="6400800" y="2103120"/>
            <a:ext cx="5120640" cy="1097280"/>
          </a:xfrm>
          <a:prstGeom prst="rect">
            <a:avLst/>
          </a:prstGeom>
          <a:noFill/>
        </p:spPr>
        <p:txBody>
          <a:bodyPr wrap="square" lIns="0" rIns="0" tIns="0" bIns="0" anchor="ctr">
            <a:spAutoFit/>
          </a:bodyPr>
          <a:lstStyle/>
          <a:p>
            <a:pPr algn="ctr">
              <a:lnSpc>
                <a:spcPct val="95000"/>
              </a:lnSpc>
              <a:spcBef>
                <a:spcPts val="0"/>
              </a:spcBef>
              <a:spcAft>
                <a:spcPts val="0"/>
              </a:spcAft>
            </a:pPr>
            <a:r>
              <a:rPr sz="2800" i="0" b="0" lang="en-US">
                <a:solidFill>
                  <a:srgbClr val="171513"/>
                </a:solidFill>
                <a:latin typeface="GFS Didot"/>
                <a:ea typeface="GFS Didot"/>
                <a:cs typeface="GFS Didot"/>
              </a:rPr>
              <a:t>Wedding Story — Half Day</a:t>
            </a:r>
          </a:p>
        </p:txBody>
      </p:sp>
      <p:cxnSp>
        <p:nvCxnSpPr>
          <p:cNvPr id="6" name="Connector 5"/>
          <p:cNvCxnSpPr/>
          <p:nvPr/>
        </p:nvCxnSpPr>
        <p:spPr>
          <a:xfrm>
            <a:off x="8686800" y="3337560"/>
            <a:ext cx="548640" cy="0"/>
          </a:xfrm>
          <a:prstGeom prst="line">
            <a:avLst/>
          </a:prstGeom>
          <a:ln w="6350">
            <a:solidFill>
              <a:srgbClr val="C7BBB0"/>
            </a:solidFill>
          </a:ln>
        </p:spPr>
      </p:cxnSp>
      <p:sp>
        <p:nvSpPr>
          <p:cNvPr id="7" name="Rounded Rectangle 6"/>
          <p:cNvSpPr/>
          <p:nvPr/>
        </p:nvSpPr>
        <p:spPr>
          <a:xfrm>
            <a:off x="7315200" y="3703320"/>
            <a:ext cx="3291840" cy="1417320"/>
          </a:xfrm>
          <a:prstGeom prst="roundRect">
            <a:avLst>
              <a:gd name="adj" fmla="val 2970"/>
            </a:avLst>
          </a:prstGeom>
          <a:solidFill>
            <a:srgbClr val="FAF7F2">
              <a:alpha val="82000"/>
            </a:srgbClr>
          </a:solidFill>
          <a:ln w="9525">
            <a:solidFill>
              <a:srgbClr val="C7BBB0"/>
            </a:solidFill>
          </a:ln>
        </p:spPr>
        <p:txBody>
          <a:bodyPr rtlCol="0" anchor="ctr"/>
          <a:lstStyle/>
          <a:p>
            <a:pPr algn="ctr"/>
          </a:p>
        </p:txBody>
      </p:sp>
      <p:sp>
        <p:nvSpPr>
          <p:cNvPr id="8" name="TextBox 7"/>
          <p:cNvSpPr txBox="1"/>
          <p:nvPr/>
        </p:nvSpPr>
        <p:spPr>
          <a:xfrm>
            <a:off x="7315200" y="3886200"/>
            <a:ext cx="3291840" cy="411480"/>
          </a:xfrm>
          <a:prstGeom prst="rect">
            <a:avLst/>
          </a:prstGeom>
          <a:noFill/>
        </p:spPr>
        <p:txBody>
          <a:bodyPr wrap="square" lIns="0" rIns="0" tIns="0" bIns="0" anchor="ctr">
            <a:spAutoFit/>
          </a:bodyPr>
          <a:lstStyle/>
          <a:p>
            <a:pPr algn="ctr">
              <a:lnSpc>
                <a:spcPct val="95000"/>
              </a:lnSpc>
              <a:spcBef>
                <a:spcPts val="0"/>
              </a:spcBef>
              <a:spcAft>
                <a:spcPts val="0"/>
              </a:spcAft>
            </a:pPr>
            <a:r>
              <a:rPr sz="1900" i="0" b="0" lang="en-US">
                <a:solidFill>
                  <a:srgbClr val="171513"/>
                </a:solidFill>
                <a:latin typeface="GFS Didot"/>
                <a:ea typeface="GFS Didot"/>
                <a:cs typeface="GFS Didot"/>
              </a:rPr>
              <a:t>4 hours coverage</a:t>
            </a:r>
          </a:p>
        </p:txBody>
      </p:sp>
      <p:cxnSp>
        <p:nvCxnSpPr>
          <p:cNvPr id="9" name="Connector 8"/>
          <p:cNvCxnSpPr/>
          <p:nvPr/>
        </p:nvCxnSpPr>
        <p:spPr>
          <a:xfrm>
            <a:off x="7772400" y="4416552"/>
            <a:ext cx="2377440" cy="0"/>
          </a:xfrm>
          <a:prstGeom prst="line">
            <a:avLst/>
          </a:prstGeom>
          <a:ln w="6350">
            <a:solidFill>
              <a:srgbClr val="C7BBB0"/>
            </a:solidFill>
          </a:ln>
        </p:spPr>
      </p:cxnSp>
      <p:sp>
        <p:nvSpPr>
          <p:cNvPr id="10" name="TextBox 9"/>
          <p:cNvSpPr txBox="1"/>
          <p:nvPr/>
        </p:nvSpPr>
        <p:spPr>
          <a:xfrm>
            <a:off x="7315200" y="4526280"/>
            <a:ext cx="3291840" cy="411480"/>
          </a:xfrm>
          <a:prstGeom prst="rect">
            <a:avLst/>
          </a:prstGeom>
          <a:noFill/>
        </p:spPr>
        <p:txBody>
          <a:bodyPr wrap="square" lIns="0" rIns="0" tIns="0" bIns="0" anchor="ctr">
            <a:spAutoFit/>
          </a:bodyPr>
          <a:lstStyle/>
          <a:p>
            <a:pPr algn="ctr">
              <a:lnSpc>
                <a:spcPct val="95000"/>
              </a:lnSpc>
              <a:spcBef>
                <a:spcPts val="0"/>
              </a:spcBef>
              <a:spcAft>
                <a:spcPts val="0"/>
              </a:spcAft>
            </a:pPr>
            <a:r>
              <a:rPr sz="1400" i="0" b="0" lang="en-US">
                <a:solidFill>
                  <a:srgbClr val="252422"/>
                </a:solidFill>
                <a:latin typeface="EB Garamond"/>
                <a:ea typeface="EB Garamond"/>
                <a:cs typeface="EB Garamond"/>
              </a:rPr>
              <a:t>180+ edited photographs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EC"/>
        </a:solidFill>
        <a:effectLst/>
      </p:bgPr>
    </p:bg>
    <p:spTree>
      <p:nvGrpSpPr>
        <p:cNvPr id="1" name=""/>
        <p:cNvGrpSpPr/>
        <p:nvPr/>
      </p:nvGrpSpPr>
      <p:grpSpPr/>
      <p:sp>
        <p:nvSpPr>
          <p:cNvPr id="2" name="Rectangle 1"/>
          <p:cNvSpPr/>
          <p:nvPr/>
        </p:nvSpPr>
        <p:spPr>
          <a:xfrm>
            <a:off x="6281928" y="384048"/>
            <a:ext cx="5522976" cy="6089904"/>
          </a:xfrm>
          <a:prstGeom prst="rect">
            <a:avLst/>
          </a:prstGeom>
          <a:solidFill>
            <a:srgbClr val="E7DED4"/>
          </a:solidFill>
          <a:ln>
            <a:noFill/>
          </a:ln>
        </p:spPr>
        <p:txBody>
          <a:bodyPr rtlCol="0" anchor="ctr"/>
          <a:lstStyle/>
          <a:p>
            <a:pPr algn="ctr"/>
          </a:p>
        </p:txBody>
      </p:sp>
      <p:pic>
        <p:nvPicPr>
          <p:cNvPr id="3" name="Picture 2" descr="svc-fullday.jpg"/>
          <p:cNvPicPr>
            <a:picLocks noChangeAspect="1"/>
          </p:cNvPicPr>
          <p:nvPr/>
        </p:nvPicPr>
        <p:blipFill>
          <a:blip r:embed="rId2"/>
          <a:stretch>
            <a:fillRect/>
          </a:stretch>
        </p:blipFill>
        <p:spPr>
          <a:xfrm>
            <a:off x="6318504" y="420623"/>
            <a:ext cx="5449824" cy="6016752"/>
          </a:xfrm>
          <a:prstGeom prst="rect">
            <a:avLst/>
          </a:prstGeom>
        </p:spPr>
      </p:pic>
      <p:sp>
        <p:nvSpPr>
          <p:cNvPr id="4" name="TextBox 3"/>
          <p:cNvSpPr txBox="1"/>
          <p:nvPr/>
        </p:nvSpPr>
        <p:spPr>
          <a:xfrm>
            <a:off x="548640" y="566928"/>
            <a:ext cx="5440680" cy="228600"/>
          </a:xfrm>
          <a:prstGeom prst="rect">
            <a:avLst/>
          </a:prstGeom>
          <a:noFill/>
        </p:spPr>
        <p:txBody>
          <a:bodyPr wrap="square" lIns="0" rIns="0" tIns="0" bIns="0" anchor="t">
            <a:spAutoFit/>
          </a:bodyPr>
          <a:lstStyle/>
          <a:p>
            <a:pPr algn="ctr">
              <a:lnSpc>
                <a:spcPct val="95000"/>
              </a:lnSpc>
              <a:spcBef>
                <a:spcPts val="0"/>
              </a:spcBef>
              <a:spcAft>
                <a:spcPts val="0"/>
              </a:spcAft>
            </a:pPr>
            <a:r>
              <a:rPr sz="850" i="0" b="0" lang="en-US" spc="200" kern="0">
                <a:solidFill>
                  <a:srgbClr val="6E5E67"/>
                </a:solidFill>
                <a:latin typeface="Aptos"/>
                <a:ea typeface="Aptos"/>
                <a:cs typeface="Aptos"/>
              </a:rPr>
              <a:t>WEDDING STORY — FULL DAY</a:t>
            </a:r>
          </a:p>
        </p:txBody>
      </p:sp>
      <p:sp>
        <p:nvSpPr>
          <p:cNvPr id="5" name="TextBox 4"/>
          <p:cNvSpPr txBox="1"/>
          <p:nvPr/>
        </p:nvSpPr>
        <p:spPr>
          <a:xfrm>
            <a:off x="548640" y="868680"/>
            <a:ext cx="5440680" cy="548640"/>
          </a:xfrm>
          <a:prstGeom prst="rect">
            <a:avLst/>
          </a:prstGeom>
          <a:noFill/>
        </p:spPr>
        <p:txBody>
          <a:bodyPr wrap="square" lIns="0" rIns="0" tIns="0" bIns="0" anchor="ctr">
            <a:spAutoFit/>
          </a:bodyPr>
          <a:lstStyle/>
          <a:p>
            <a:pPr algn="ctr">
              <a:lnSpc>
                <a:spcPct val="95000"/>
              </a:lnSpc>
              <a:spcBef>
                <a:spcPts val="0"/>
              </a:spcBef>
              <a:spcAft>
                <a:spcPts val="0"/>
              </a:spcAft>
            </a:pPr>
            <a:r>
              <a:rPr sz="2600" i="0" b="0" lang="en-US">
                <a:solidFill>
                  <a:srgbClr val="171513"/>
                </a:solidFill>
                <a:latin typeface="GFS Didot"/>
                <a:ea typeface="GFS Didot"/>
                <a:cs typeface="GFS Didot"/>
              </a:rPr>
              <a:t>Full Day Wedding Photography</a:t>
            </a:r>
          </a:p>
        </p:txBody>
      </p:sp>
      <p:sp>
        <p:nvSpPr>
          <p:cNvPr id="6" name="TextBox 5"/>
          <p:cNvSpPr txBox="1"/>
          <p:nvPr/>
        </p:nvSpPr>
        <p:spPr>
          <a:xfrm>
            <a:off x="822959" y="1536192"/>
            <a:ext cx="4892040" cy="548640"/>
          </a:xfrm>
          <a:prstGeom prst="rect">
            <a:avLst/>
          </a:prstGeom>
          <a:noFill/>
        </p:spPr>
        <p:txBody>
          <a:bodyPr wrap="square" lIns="0" rIns="0" tIns="0" bIns="0" anchor="t">
            <a:spAutoFit/>
          </a:bodyPr>
          <a:lstStyle/>
          <a:p>
            <a:pPr algn="ctr">
              <a:lnSpc>
                <a:spcPct val="100000"/>
              </a:lnSpc>
              <a:spcBef>
                <a:spcPts val="0"/>
              </a:spcBef>
              <a:spcAft>
                <a:spcPts val="0"/>
              </a:spcAft>
            </a:pPr>
            <a:r>
              <a:rPr sz="1300" i="1" b="0" lang="en-US">
                <a:solidFill>
                  <a:srgbClr val="252422"/>
                </a:solidFill>
                <a:latin typeface="EB Garamond"/>
                <a:ea typeface="EB Garamond"/>
                <a:cs typeface="EB Garamond"/>
              </a:rPr>
              <a:t>A thoughtful coverage of your celebration, from the meaningful details to the unforgettable moments.</a:t>
            </a:r>
          </a:p>
        </p:txBody>
      </p:sp>
      <p:cxnSp>
        <p:nvCxnSpPr>
          <p:cNvPr id="7" name="Connector 6"/>
          <p:cNvCxnSpPr/>
          <p:nvPr/>
        </p:nvCxnSpPr>
        <p:spPr>
          <a:xfrm>
            <a:off x="2994660" y="2240280"/>
            <a:ext cx="548640" cy="0"/>
          </a:xfrm>
          <a:prstGeom prst="line">
            <a:avLst/>
          </a:prstGeom>
          <a:ln w="6350">
            <a:solidFill>
              <a:srgbClr val="C7BBB0"/>
            </a:solidFill>
          </a:ln>
        </p:spPr>
      </p:cxnSp>
      <p:sp>
        <p:nvSpPr>
          <p:cNvPr id="8" name="TextBox 7"/>
          <p:cNvSpPr txBox="1"/>
          <p:nvPr/>
        </p:nvSpPr>
        <p:spPr>
          <a:xfrm>
            <a:off x="548640" y="2514600"/>
            <a:ext cx="2606040" cy="1645920"/>
          </a:xfrm>
          <a:prstGeom prst="rect">
            <a:avLst/>
          </a:prstGeom>
          <a:noFill/>
        </p:spPr>
        <p:txBody>
          <a:bodyPr wrap="square" lIns="0" rIns="0" tIns="0" bIns="0" anchor="t">
            <a:spAutoFit/>
          </a:bodyPr>
          <a:lstStyle/>
          <a:p>
            <a:pPr algn="l" marL="182880" indent="-182880">
              <a:lnSpc>
                <a:spcPct val="100000"/>
              </a:lnSpc>
              <a:spcBef>
                <a:spcPts val="0"/>
              </a:spcBef>
              <a:spcAft>
                <a:spcPts val="400"/>
              </a:spcAft>
              <a:buFont typeface="EB Garamond"/>
              <a:buChar char="–"/>
            </a:pPr>
            <a:r>
              <a:rPr sz="1300" i="0" b="0" lang="en-US">
                <a:solidFill>
                  <a:srgbClr val="252422"/>
                </a:solidFill>
                <a:latin typeface="EB Garamond"/>
                <a:ea typeface="EB Garamond"/>
                <a:cs typeface="EB Garamond"/>
              </a:rPr>
              <a:t>8 hours of wedding coverage</a:t>
            </a:r>
          </a:p>
          <a:p>
            <a:pPr algn="l" marL="182880" indent="-182880">
              <a:lnSpc>
                <a:spcPct val="100000"/>
              </a:lnSpc>
              <a:spcBef>
                <a:spcPts val="0"/>
              </a:spcBef>
              <a:spcAft>
                <a:spcPts val="400"/>
              </a:spcAft>
              <a:buFont typeface="EB Garamond"/>
              <a:buChar char="–"/>
            </a:pPr>
            <a:r>
              <a:rPr sz="1300" i="0" b="0" lang="en-US">
                <a:solidFill>
                  <a:srgbClr val="252422"/>
                </a:solidFill>
                <a:latin typeface="EB Garamond"/>
                <a:ea typeface="EB Garamond"/>
                <a:cs typeface="EB Garamond"/>
              </a:rPr>
              <a:t>400+ edited photos in high resolution</a:t>
            </a:r>
          </a:p>
          <a:p>
            <a:pPr algn="l" marL="182880" indent="-182880">
              <a:lnSpc>
                <a:spcPct val="100000"/>
              </a:lnSpc>
              <a:spcBef>
                <a:spcPts val="0"/>
              </a:spcBef>
              <a:spcAft>
                <a:spcPts val="400"/>
              </a:spcAft>
              <a:buFont typeface="EB Garamond"/>
              <a:buChar char="–"/>
            </a:pPr>
            <a:r>
              <a:rPr sz="1300" i="0" b="0" lang="en-US">
                <a:solidFill>
                  <a:srgbClr val="252422"/>
                </a:solidFill>
                <a:latin typeface="EB Garamond"/>
                <a:ea typeface="EB Garamond"/>
                <a:cs typeface="EB Garamond"/>
              </a:rPr>
              <a:t>One photographer</a:t>
            </a:r>
          </a:p>
          <a:p>
            <a:pPr algn="l" marL="182880" indent="-182880">
              <a:lnSpc>
                <a:spcPct val="100000"/>
              </a:lnSpc>
              <a:spcBef>
                <a:spcPts val="0"/>
              </a:spcBef>
              <a:spcAft>
                <a:spcPts val="400"/>
              </a:spcAft>
              <a:buFont typeface="EB Garamond"/>
              <a:buChar char="–"/>
            </a:pPr>
            <a:r>
              <a:rPr sz="1300" i="0" b="0" lang="en-US">
                <a:solidFill>
                  <a:srgbClr val="252422"/>
                </a:solidFill>
                <a:latin typeface="EB Garamond"/>
                <a:ea typeface="EB Garamond"/>
                <a:cs typeface="EB Garamond"/>
              </a:rPr>
              <a:t>Preview photos after the wedding</a:t>
            </a:r>
          </a:p>
          <a:p>
            <a:pPr algn="l" marL="182880" indent="-182880">
              <a:lnSpc>
                <a:spcPct val="100000"/>
              </a:lnSpc>
              <a:spcBef>
                <a:spcPts val="0"/>
              </a:spcBef>
              <a:spcAft>
                <a:spcPts val="400"/>
              </a:spcAft>
              <a:buFont typeface="EB Garamond"/>
              <a:buChar char="–"/>
            </a:pPr>
            <a:r>
              <a:rPr sz="1300" i="0" b="0" lang="en-US">
                <a:solidFill>
                  <a:srgbClr val="252422"/>
                </a:solidFill>
                <a:latin typeface="EB Garamond"/>
                <a:ea typeface="EB Garamond"/>
                <a:cs typeface="EB Garamond"/>
              </a:rPr>
              <a:t>Printing rights</a:t>
            </a:r>
          </a:p>
          <a:p>
            <a:pPr algn="l" marL="182880" indent="-182880">
              <a:lnSpc>
                <a:spcPct val="100000"/>
              </a:lnSpc>
              <a:spcBef>
                <a:spcPts val="0"/>
              </a:spcBef>
              <a:spcAft>
                <a:spcPts val="400"/>
              </a:spcAft>
              <a:buFont typeface="EB Garamond"/>
              <a:buChar char="–"/>
            </a:pPr>
            <a:r>
              <a:rPr sz="1300" i="0" b="0" lang="en-US">
                <a:solidFill>
                  <a:srgbClr val="252422"/>
                </a:solidFill>
                <a:latin typeface="EB Garamond"/>
                <a:ea typeface="EB Garamond"/>
                <a:cs typeface="EB Garamond"/>
              </a:rPr>
              <a:t>Private online gallery</a:t>
            </a:r>
          </a:p>
        </p:txBody>
      </p:sp>
      <p:sp>
        <p:nvSpPr>
          <p:cNvPr id="9" name="TextBox 8"/>
          <p:cNvSpPr txBox="1"/>
          <p:nvPr/>
        </p:nvSpPr>
        <p:spPr>
          <a:xfrm>
            <a:off x="548640" y="4206240"/>
            <a:ext cx="2606040" cy="457200"/>
          </a:xfrm>
          <a:prstGeom prst="rect">
            <a:avLst/>
          </a:prstGeom>
          <a:noFill/>
        </p:spPr>
        <p:txBody>
          <a:bodyPr wrap="square" lIns="0" rIns="0" tIns="0" bIns="0" anchor="ctr">
            <a:spAutoFit/>
          </a:bodyPr>
          <a:lstStyle/>
          <a:p>
            <a:pPr algn="l">
              <a:lnSpc>
                <a:spcPct val="95000"/>
              </a:lnSpc>
              <a:spcBef>
                <a:spcPts val="0"/>
              </a:spcBef>
              <a:spcAft>
                <a:spcPts val="0"/>
              </a:spcAft>
            </a:pPr>
            <a:r>
              <a:rPr sz="2400" i="0" b="0" lang="en-US">
                <a:solidFill>
                  <a:srgbClr val="171513"/>
                </a:solidFill>
                <a:latin typeface="GFS Didot"/>
                <a:ea typeface="GFS Didot"/>
                <a:cs typeface="GFS Didot"/>
              </a:rPr>
              <a:t>CHF 4’900*</a:t>
            </a:r>
          </a:p>
        </p:txBody>
      </p:sp>
      <p:sp>
        <p:nvSpPr>
          <p:cNvPr id="10" name="TextBox 9"/>
          <p:cNvSpPr txBox="1"/>
          <p:nvPr/>
        </p:nvSpPr>
        <p:spPr>
          <a:xfrm>
            <a:off x="548640" y="4709160"/>
            <a:ext cx="2606040" cy="274320"/>
          </a:xfrm>
          <a:prstGeom prst="rect">
            <a:avLst/>
          </a:prstGeom>
          <a:noFill/>
        </p:spPr>
        <p:txBody>
          <a:bodyPr wrap="square" lIns="0" rIns="0" tIns="0" bIns="0" anchor="t">
            <a:spAutoFit/>
          </a:bodyPr>
          <a:lstStyle/>
          <a:p>
            <a:pPr algn="l">
              <a:lnSpc>
                <a:spcPct val="95000"/>
              </a:lnSpc>
              <a:spcBef>
                <a:spcPts val="0"/>
              </a:spcBef>
              <a:spcAft>
                <a:spcPts val="0"/>
              </a:spcAft>
            </a:pPr>
            <a:r>
              <a:rPr sz="1100" i="0" b="0" lang="en-US">
                <a:solidFill>
                  <a:srgbClr val="6E5E67"/>
                </a:solidFill>
                <a:latin typeface="EB Garamond"/>
                <a:ea typeface="EB Garamond"/>
                <a:cs typeface="EB Garamond"/>
              </a:rPr>
              <a:t>*travel fees are included all over Switzerland</a:t>
            </a:r>
          </a:p>
        </p:txBody>
      </p:sp>
      <p:sp>
        <p:nvSpPr>
          <p:cNvPr id="11" name="TextBox 10"/>
          <p:cNvSpPr txBox="1"/>
          <p:nvPr/>
        </p:nvSpPr>
        <p:spPr>
          <a:xfrm>
            <a:off x="548640" y="5029200"/>
            <a:ext cx="2606040" cy="822960"/>
          </a:xfrm>
          <a:prstGeom prst="rect">
            <a:avLst/>
          </a:prstGeom>
          <a:noFill/>
        </p:spPr>
        <p:txBody>
          <a:bodyPr wrap="square" lIns="0" rIns="0" tIns="0" bIns="0" anchor="t">
            <a:spAutoFit/>
          </a:bodyPr>
          <a:lstStyle/>
          <a:p>
            <a:pPr algn="l">
              <a:lnSpc>
                <a:spcPct val="100000"/>
              </a:lnSpc>
              <a:spcBef>
                <a:spcPts val="0"/>
              </a:spcBef>
              <a:spcAft>
                <a:spcPts val="0"/>
              </a:spcAft>
            </a:pPr>
            <a:r>
              <a:rPr sz="1050" i="1" b="0" lang="en-US">
                <a:solidFill>
                  <a:srgbClr val="6E5E67"/>
                </a:solidFill>
                <a:latin typeface="EB Garamond"/>
                <a:ea typeface="EB Garamond"/>
                <a:cs typeface="EB Garamond"/>
              </a:rPr>
              <a:t>(**Accommodation may be required depending on the location and coverage schedule and will be discussed in advance).</a:t>
            </a:r>
          </a:p>
        </p:txBody>
      </p:sp>
      <p:sp>
        <p:nvSpPr>
          <p:cNvPr id="12" name="Rounded Rectangle 11"/>
          <p:cNvSpPr/>
          <p:nvPr/>
        </p:nvSpPr>
        <p:spPr>
          <a:xfrm>
            <a:off x="3383280" y="2514600"/>
            <a:ext cx="2606040" cy="3063240"/>
          </a:xfrm>
          <a:prstGeom prst="roundRect">
            <a:avLst>
              <a:gd name="adj" fmla="val 2970"/>
            </a:avLst>
          </a:prstGeom>
          <a:solidFill>
            <a:srgbClr val="FAF7F2">
              <a:alpha val="82000"/>
            </a:srgbClr>
          </a:solidFill>
          <a:ln w="9525">
            <a:solidFill>
              <a:srgbClr val="C7BBB0"/>
            </a:solidFill>
          </a:ln>
        </p:spPr>
        <p:txBody>
          <a:bodyPr rtlCol="0" anchor="ctr"/>
          <a:lstStyle/>
          <a:p>
            <a:pPr algn="ctr"/>
          </a:p>
        </p:txBody>
      </p:sp>
      <p:sp>
        <p:nvSpPr>
          <p:cNvPr id="13" name="TextBox 12"/>
          <p:cNvSpPr txBox="1"/>
          <p:nvPr/>
        </p:nvSpPr>
        <p:spPr>
          <a:xfrm>
            <a:off x="3611880" y="2743200"/>
            <a:ext cx="2148840" cy="228600"/>
          </a:xfrm>
          <a:prstGeom prst="rect">
            <a:avLst/>
          </a:prstGeom>
          <a:noFill/>
        </p:spPr>
        <p:txBody>
          <a:bodyPr wrap="square" lIns="0" rIns="0" tIns="0" bIns="0" anchor="t">
            <a:spAutoFit/>
          </a:bodyPr>
          <a:lstStyle/>
          <a:p>
            <a:pPr algn="ctr">
              <a:lnSpc>
                <a:spcPct val="95000"/>
              </a:lnSpc>
              <a:spcBef>
                <a:spcPts val="0"/>
              </a:spcBef>
              <a:spcAft>
                <a:spcPts val="0"/>
              </a:spcAft>
            </a:pPr>
            <a:r>
              <a:rPr sz="850" i="0" b="0" lang="en-US" spc="200" kern="0">
                <a:solidFill>
                  <a:srgbClr val="171513"/>
                </a:solidFill>
                <a:latin typeface="Aptos"/>
                <a:ea typeface="Aptos"/>
                <a:cs typeface="Aptos"/>
              </a:rPr>
              <a:t>ADD’S ON</a:t>
            </a:r>
          </a:p>
        </p:txBody>
      </p:sp>
      <p:sp>
        <p:nvSpPr>
          <p:cNvPr id="14" name="TextBox 13"/>
          <p:cNvSpPr txBox="1"/>
          <p:nvPr/>
        </p:nvSpPr>
        <p:spPr>
          <a:xfrm>
            <a:off x="3611880" y="3108960"/>
            <a:ext cx="2148840" cy="228600"/>
          </a:xfrm>
          <a:prstGeom prst="rect">
            <a:avLst/>
          </a:prstGeom>
          <a:noFill/>
        </p:spPr>
        <p:txBody>
          <a:bodyPr wrap="square" lIns="0" rIns="0" tIns="0" bIns="0" anchor="t">
            <a:spAutoFit/>
          </a:bodyPr>
          <a:lstStyle/>
          <a:p>
            <a:pPr algn="ctr">
              <a:lnSpc>
                <a:spcPct val="95000"/>
              </a:lnSpc>
              <a:spcBef>
                <a:spcPts val="0"/>
              </a:spcBef>
              <a:spcAft>
                <a:spcPts val="0"/>
              </a:spcAft>
            </a:pPr>
            <a:r>
              <a:rPr sz="800" i="0" b="0" lang="en-US" spc="150" kern="0">
                <a:solidFill>
                  <a:srgbClr val="6E5E67"/>
                </a:solidFill>
                <a:latin typeface="Aptos"/>
                <a:ea typeface="Aptos"/>
                <a:cs typeface="Aptos"/>
              </a:rPr>
              <a:t>ENGAGEMENT / DAY AFTER</a:t>
            </a:r>
          </a:p>
        </p:txBody>
      </p:sp>
      <p:sp>
        <p:nvSpPr>
          <p:cNvPr id="15" name="TextBox 14"/>
          <p:cNvSpPr txBox="1"/>
          <p:nvPr/>
        </p:nvSpPr>
        <p:spPr>
          <a:xfrm>
            <a:off x="3611880" y="3410712"/>
            <a:ext cx="2148840" cy="822960"/>
          </a:xfrm>
          <a:prstGeom prst="rect">
            <a:avLst/>
          </a:prstGeom>
          <a:noFill/>
        </p:spPr>
        <p:txBody>
          <a:bodyPr wrap="square" lIns="0" rIns="0" tIns="0" bIns="0" anchor="t">
            <a:spAutoFit/>
          </a:bodyPr>
          <a:lstStyle/>
          <a:p>
            <a:pPr algn="ctr">
              <a:lnSpc>
                <a:spcPct val="100000"/>
              </a:lnSpc>
              <a:spcBef>
                <a:spcPts val="0"/>
              </a:spcBef>
              <a:spcAft>
                <a:spcPts val="0"/>
              </a:spcAft>
            </a:pPr>
            <a:r>
              <a:rPr sz="1250" i="0" b="0" lang="en-US">
                <a:solidFill>
                  <a:srgbClr val="252422"/>
                </a:solidFill>
                <a:latin typeface="EB Garamond"/>
                <a:ea typeface="EB Garamond"/>
                <a:cs typeface="EB Garamond"/>
              </a:rPr>
              <a:t>let’s get casual pictures exploring everywhere we can alongside your wedding itself.</a:t>
            </a:r>
          </a:p>
        </p:txBody>
      </p:sp>
      <p:sp>
        <p:nvSpPr>
          <p:cNvPr id="16" name="TextBox 15"/>
          <p:cNvSpPr txBox="1"/>
          <p:nvPr/>
        </p:nvSpPr>
        <p:spPr>
          <a:xfrm>
            <a:off x="3611880" y="4206240"/>
            <a:ext cx="2148840" cy="365760"/>
          </a:xfrm>
          <a:prstGeom prst="rect">
            <a:avLst/>
          </a:prstGeom>
          <a:noFill/>
        </p:spPr>
        <p:txBody>
          <a:bodyPr wrap="square" lIns="0" rIns="0" tIns="0" bIns="0" anchor="ctr">
            <a:spAutoFit/>
          </a:bodyPr>
          <a:lstStyle/>
          <a:p>
            <a:pPr algn="ctr">
              <a:lnSpc>
                <a:spcPct val="95000"/>
              </a:lnSpc>
              <a:spcBef>
                <a:spcPts val="0"/>
              </a:spcBef>
              <a:spcAft>
                <a:spcPts val="0"/>
              </a:spcAft>
            </a:pPr>
            <a:r>
              <a:rPr sz="1700" i="0" b="0" lang="en-US">
                <a:solidFill>
                  <a:srgbClr val="171513"/>
                </a:solidFill>
                <a:latin typeface="GFS Didot"/>
                <a:ea typeface="GFS Didot"/>
                <a:cs typeface="GFS Didot"/>
              </a:rPr>
              <a:t>CHF 450 - Hour</a:t>
            </a:r>
          </a:p>
        </p:txBody>
      </p:sp>
      <p:cxnSp>
        <p:nvCxnSpPr>
          <p:cNvPr id="17" name="Connector 16"/>
          <p:cNvCxnSpPr/>
          <p:nvPr/>
        </p:nvCxnSpPr>
        <p:spPr>
          <a:xfrm>
            <a:off x="3886200" y="4754880"/>
            <a:ext cx="1600200" cy="0"/>
          </a:xfrm>
          <a:prstGeom prst="line">
            <a:avLst/>
          </a:prstGeom>
          <a:ln w="6350">
            <a:solidFill>
              <a:srgbClr val="C7BBB0"/>
            </a:solidFill>
          </a:ln>
        </p:spPr>
      </p:cxnSp>
      <p:sp>
        <p:nvSpPr>
          <p:cNvPr id="18" name="TextBox 17"/>
          <p:cNvSpPr txBox="1"/>
          <p:nvPr/>
        </p:nvSpPr>
        <p:spPr>
          <a:xfrm>
            <a:off x="3611880" y="4937760"/>
            <a:ext cx="2148840" cy="731520"/>
          </a:xfrm>
          <a:prstGeom prst="rect">
            <a:avLst/>
          </a:prstGeom>
          <a:noFill/>
        </p:spPr>
        <p:txBody>
          <a:bodyPr wrap="square" lIns="0" rIns="0" tIns="0" bIns="0" anchor="t">
            <a:spAutoFit/>
          </a:bodyPr>
          <a:lstStyle/>
          <a:p>
            <a:pPr algn="ctr">
              <a:lnSpc>
                <a:spcPct val="100000"/>
              </a:lnSpc>
              <a:spcBef>
                <a:spcPts val="0"/>
              </a:spcBef>
              <a:spcAft>
                <a:spcPts val="0"/>
              </a:spcAft>
            </a:pPr>
            <a:r>
              <a:rPr sz="1250" i="0" b="0" lang="en-US">
                <a:solidFill>
                  <a:srgbClr val="171513"/>
                </a:solidFill>
                <a:latin typeface="EB Garamond"/>
                <a:ea typeface="EB Garamond"/>
                <a:cs typeface="EB Garamond"/>
              </a:rPr>
              <a:t>HOURLY ADD ON : CHF 350 - Additional hour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FS Dido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B Garamon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181</TotalTime>
  <Words>1300</Words>
  <Application>Microsoft Macintosh PowerPoint</Application>
  <PresentationFormat>Grand écran</PresentationFormat>
  <Paragraphs>139</Paragraphs>
  <Slides>10</Slides>
  <Notes>10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Aptos</vt:lpstr>
      <vt:lpstr>Arial</vt:lpstr>
      <vt:lpstr>EB Garamond</vt:lpstr>
      <vt:lpstr>GFS Didot</vt:lpstr>
      <vt:lpstr>Goudy Old Style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EM Photography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 Photography Wedding Brochure</dc:title>
  <dc:subject>Wedding collections brochure</dc:subject>
  <dc:creator>OpenAI</dc:creator>
  <cp:lastModifiedBy>Emira Omerovic</cp:lastModifiedBy>
  <cp:revision>18</cp:revision>
  <dcterms:created xsi:type="dcterms:W3CDTF">2026-10-05T18:04:55Z</dcterms:created>
  <dcterms:modified xsi:type="dcterms:W3CDTF">2026-10-06T17:13:30Z</dcterms:modified>
</cp:coreProperties>
</file>